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5" r:id="rId6"/>
    <p:sldId id="270" r:id="rId7"/>
    <p:sldId id="271" r:id="rId8"/>
    <p:sldId id="272" r:id="rId9"/>
    <p:sldId id="264" r:id="rId10"/>
    <p:sldId id="273" r:id="rId11"/>
    <p:sldId id="274" r:id="rId12"/>
    <p:sldId id="266" r:id="rId13"/>
    <p:sldId id="267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669" autoAdjust="0"/>
  </p:normalViewPr>
  <p:slideViewPr>
    <p:cSldViewPr>
      <p:cViewPr>
        <p:scale>
          <a:sx n="75" d="100"/>
          <a:sy n="75" d="100"/>
        </p:scale>
        <p:origin x="2148" y="3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5254A-584A-45AE-85D4-C20582FD216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6622B-F8BF-4973-A7B3-756AC163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445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755B2-AAC6-4FF4-8C4B-12C3BD2DDBC4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8969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318115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158855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532619" y="6131890"/>
            <a:ext cx="2466975" cy="586740"/>
          </a:xfrm>
          <a:custGeom>
            <a:avLst/>
            <a:gdLst/>
            <a:ahLst/>
            <a:cxnLst/>
            <a:rect l="l" t="t" r="r" b="b"/>
            <a:pathLst>
              <a:path w="2466975" h="586740">
                <a:moveTo>
                  <a:pt x="2212339" y="0"/>
                </a:moveTo>
                <a:lnTo>
                  <a:pt x="2212339" y="586409"/>
                </a:lnTo>
              </a:path>
              <a:path w="2466975" h="586740">
                <a:moveTo>
                  <a:pt x="0" y="6349"/>
                </a:moveTo>
                <a:lnTo>
                  <a:pt x="2466975" y="6349"/>
                </a:lnTo>
              </a:path>
              <a:path w="2466975" h="586740">
                <a:moveTo>
                  <a:pt x="0" y="303517"/>
                </a:moveTo>
                <a:lnTo>
                  <a:pt x="2466975" y="30351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98754" y="147701"/>
            <a:ext cx="0" cy="6562725"/>
          </a:xfrm>
          <a:custGeom>
            <a:avLst/>
            <a:gdLst/>
            <a:ahLst/>
            <a:cxnLst/>
            <a:rect l="l" t="t" r="r" b="b"/>
            <a:pathLst>
              <a:path h="6562725">
                <a:moveTo>
                  <a:pt x="0" y="0"/>
                </a:moveTo>
                <a:lnTo>
                  <a:pt x="0" y="656266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92404" y="147701"/>
            <a:ext cx="11807190" cy="6570980"/>
          </a:xfrm>
          <a:custGeom>
            <a:avLst/>
            <a:gdLst/>
            <a:ahLst/>
            <a:cxnLst/>
            <a:rect l="l" t="t" r="r" b="b"/>
            <a:pathLst>
              <a:path w="11807190" h="6570980">
                <a:moveTo>
                  <a:pt x="11800840" y="0"/>
                </a:moveTo>
                <a:lnTo>
                  <a:pt x="11800840" y="6570599"/>
                </a:lnTo>
              </a:path>
              <a:path w="11807190" h="6570980">
                <a:moveTo>
                  <a:pt x="0" y="6350"/>
                </a:moveTo>
                <a:lnTo>
                  <a:pt x="11807190" y="6350"/>
                </a:lnTo>
              </a:path>
              <a:path w="11807190" h="6570980">
                <a:moveTo>
                  <a:pt x="0" y="6556311"/>
                </a:moveTo>
                <a:lnTo>
                  <a:pt x="9340215" y="655631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532620" y="6704012"/>
            <a:ext cx="2466975" cy="0"/>
          </a:xfrm>
          <a:custGeom>
            <a:avLst/>
            <a:gdLst/>
            <a:ahLst/>
            <a:cxnLst/>
            <a:rect l="l" t="t" r="r" b="b"/>
            <a:pathLst>
              <a:path w="2466975">
                <a:moveTo>
                  <a:pt x="0" y="0"/>
                </a:moveTo>
                <a:lnTo>
                  <a:pt x="246697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181100"/>
            <a:ext cx="4581525" cy="4705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ED275-F83F-47D6-8671-7E7D1E184540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07D73-C007-47BE-A788-F4AACE7E329B}" type="datetime1">
              <a:rPr lang="en-US" smtClean="0"/>
              <a:t>5/20/2026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115A7-7E4B-49DF-A09A-57AC91677B6F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94E41-DE7C-400C-878E-4CD1F7CF8255}" type="datetime1">
              <a:rPr lang="en-US" smtClean="0"/>
              <a:t>5/20/2026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5140" y="353060"/>
            <a:ext cx="1139761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0377" y="1209547"/>
            <a:ext cx="5495290" cy="4655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4D811-7DBC-4942-92E3-20D52931585D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F6C2291-7009-CBF9-4361-FC080284AE5A}"/>
              </a:ext>
            </a:extLst>
          </p:cNvPr>
          <p:cNvSpPr txBox="1"/>
          <p:nvPr/>
        </p:nvSpPr>
        <p:spPr>
          <a:xfrm>
            <a:off x="34922" y="721290"/>
            <a:ext cx="12122150" cy="1739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72639" marR="2058035" algn="ctr">
              <a:lnSpc>
                <a:spcPct val="101400"/>
              </a:lnSpc>
              <a:spcBef>
                <a:spcPts val="1705"/>
              </a:spcBef>
              <a:tabLst>
                <a:tab pos="5383530" algn="l"/>
              </a:tabLst>
            </a:pPr>
            <a:r>
              <a:rPr lang="ru-RU" sz="3600" dirty="0">
                <a:latin typeface="Times New Roman"/>
                <a:cs typeface="Times New Roman"/>
              </a:rPr>
              <a:t>Исследование</a:t>
            </a:r>
            <a:r>
              <a:rPr lang="ru-RU" sz="3600" spc="6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и</a:t>
            </a:r>
            <a:r>
              <a:rPr lang="ru-RU" sz="3600" spc="8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разработка предиктивной </a:t>
            </a:r>
            <a:r>
              <a:rPr lang="ru-RU" sz="3600" dirty="0">
                <a:latin typeface="Times New Roman"/>
                <a:cs typeface="Times New Roman"/>
              </a:rPr>
              <a:t>модели</a:t>
            </a:r>
            <a:r>
              <a:rPr lang="ru-RU" sz="3600" spc="45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и</a:t>
            </a:r>
            <a:r>
              <a:rPr lang="ru-RU" sz="3600" spc="-25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алгоритма </a:t>
            </a:r>
            <a:r>
              <a:rPr lang="ru-RU" sz="3600" dirty="0">
                <a:latin typeface="Times New Roman"/>
                <a:cs typeface="Times New Roman"/>
              </a:rPr>
              <a:t>логистической</a:t>
            </a:r>
            <a:r>
              <a:rPr lang="ru-RU" sz="3600" spc="4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системы</a:t>
            </a:r>
            <a:r>
              <a:rPr lang="ru-RU" sz="3600" spc="10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перевозки</a:t>
            </a:r>
            <a:endParaRPr lang="ru-RU" sz="3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32E67-A765-EF13-CFB4-EC98925BF854}"/>
              </a:ext>
            </a:extLst>
          </p:cNvPr>
          <p:cNvSpPr txBox="1"/>
          <p:nvPr/>
        </p:nvSpPr>
        <p:spPr>
          <a:xfrm>
            <a:off x="682623" y="2971800"/>
            <a:ext cx="10826750" cy="2752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55" algn="ctr">
              <a:lnSpc>
                <a:spcPts val="2865"/>
              </a:lnSpc>
              <a:spcBef>
                <a:spcPts val="2445"/>
              </a:spcBef>
            </a:pPr>
            <a:r>
              <a:rPr lang="ru-RU" sz="2000" dirty="0">
                <a:latin typeface="Times New Roman"/>
                <a:cs typeface="Times New Roman"/>
              </a:rPr>
              <a:t>Диссертация</a:t>
            </a:r>
            <a:r>
              <a:rPr lang="ru-RU" sz="2000" spc="-5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на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соискание</a:t>
            </a:r>
            <a:r>
              <a:rPr lang="ru-RU" sz="2000" spc="-8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квалификации</a:t>
            </a:r>
            <a:r>
              <a:rPr lang="ru-RU" sz="2000" spc="-7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магистра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техники </a:t>
            </a:r>
            <a:r>
              <a:rPr lang="ru-RU" sz="2000" dirty="0">
                <a:latin typeface="Times New Roman"/>
                <a:cs typeface="Times New Roman"/>
              </a:rPr>
              <a:t>и</a:t>
            </a:r>
            <a:r>
              <a:rPr lang="ru-RU" sz="2000" spc="-3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технологий</a:t>
            </a:r>
          </a:p>
          <a:p>
            <a:pPr marL="8255" algn="ctr">
              <a:lnSpc>
                <a:spcPts val="2865"/>
              </a:lnSpc>
              <a:spcBef>
                <a:spcPts val="2445"/>
              </a:spcBef>
            </a:pPr>
            <a:endParaRPr lang="ru-RU" sz="2000" dirty="0">
              <a:latin typeface="Times New Roman"/>
              <a:cs typeface="Times New Roman"/>
            </a:endParaRPr>
          </a:p>
          <a:p>
            <a:pPr marL="5191125" marR="2594610" indent="-2566035" algn="ctr">
              <a:lnSpc>
                <a:spcPct val="133000"/>
              </a:lnSpc>
            </a:pPr>
            <a:endParaRPr lang="ru-RU" sz="2000" dirty="0">
              <a:latin typeface="Times New Roman"/>
              <a:cs typeface="Times New Roman"/>
            </a:endParaRPr>
          </a:p>
          <a:p>
            <a:pPr marL="1609090" marR="1958339" indent="498475" algn="ctr">
              <a:lnSpc>
                <a:spcPct val="130400"/>
              </a:lnSpc>
              <a:spcBef>
                <a:spcPts val="75"/>
              </a:spcBef>
            </a:pPr>
            <a:r>
              <a:rPr lang="ru-RU" sz="2000" dirty="0">
                <a:latin typeface="Times New Roman"/>
                <a:cs typeface="Times New Roman"/>
              </a:rPr>
              <a:t>Соискатель:</a:t>
            </a:r>
            <a:r>
              <a:rPr lang="ru-RU" sz="2000" spc="-7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магистрант</a:t>
            </a:r>
            <a:r>
              <a:rPr lang="ru-RU" sz="2000" spc="-3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Артюшенков</a:t>
            </a:r>
            <a:r>
              <a:rPr lang="ru-RU" sz="2000" spc="-7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Артур</a:t>
            </a:r>
            <a:r>
              <a:rPr lang="ru-RU" sz="2000" spc="-7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Сергеевич </a:t>
            </a:r>
            <a:endParaRPr lang="en-GB" sz="2000" spc="-10" dirty="0">
              <a:latin typeface="Times New Roman"/>
              <a:cs typeface="Times New Roman"/>
            </a:endParaRPr>
          </a:p>
          <a:p>
            <a:pPr marR="1958339" indent="1074738" algn="r">
              <a:lnSpc>
                <a:spcPct val="130400"/>
              </a:lnSpc>
              <a:spcBef>
                <a:spcPts val="75"/>
              </a:spcBef>
            </a:pPr>
            <a:r>
              <a:rPr lang="en-GB" sz="2000" dirty="0">
                <a:latin typeface="Times New Roman"/>
                <a:cs typeface="Times New Roman"/>
              </a:rPr>
              <a:t>           </a:t>
            </a:r>
            <a:r>
              <a:rPr lang="ru-RU" sz="2000" dirty="0">
                <a:latin typeface="Times New Roman"/>
                <a:cs typeface="Times New Roman"/>
              </a:rPr>
              <a:t>Научный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руководитель:</a:t>
            </a:r>
            <a:r>
              <a:rPr lang="ru-RU" sz="2000" spc="-6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д.т.н.,</a:t>
            </a:r>
            <a:r>
              <a:rPr lang="ru-RU" sz="2000" spc="-6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профессор</a:t>
            </a:r>
            <a:r>
              <a:rPr lang="ru-RU" sz="2000" spc="-7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института</a:t>
            </a:r>
            <a:r>
              <a:rPr lang="en-GB" sz="2000" spc="-85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СПИНТех</a:t>
            </a:r>
            <a:r>
              <a:rPr lang="en-GB" sz="2000" spc="-10" dirty="0">
                <a:latin typeface="Times New Roman"/>
                <a:cs typeface="Times New Roman"/>
              </a:rPr>
              <a:t> </a:t>
            </a:r>
          </a:p>
          <a:p>
            <a:pPr marR="1958339" indent="9525" algn="ctr">
              <a:lnSpc>
                <a:spcPct val="130400"/>
              </a:lnSpc>
              <a:spcBef>
                <a:spcPts val="75"/>
              </a:spcBef>
            </a:pPr>
            <a:r>
              <a:rPr lang="en-GB" sz="2000" spc="-10" dirty="0">
                <a:latin typeface="Times New Roman"/>
                <a:cs typeface="Times New Roman"/>
              </a:rPr>
              <a:t>                                  </a:t>
            </a:r>
            <a:r>
              <a:rPr lang="ru-RU" sz="2000" dirty="0">
                <a:latin typeface="Times New Roman"/>
                <a:cs typeface="Times New Roman"/>
              </a:rPr>
              <a:t>Гагарина</a:t>
            </a:r>
            <a:r>
              <a:rPr lang="en-GB" sz="2000" spc="-2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Лариса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Геннадьевна</a:t>
            </a:r>
            <a:endParaRPr lang="ru-RU" sz="200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19F9F9-A3B1-D268-E576-6C02FBC07A0C}"/>
              </a:ext>
            </a:extLst>
          </p:cNvPr>
          <p:cNvSpPr txBox="1"/>
          <p:nvPr/>
        </p:nvSpPr>
        <p:spPr>
          <a:xfrm>
            <a:off x="346827" y="3429000"/>
            <a:ext cx="11498341" cy="1106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91125" marR="2594610" indent="-2566035" algn="ctr">
              <a:lnSpc>
                <a:spcPct val="133000"/>
              </a:lnSpc>
            </a:pPr>
            <a:endParaRPr lang="en-GB" sz="1800" dirty="0">
              <a:latin typeface="Times New Roman"/>
              <a:cs typeface="Times New Roman"/>
            </a:endParaRPr>
          </a:p>
          <a:p>
            <a:pPr marL="5191125" marR="2594610" indent="-2566035" algn="ctr">
              <a:lnSpc>
                <a:spcPct val="133000"/>
              </a:lnSpc>
            </a:pPr>
            <a:r>
              <a:rPr lang="ru-RU" sz="1800" dirty="0">
                <a:latin typeface="Times New Roman"/>
                <a:cs typeface="Times New Roman"/>
              </a:rPr>
              <a:t>Направление</a:t>
            </a:r>
            <a:r>
              <a:rPr lang="ru-RU" sz="1800" spc="5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подготовки</a:t>
            </a:r>
            <a:r>
              <a:rPr lang="ru-RU" sz="1800" spc="-50" dirty="0">
                <a:latin typeface="Times New Roman"/>
                <a:cs typeface="Times New Roman"/>
              </a:rPr>
              <a:t> </a:t>
            </a:r>
            <a:r>
              <a:rPr lang="ru-RU" sz="1800" dirty="0">
                <a:latin typeface="Times New Roman"/>
                <a:cs typeface="Times New Roman"/>
              </a:rPr>
              <a:t>09.04.04.</a:t>
            </a:r>
            <a:r>
              <a:rPr lang="ru-RU" sz="1800" spc="-15" dirty="0">
                <a:latin typeface="Times New Roman"/>
                <a:cs typeface="Times New Roman"/>
              </a:rPr>
              <a:t> </a:t>
            </a:r>
            <a:r>
              <a:rPr lang="ru-RU" sz="1800" dirty="0">
                <a:latin typeface="Times New Roman"/>
                <a:cs typeface="Times New Roman"/>
              </a:rPr>
              <a:t>–</a:t>
            </a:r>
            <a:r>
              <a:rPr lang="ru-RU" sz="1800" spc="-45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Программная</a:t>
            </a:r>
            <a:r>
              <a:rPr lang="en-GB" sz="1800" spc="-10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инженерия</a:t>
            </a:r>
            <a:endParaRPr lang="en-GB" sz="1800" spc="-10" dirty="0">
              <a:latin typeface="Times New Roman"/>
              <a:cs typeface="Times New Roman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BA3BD3-3401-5CE9-DA7F-C5355EED6487}"/>
              </a:ext>
            </a:extLst>
          </p:cNvPr>
          <p:cNvSpPr txBox="1"/>
          <p:nvPr/>
        </p:nvSpPr>
        <p:spPr>
          <a:xfrm>
            <a:off x="2713182" y="381000"/>
            <a:ext cx="67656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Times New Roman"/>
                <a:cs typeface="Times New Roman"/>
              </a:rPr>
              <a:t>Проблемная</a:t>
            </a:r>
            <a:r>
              <a:rPr lang="ru-RU" sz="3600" spc="95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ситуация</a:t>
            </a:r>
            <a:r>
              <a:rPr lang="ru-RU" sz="3600" spc="10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в</a:t>
            </a:r>
            <a:r>
              <a:rPr lang="ru-RU" sz="3600" spc="5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области </a:t>
            </a:r>
            <a:r>
              <a:rPr lang="ru-RU" sz="3600" dirty="0">
                <a:latin typeface="Times New Roman"/>
                <a:cs typeface="Times New Roman"/>
              </a:rPr>
              <a:t>объекта</a:t>
            </a:r>
            <a:r>
              <a:rPr lang="en-GB" sz="3600" spc="6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исследования</a:t>
            </a:r>
            <a:endParaRPr lang="ru-RU" sz="3600" dirty="0">
              <a:latin typeface="Times New Roman"/>
              <a:cs typeface="Times New Roman"/>
            </a:endParaRPr>
          </a:p>
          <a:p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53A7A-879F-7902-43D0-7B26B13EE976}"/>
              </a:ext>
            </a:extLst>
          </p:cNvPr>
          <p:cNvSpPr txBox="1"/>
          <p:nvPr/>
        </p:nvSpPr>
        <p:spPr>
          <a:xfrm>
            <a:off x="228600" y="1828800"/>
            <a:ext cx="13335000" cy="4139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4795" marR="1993264">
              <a:lnSpc>
                <a:spcPct val="101699"/>
              </a:lnSpc>
              <a:spcBef>
                <a:spcPts val="1645"/>
              </a:spcBef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Отсутствие точности прогнозирования времени в пути в условиях стохастической и многопараметрической дорожной среды.</a:t>
            </a:r>
          </a:p>
          <a:p>
            <a:pPr marL="264795" marR="1993264">
              <a:lnSpc>
                <a:spcPct val="101699"/>
              </a:lnSpc>
              <a:spcBef>
                <a:spcPts val="1645"/>
              </a:spcBef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795">
              <a:lnSpc>
                <a:spcPct val="100000"/>
              </a:lnSpc>
              <a:spcBef>
                <a:spcPts val="5"/>
              </a:spcBef>
            </a:pPr>
            <a:r>
              <a:rPr lang="ru-RU" sz="2400" b="1" dirty="0">
                <a:latin typeface="Times New Roman"/>
                <a:cs typeface="Times New Roman"/>
              </a:rPr>
              <a:t>Причины</a:t>
            </a:r>
            <a:r>
              <a:rPr lang="ru-RU" sz="2400" b="1" spc="-65" dirty="0">
                <a:latin typeface="Times New Roman"/>
                <a:cs typeface="Times New Roman"/>
              </a:rPr>
              <a:t> </a:t>
            </a:r>
            <a:r>
              <a:rPr lang="ru-RU" sz="2400" b="1" dirty="0">
                <a:latin typeface="Times New Roman"/>
                <a:cs typeface="Times New Roman"/>
              </a:rPr>
              <a:t>сложившейся</a:t>
            </a:r>
            <a:r>
              <a:rPr lang="ru-RU" sz="2400" b="1" spc="-25" dirty="0">
                <a:latin typeface="Times New Roman"/>
                <a:cs typeface="Times New Roman"/>
              </a:rPr>
              <a:t> </a:t>
            </a:r>
            <a:r>
              <a:rPr lang="ru-RU" sz="2400" b="1" spc="-10" dirty="0">
                <a:latin typeface="Times New Roman"/>
                <a:cs typeface="Times New Roman"/>
              </a:rPr>
              <a:t>ситуации:</a:t>
            </a:r>
            <a:endParaRPr lang="ru-RU" sz="2400" dirty="0"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учета вероятности ДТП и времени их устранения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Ограниченное использование погодных факторов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Статичность моделей трафика (AADT)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Игнорирование типа дорожного покрытия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интеграции ML и оптимизационных моделей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144667-731A-4D61-D955-C8A507F0EA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27EE3A-697F-C337-1E9C-6F8155D5B2C1}"/>
              </a:ext>
            </a:extLst>
          </p:cNvPr>
          <p:cNvSpPr txBox="1"/>
          <p:nvPr/>
        </p:nvSpPr>
        <p:spPr>
          <a:xfrm>
            <a:off x="3322484" y="304800"/>
            <a:ext cx="55470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3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3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3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диссертации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12282-D793-E71A-D9AC-35ACFE95336A}"/>
              </a:ext>
            </a:extLst>
          </p:cNvPr>
          <p:cNvSpPr txBox="1"/>
          <p:nvPr/>
        </p:nvSpPr>
        <p:spPr>
          <a:xfrm>
            <a:off x="31750" y="1219200"/>
            <a:ext cx="12160250" cy="5322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4795" marR="0" lvl="0" indent="0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работы:</a:t>
            </a:r>
            <a:r>
              <a:rPr lang="ru-RU" sz="24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точности прогнозирования времени с учётом стохастических факторов дорожной среды.</a:t>
            </a:r>
          </a:p>
          <a:p>
            <a:pPr marL="264795">
              <a:lnSpc>
                <a:spcPct val="100000"/>
              </a:lnSpc>
              <a:spcBef>
                <a:spcPts val="2230"/>
              </a:spcBef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7060" marR="69215" lvl="7" indent="-342265">
              <a:lnSpc>
                <a:spcPts val="2850"/>
              </a:lnSpc>
              <a:spcBef>
                <a:spcPts val="170"/>
              </a:spcBef>
              <a:buAutoNum type="arabicPeriod"/>
              <a:tabLst>
                <a:tab pos="60833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моделей, методов и специализированного программного обеспечения для построения маршрутов.</a:t>
            </a:r>
          </a:p>
          <a:p>
            <a:pPr marL="607060" marR="69215" lvl="7" indent="-342265">
              <a:lnSpc>
                <a:spcPts val="2850"/>
              </a:lnSpc>
              <a:spcBef>
                <a:spcPts val="170"/>
              </a:spcBef>
              <a:buAutoNum type="arabicPeriod"/>
              <a:tabLst>
                <a:tab pos="60833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Формализация транспортной сети в виде графовой модели с описанием целевой функции и ограничений.</a:t>
            </a:r>
          </a:p>
          <a:p>
            <a:pPr marL="607060" marR="69215" lvl="7" indent="-342265">
              <a:lnSpc>
                <a:spcPts val="2850"/>
              </a:lnSpc>
              <a:spcBef>
                <a:spcPts val="170"/>
              </a:spcBef>
              <a:buAutoNum type="arabicPeriod"/>
              <a:tabLst>
                <a:tab pos="60833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методики учёта влияния погоды, трафика и типа дорожного покрытия на скорость движения.</a:t>
            </a:r>
          </a:p>
          <a:p>
            <a:pPr marL="607060" marR="69215" lvl="7" indent="-342265">
              <a:lnSpc>
                <a:spcPts val="2850"/>
              </a:lnSpc>
              <a:spcBef>
                <a:spcPts val="170"/>
              </a:spcBef>
              <a:buAutoNum type="arabicPeriod"/>
              <a:tabLst>
                <a:tab pos="60833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алгоритма вероятностного моделирования ДТП и расчёта времени их устранения.</a:t>
            </a:r>
          </a:p>
          <a:p>
            <a:pPr marL="607060" marR="69215" lvl="7" indent="-342265">
              <a:lnSpc>
                <a:spcPts val="2850"/>
              </a:lnSpc>
              <a:spcBef>
                <a:spcPts val="170"/>
              </a:spcBef>
              <a:buAutoNum type="arabicPeriod"/>
              <a:tabLst>
                <a:tab pos="60833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реализация гибридного алгоритма оптимизации маршрутов на основе предиктивной ML-модели и метода 2-opt.</a:t>
            </a:r>
          </a:p>
          <a:p>
            <a:pPr marL="607060" marR="69215" lvl="7" indent="-342265">
              <a:lnSpc>
                <a:spcPts val="2850"/>
              </a:lnSpc>
              <a:spcBef>
                <a:spcPts val="170"/>
              </a:spcBef>
              <a:buAutoNum type="arabicPeriod"/>
              <a:tabLst>
                <a:tab pos="60833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точности и эффективности разработанной модели в сравнении с существующими аналогами.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B038A-4DB3-4E21-028C-F56461B441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0AA45B-66E3-E12C-F49E-99816EC49570}"/>
              </a:ext>
            </a:extLst>
          </p:cNvPr>
          <p:cNvSpPr txBox="1"/>
          <p:nvPr/>
        </p:nvSpPr>
        <p:spPr>
          <a:xfrm>
            <a:off x="3886100" y="345337"/>
            <a:ext cx="4419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защиту выносятся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987E8A-00EB-DD7F-FB4D-A567066EE7DF}"/>
              </a:ext>
            </a:extLst>
          </p:cNvPr>
          <p:cNvSpPr txBox="1"/>
          <p:nvPr/>
        </p:nvSpPr>
        <p:spPr>
          <a:xfrm>
            <a:off x="244475" y="1371600"/>
            <a:ext cx="11703050" cy="452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Формализованное представление задачи прогнозирования времени в пути в виде взвешенного графа с описанием целевой функции, ограничений и полной формулы.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 логистической системы маршрутизации, учитывающая динамические и стохастические факторы дорожного движения.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Предиктивная модель оценки параметров движения, интегрированная в задачу маршрутизации и учитывающая влияние внешних факторов на время прохождения рёбер графа.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Гибридный алгоритм оптимизации маршрутов, сочетающий предиктивное моделирование и метод локальной оптимизации 2-opt.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RoadSense, реализующий разработанные модели и алгоритм в виде пяти взаимосвязанных программных модулей.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экспериментальных исследований, подтверждающие повышение точности прогнозирования времени в пути.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9E6C0-9462-6A08-508F-9D2170884D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41">
            <a:extLst>
              <a:ext uri="{FF2B5EF4-FFF2-40B4-BE49-F238E27FC236}">
                <a16:creationId xmlns:a16="http://schemas.microsoft.com/office/drawing/2014/main" id="{FB2FA22F-4BBF-4BEF-766D-2B3051B51300}"/>
              </a:ext>
            </a:extLst>
          </p:cNvPr>
          <p:cNvSpPr/>
          <p:nvPr/>
        </p:nvSpPr>
        <p:spPr>
          <a:xfrm>
            <a:off x="265175" y="797641"/>
            <a:ext cx="11640313" cy="4837177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FF331-798A-C1C6-805B-D4F27D9B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85" y="37445"/>
            <a:ext cx="11397615" cy="430887"/>
          </a:xfrm>
        </p:spPr>
        <p:txBody>
          <a:bodyPr/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Аналитический обзор существующих методов и средств построения пути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3AE022A-CA30-18BA-97A5-D5DB4673D490}"/>
              </a:ext>
            </a:extLst>
          </p:cNvPr>
          <p:cNvSpPr/>
          <p:nvPr/>
        </p:nvSpPr>
        <p:spPr>
          <a:xfrm>
            <a:off x="264414" y="594571"/>
            <a:ext cx="28422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AD1ED-C294-EA8B-F99D-36B82C9F79F7}"/>
              </a:ext>
            </a:extLst>
          </p:cNvPr>
          <p:cNvSpPr/>
          <p:nvPr/>
        </p:nvSpPr>
        <p:spPr>
          <a:xfrm>
            <a:off x="283464" y="594571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№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C8EEEF28-AD43-A3C0-DE39-6C4C63423A66}"/>
              </a:ext>
            </a:extLst>
          </p:cNvPr>
          <p:cNvSpPr/>
          <p:nvPr/>
        </p:nvSpPr>
        <p:spPr>
          <a:xfrm>
            <a:off x="548640" y="594571"/>
            <a:ext cx="14173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C2164F3-BF77-B8D5-1DF6-EBD6E9165283}"/>
              </a:ext>
            </a:extLst>
          </p:cNvPr>
          <p:cNvSpPr/>
          <p:nvPr/>
        </p:nvSpPr>
        <p:spPr>
          <a:xfrm>
            <a:off x="576072" y="594571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Средство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2C1820A-AD85-8810-B413-7316375DD4B1}"/>
              </a:ext>
            </a:extLst>
          </p:cNvPr>
          <p:cNvSpPr/>
          <p:nvPr/>
        </p:nvSpPr>
        <p:spPr>
          <a:xfrm>
            <a:off x="1965960" y="594571"/>
            <a:ext cx="199339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4A283ED0-CBF1-4A26-3BC5-7E3698C93E84}"/>
              </a:ext>
            </a:extLst>
          </p:cNvPr>
          <p:cNvSpPr/>
          <p:nvPr/>
        </p:nvSpPr>
        <p:spPr>
          <a:xfrm>
            <a:off x="1993392" y="594571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Методы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7BBF59F-8C5F-55D1-7DD5-88BED429A745}"/>
              </a:ext>
            </a:extLst>
          </p:cNvPr>
          <p:cNvSpPr/>
          <p:nvPr/>
        </p:nvSpPr>
        <p:spPr>
          <a:xfrm>
            <a:off x="3959352" y="594571"/>
            <a:ext cx="35661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D0CA0053-9654-33AD-89AA-AC88D66ADBDA}"/>
              </a:ext>
            </a:extLst>
          </p:cNvPr>
          <p:cNvSpPr/>
          <p:nvPr/>
        </p:nvSpPr>
        <p:spPr>
          <a:xfrm>
            <a:off x="3986784" y="594571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Формула / модель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8AE56C8F-F633-C060-324D-6AFB8271D515}"/>
              </a:ext>
            </a:extLst>
          </p:cNvPr>
          <p:cNvSpPr/>
          <p:nvPr/>
        </p:nvSpPr>
        <p:spPr>
          <a:xfrm>
            <a:off x="7525510" y="594571"/>
            <a:ext cx="4380739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A6E06A30-3CA3-B38F-48DB-942F8A230EF6}"/>
              </a:ext>
            </a:extLst>
          </p:cNvPr>
          <p:cNvSpPr/>
          <p:nvPr/>
        </p:nvSpPr>
        <p:spPr>
          <a:xfrm>
            <a:off x="7552944" y="594571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Недостатки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09A46D3B-FFD7-8C66-E62E-A85460EC1ABB}"/>
              </a:ext>
            </a:extLst>
          </p:cNvPr>
          <p:cNvSpPr/>
          <p:nvPr/>
        </p:nvSpPr>
        <p:spPr>
          <a:xfrm>
            <a:off x="525200" y="886206"/>
            <a:ext cx="5149" cy="1415916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6A6E07BB-8F77-9B66-012C-69C2575AFF58}"/>
              </a:ext>
            </a:extLst>
          </p:cNvPr>
          <p:cNvSpPr/>
          <p:nvPr/>
        </p:nvSpPr>
        <p:spPr>
          <a:xfrm>
            <a:off x="1942520" y="886205"/>
            <a:ext cx="5149" cy="1471732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469A0BCD-30A8-0E23-A76B-3EBFB2C12319}"/>
              </a:ext>
            </a:extLst>
          </p:cNvPr>
          <p:cNvSpPr/>
          <p:nvPr/>
        </p:nvSpPr>
        <p:spPr>
          <a:xfrm>
            <a:off x="3937092" y="886205"/>
            <a:ext cx="3624" cy="1471732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1CEDE1BD-E7FF-0A45-2FD7-DEF31FD4DBB2}"/>
              </a:ext>
            </a:extLst>
          </p:cNvPr>
          <p:cNvSpPr/>
          <p:nvPr/>
        </p:nvSpPr>
        <p:spPr>
          <a:xfrm>
            <a:off x="7495191" y="886205"/>
            <a:ext cx="12032" cy="1435182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757C16A8-396D-F38F-2D4A-1D3325E67CE8}"/>
              </a:ext>
            </a:extLst>
          </p:cNvPr>
          <p:cNvSpPr/>
          <p:nvPr/>
        </p:nvSpPr>
        <p:spPr>
          <a:xfrm>
            <a:off x="270932" y="2277533"/>
            <a:ext cx="11616267" cy="7278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9FEA518-9330-07AC-9CF7-087009FFAF39}"/>
              </a:ext>
            </a:extLst>
          </p:cNvPr>
          <p:cNvSpPr/>
          <p:nvPr/>
        </p:nvSpPr>
        <p:spPr>
          <a:xfrm>
            <a:off x="274320" y="859536"/>
            <a:ext cx="256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51A67D32-DD18-0FB7-BB6F-BB773D99E28F}"/>
              </a:ext>
            </a:extLst>
          </p:cNvPr>
          <p:cNvSpPr/>
          <p:nvPr/>
        </p:nvSpPr>
        <p:spPr>
          <a:xfrm>
            <a:off x="585216" y="896112"/>
            <a:ext cx="1344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Maps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79975F7A-5608-61FD-57A7-19D9E60F9B80}"/>
              </a:ext>
            </a:extLst>
          </p:cNvPr>
          <p:cNvSpPr/>
          <p:nvPr/>
        </p:nvSpPr>
        <p:spPr>
          <a:xfrm>
            <a:off x="2025078" y="1032436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Алгоритмы Дейкстры / A*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ML-модели прогноза ETA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(DeepMind GNN)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C3BC321E-DC0E-30A0-A3F3-F5CADAF16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721" y="956131"/>
            <a:ext cx="1889707" cy="489042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1D01A983-60B3-3C5C-0BE1-7A9484C43F60}"/>
              </a:ext>
            </a:extLst>
          </p:cNvPr>
          <p:cNvSpPr/>
          <p:nvPr/>
        </p:nvSpPr>
        <p:spPr>
          <a:xfrm>
            <a:off x="4032504" y="1408417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маршрут: минимум суммы весов рёбер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C6D45286-14EE-55B5-B3AF-07C3E5F09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177" y="1634444"/>
            <a:ext cx="3327338" cy="356570"/>
          </a:xfrm>
          <a:prstGeom prst="rect">
            <a:avLst/>
          </a:prstGeom>
        </p:spPr>
      </p:pic>
      <p:sp>
        <p:nvSpPr>
          <p:cNvPr id="30" name="Text 22">
            <a:extLst>
              <a:ext uri="{FF2B5EF4-FFF2-40B4-BE49-F238E27FC236}">
                <a16:creationId xmlns:a16="http://schemas.microsoft.com/office/drawing/2014/main" id="{C97A568B-CB2C-F894-5204-35623599C122}"/>
              </a:ext>
            </a:extLst>
          </p:cNvPr>
          <p:cNvSpPr/>
          <p:nvPr/>
        </p:nvSpPr>
        <p:spPr>
          <a:xfrm>
            <a:off x="4015486" y="1981308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ETA: ML-предсказание по вектору признаков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9FBC6654-410B-22BF-6F9A-D40684FFAEE8}"/>
              </a:ext>
            </a:extLst>
          </p:cNvPr>
          <p:cNvSpPr/>
          <p:nvPr/>
        </p:nvSpPr>
        <p:spPr>
          <a:xfrm>
            <a:off x="7589520" y="990635"/>
            <a:ext cx="4251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 учитывается состояние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покрытия дороги.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Отсутствует анализ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спутниковых снимков.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Закрытая модель.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67E2030B-51FE-D4E3-EE13-816687DC02A1}"/>
              </a:ext>
            </a:extLst>
          </p:cNvPr>
          <p:cNvSpPr/>
          <p:nvPr/>
        </p:nvSpPr>
        <p:spPr>
          <a:xfrm>
            <a:off x="273050" y="2277532"/>
            <a:ext cx="11623292" cy="1296355"/>
          </a:xfrm>
          <a:prstGeom prst="rect">
            <a:avLst/>
          </a:prstGeom>
          <a:solidFill>
            <a:srgbClr val="EEF4FC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80A5AF43-A0E1-B206-8FA3-12EDCAD05F44}"/>
              </a:ext>
            </a:extLst>
          </p:cNvPr>
          <p:cNvSpPr/>
          <p:nvPr/>
        </p:nvSpPr>
        <p:spPr>
          <a:xfrm>
            <a:off x="530352" y="2284811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C9CCBAA8-5CB2-F7A6-0506-2B52F6F21AB2}"/>
              </a:ext>
            </a:extLst>
          </p:cNvPr>
          <p:cNvSpPr/>
          <p:nvPr/>
        </p:nvSpPr>
        <p:spPr>
          <a:xfrm>
            <a:off x="1947672" y="2284811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9D536F00-2312-72BC-8E2A-934ACBB58A81}"/>
              </a:ext>
            </a:extLst>
          </p:cNvPr>
          <p:cNvSpPr/>
          <p:nvPr/>
        </p:nvSpPr>
        <p:spPr>
          <a:xfrm>
            <a:off x="3941064" y="2284811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04D8D2D2-9B1F-46BF-7D92-B1C97D593821}"/>
              </a:ext>
            </a:extLst>
          </p:cNvPr>
          <p:cNvSpPr/>
          <p:nvPr/>
        </p:nvSpPr>
        <p:spPr>
          <a:xfrm>
            <a:off x="7507224" y="2284811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67D5CD11-7010-E5A3-3461-681641616256}"/>
              </a:ext>
            </a:extLst>
          </p:cNvPr>
          <p:cNvSpPr/>
          <p:nvPr/>
        </p:nvSpPr>
        <p:spPr>
          <a:xfrm>
            <a:off x="256032" y="2284811"/>
            <a:ext cx="256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04AC68F1-9772-9617-F4EC-1FEB7B04BB4E}"/>
              </a:ext>
            </a:extLst>
          </p:cNvPr>
          <p:cNvSpPr/>
          <p:nvPr/>
        </p:nvSpPr>
        <p:spPr>
          <a:xfrm>
            <a:off x="566928" y="2321387"/>
            <a:ext cx="1344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Waze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1FC325F3-7961-41A6-719C-4823DDB18F6B}"/>
              </a:ext>
            </a:extLst>
          </p:cNvPr>
          <p:cNvSpPr/>
          <p:nvPr/>
        </p:nvSpPr>
        <p:spPr>
          <a:xfrm>
            <a:off x="1993392" y="2321387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Краудсорсинг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Динамическая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маршрутизация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5CA4C155-174D-A364-3D6D-21F17389B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904" y="2307851"/>
            <a:ext cx="2201884" cy="378112"/>
          </a:xfrm>
          <a:prstGeom prst="rect">
            <a:avLst/>
          </a:prstGeom>
        </p:spPr>
      </p:pic>
      <p:sp>
        <p:nvSpPr>
          <p:cNvPr id="42" name="Text 33">
            <a:extLst>
              <a:ext uri="{FF2B5EF4-FFF2-40B4-BE49-F238E27FC236}">
                <a16:creationId xmlns:a16="http://schemas.microsoft.com/office/drawing/2014/main" id="{D8644468-0586-3A38-CF94-3EC1CE77221C}"/>
              </a:ext>
            </a:extLst>
          </p:cNvPr>
          <p:cNvSpPr/>
          <p:nvPr/>
        </p:nvSpPr>
        <p:spPr>
          <a:xfrm>
            <a:off x="4015486" y="2648241"/>
            <a:ext cx="3474720" cy="37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время: длина / средняя скорость толпы, задержка события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4225239A-EF72-0BEC-3BBB-CF6121454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569" y="2841579"/>
            <a:ext cx="1676012" cy="629426"/>
          </a:xfrm>
          <a:prstGeom prst="rect">
            <a:avLst/>
          </a:prstGeom>
        </p:spPr>
      </p:pic>
      <p:sp>
        <p:nvSpPr>
          <p:cNvPr id="44" name="Text 34">
            <a:extLst>
              <a:ext uri="{FF2B5EF4-FFF2-40B4-BE49-F238E27FC236}">
                <a16:creationId xmlns:a16="http://schemas.microsoft.com/office/drawing/2014/main" id="{9E9F38F5-160C-1DEE-0A68-D1E17976FE5B}"/>
              </a:ext>
            </a:extLst>
          </p:cNvPr>
          <p:cNvSpPr/>
          <p:nvPr/>
        </p:nvSpPr>
        <p:spPr>
          <a:xfrm>
            <a:off x="3985515" y="3378022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скорость: среднее по N репортам пользователей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BD67F49B-EFA5-0BCA-6863-CDFB0ED8C3A1}"/>
              </a:ext>
            </a:extLst>
          </p:cNvPr>
          <p:cNvSpPr/>
          <p:nvPr/>
        </p:nvSpPr>
        <p:spPr>
          <a:xfrm>
            <a:off x="7571232" y="2330531"/>
            <a:ext cx="4251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Зависимость от активности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пользователей.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Слабый анализ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качества дороги.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37">
            <a:extLst>
              <a:ext uri="{FF2B5EF4-FFF2-40B4-BE49-F238E27FC236}">
                <a16:creationId xmlns:a16="http://schemas.microsoft.com/office/drawing/2014/main" id="{6160584D-83B5-EF7E-B3A3-E7DE43EEB64C}"/>
              </a:ext>
            </a:extLst>
          </p:cNvPr>
          <p:cNvSpPr/>
          <p:nvPr/>
        </p:nvSpPr>
        <p:spPr>
          <a:xfrm>
            <a:off x="530352" y="3254074"/>
            <a:ext cx="21336" cy="1498403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1E262FE1-324D-E983-17BF-096159765F08}"/>
              </a:ext>
            </a:extLst>
          </p:cNvPr>
          <p:cNvSpPr/>
          <p:nvPr/>
        </p:nvSpPr>
        <p:spPr>
          <a:xfrm>
            <a:off x="1947672" y="3254074"/>
            <a:ext cx="12034" cy="1528237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49" name="Shape 39">
            <a:extLst>
              <a:ext uri="{FF2B5EF4-FFF2-40B4-BE49-F238E27FC236}">
                <a16:creationId xmlns:a16="http://schemas.microsoft.com/office/drawing/2014/main" id="{6109C054-A00C-0944-4DB9-CA7465302FB4}"/>
              </a:ext>
            </a:extLst>
          </p:cNvPr>
          <p:cNvSpPr/>
          <p:nvPr/>
        </p:nvSpPr>
        <p:spPr>
          <a:xfrm>
            <a:off x="3941063" y="3254074"/>
            <a:ext cx="12443" cy="1498405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50" name="Shape 40">
            <a:extLst>
              <a:ext uri="{FF2B5EF4-FFF2-40B4-BE49-F238E27FC236}">
                <a16:creationId xmlns:a16="http://schemas.microsoft.com/office/drawing/2014/main" id="{AA9CF99D-881A-513D-AAB1-AC1B8B129E55}"/>
              </a:ext>
            </a:extLst>
          </p:cNvPr>
          <p:cNvSpPr/>
          <p:nvPr/>
        </p:nvSpPr>
        <p:spPr>
          <a:xfrm>
            <a:off x="7507223" y="3254075"/>
            <a:ext cx="12035" cy="1517056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C7486C08-EBF8-9C72-6D95-5F8DFDDF16DE}"/>
              </a:ext>
            </a:extLst>
          </p:cNvPr>
          <p:cNvSpPr/>
          <p:nvPr/>
        </p:nvSpPr>
        <p:spPr>
          <a:xfrm>
            <a:off x="256032" y="3254075"/>
            <a:ext cx="256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43">
            <a:extLst>
              <a:ext uri="{FF2B5EF4-FFF2-40B4-BE49-F238E27FC236}">
                <a16:creationId xmlns:a16="http://schemas.microsoft.com/office/drawing/2014/main" id="{5F91D1C8-48BB-2FA3-F6DA-E2AA1D99FE19}"/>
              </a:ext>
            </a:extLst>
          </p:cNvPr>
          <p:cNvSpPr/>
          <p:nvPr/>
        </p:nvSpPr>
        <p:spPr>
          <a:xfrm>
            <a:off x="563880" y="3564588"/>
            <a:ext cx="1344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CNN / U-Net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сегментация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дорог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C13CFC2B-F8D0-F2B1-83F3-382CEB485F57}"/>
              </a:ext>
            </a:extLst>
          </p:cNvPr>
          <p:cNvSpPr/>
          <p:nvPr/>
        </p:nvSpPr>
        <p:spPr>
          <a:xfrm>
            <a:off x="1992116" y="3525058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Глубокое обучение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Семантическая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сегментация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9F1FF34F-7172-4DA5-59C1-0D8FE5013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3632822"/>
            <a:ext cx="2090928" cy="272996"/>
          </a:xfrm>
          <a:prstGeom prst="rect">
            <a:avLst/>
          </a:prstGeom>
        </p:spPr>
      </p:pic>
      <p:sp>
        <p:nvSpPr>
          <p:cNvPr id="56" name="Text 45">
            <a:extLst>
              <a:ext uri="{FF2B5EF4-FFF2-40B4-BE49-F238E27FC236}">
                <a16:creationId xmlns:a16="http://schemas.microsoft.com/office/drawing/2014/main" id="{066868AD-6204-B2E7-EF43-4E0AC843CB73}"/>
              </a:ext>
            </a:extLst>
          </p:cNvPr>
          <p:cNvSpPr/>
          <p:nvPr/>
        </p:nvSpPr>
        <p:spPr>
          <a:xfrm>
            <a:off x="4045203" y="3899113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предсказание класса пикселя (softmax)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Image 5" descr="preencoded.png">
            <a:extLst>
              <a:ext uri="{FF2B5EF4-FFF2-40B4-BE49-F238E27FC236}">
                <a16:creationId xmlns:a16="http://schemas.microsoft.com/office/drawing/2014/main" id="{1CD27AFC-BA17-B9F3-89F4-E43A5C991F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8269" y="4143204"/>
            <a:ext cx="1747530" cy="470620"/>
          </a:xfrm>
          <a:prstGeom prst="rect">
            <a:avLst/>
          </a:prstGeom>
        </p:spPr>
      </p:pic>
      <p:sp>
        <p:nvSpPr>
          <p:cNvPr id="58" name="Text 46">
            <a:extLst>
              <a:ext uri="{FF2B5EF4-FFF2-40B4-BE49-F238E27FC236}">
                <a16:creationId xmlns:a16="http://schemas.microsoft.com/office/drawing/2014/main" id="{6630BE8C-FC14-838C-CA98-45264A632FDA}"/>
              </a:ext>
            </a:extLst>
          </p:cNvPr>
          <p:cNvSpPr/>
          <p:nvPr/>
        </p:nvSpPr>
        <p:spPr>
          <a:xfrm>
            <a:off x="4096513" y="4526947"/>
            <a:ext cx="3474720" cy="14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функция потерь: кросс-энтропия по классам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47">
            <a:extLst>
              <a:ext uri="{FF2B5EF4-FFF2-40B4-BE49-F238E27FC236}">
                <a16:creationId xmlns:a16="http://schemas.microsoft.com/office/drawing/2014/main" id="{64E97208-D492-462E-4D48-DB7AFD9AABB0}"/>
              </a:ext>
            </a:extLst>
          </p:cNvPr>
          <p:cNvSpPr/>
          <p:nvPr/>
        </p:nvSpPr>
        <p:spPr>
          <a:xfrm>
            <a:off x="7589520" y="3559418"/>
            <a:ext cx="34838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Требует большого объёма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размеченных данных.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Необходима GPU.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Нет модуля расчёта ETA.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53">
            <a:extLst>
              <a:ext uri="{FF2B5EF4-FFF2-40B4-BE49-F238E27FC236}">
                <a16:creationId xmlns:a16="http://schemas.microsoft.com/office/drawing/2014/main" id="{764052BA-EC56-C9B5-F640-2E60110BCD99}"/>
              </a:ext>
            </a:extLst>
          </p:cNvPr>
          <p:cNvSpPr/>
          <p:nvPr/>
        </p:nvSpPr>
        <p:spPr>
          <a:xfrm>
            <a:off x="268287" y="4733925"/>
            <a:ext cx="11625261" cy="17991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3" name="Shape 60">
            <a:extLst>
              <a:ext uri="{FF2B5EF4-FFF2-40B4-BE49-F238E27FC236}">
                <a16:creationId xmlns:a16="http://schemas.microsoft.com/office/drawing/2014/main" id="{1B671DAF-83CC-1DD8-FB61-F1BEF9E3885D}"/>
              </a:ext>
            </a:extLst>
          </p:cNvPr>
          <p:cNvSpPr/>
          <p:nvPr/>
        </p:nvSpPr>
        <p:spPr>
          <a:xfrm>
            <a:off x="548640" y="4736592"/>
            <a:ext cx="0" cy="969264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4" name="Shape 61">
            <a:extLst>
              <a:ext uri="{FF2B5EF4-FFF2-40B4-BE49-F238E27FC236}">
                <a16:creationId xmlns:a16="http://schemas.microsoft.com/office/drawing/2014/main" id="{37872DF1-131D-3704-159B-447BC2A6D5E7}"/>
              </a:ext>
            </a:extLst>
          </p:cNvPr>
          <p:cNvSpPr/>
          <p:nvPr/>
        </p:nvSpPr>
        <p:spPr>
          <a:xfrm>
            <a:off x="1959705" y="4736592"/>
            <a:ext cx="5619" cy="943483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5" name="Shape 62">
            <a:extLst>
              <a:ext uri="{FF2B5EF4-FFF2-40B4-BE49-F238E27FC236}">
                <a16:creationId xmlns:a16="http://schemas.microsoft.com/office/drawing/2014/main" id="{C130AC34-97F5-AC12-8F9F-8939EFF40B1C}"/>
              </a:ext>
            </a:extLst>
          </p:cNvPr>
          <p:cNvSpPr/>
          <p:nvPr/>
        </p:nvSpPr>
        <p:spPr>
          <a:xfrm>
            <a:off x="3952324" y="4736591"/>
            <a:ext cx="3726" cy="951421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6" name="Shape 63">
            <a:extLst>
              <a:ext uri="{FF2B5EF4-FFF2-40B4-BE49-F238E27FC236}">
                <a16:creationId xmlns:a16="http://schemas.microsoft.com/office/drawing/2014/main" id="{E24EE87B-DD36-9E11-BE9C-AAA585272D8B}"/>
              </a:ext>
            </a:extLst>
          </p:cNvPr>
          <p:cNvSpPr/>
          <p:nvPr/>
        </p:nvSpPr>
        <p:spPr>
          <a:xfrm flipH="1">
            <a:off x="7507287" y="4736591"/>
            <a:ext cx="11969" cy="949833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7" name="Shape 64">
            <a:extLst>
              <a:ext uri="{FF2B5EF4-FFF2-40B4-BE49-F238E27FC236}">
                <a16:creationId xmlns:a16="http://schemas.microsoft.com/office/drawing/2014/main" id="{37B8104A-60A5-93C6-A005-5FBDBF36F9AF}"/>
              </a:ext>
            </a:extLst>
          </p:cNvPr>
          <p:cNvSpPr/>
          <p:nvPr/>
        </p:nvSpPr>
        <p:spPr>
          <a:xfrm>
            <a:off x="256032" y="5647267"/>
            <a:ext cx="11649456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78" name="Text 65">
            <a:extLst>
              <a:ext uri="{FF2B5EF4-FFF2-40B4-BE49-F238E27FC236}">
                <a16:creationId xmlns:a16="http://schemas.microsoft.com/office/drawing/2014/main" id="{0E6FE97D-762A-D498-E902-44BCE61AD8B1}"/>
              </a:ext>
            </a:extLst>
          </p:cNvPr>
          <p:cNvSpPr/>
          <p:nvPr/>
        </p:nvSpPr>
        <p:spPr>
          <a:xfrm>
            <a:off x="274320" y="4736592"/>
            <a:ext cx="256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66">
            <a:extLst>
              <a:ext uri="{FF2B5EF4-FFF2-40B4-BE49-F238E27FC236}">
                <a16:creationId xmlns:a16="http://schemas.microsoft.com/office/drawing/2014/main" id="{D4147D9B-51C9-7335-8DF8-987EE8BF095C}"/>
              </a:ext>
            </a:extLst>
          </p:cNvPr>
          <p:cNvSpPr/>
          <p:nvPr/>
        </p:nvSpPr>
        <p:spPr>
          <a:xfrm>
            <a:off x="585216" y="4773168"/>
            <a:ext cx="1344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Яндекс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A3A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Карты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67">
            <a:extLst>
              <a:ext uri="{FF2B5EF4-FFF2-40B4-BE49-F238E27FC236}">
                <a16:creationId xmlns:a16="http://schemas.microsoft.com/office/drawing/2014/main" id="{5C21C2F8-0ED5-584E-4F46-110787EF3578}"/>
              </a:ext>
            </a:extLst>
          </p:cNvPr>
          <p:cNvSpPr/>
          <p:nvPr/>
        </p:nvSpPr>
        <p:spPr>
          <a:xfrm>
            <a:off x="2005425" y="4676135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CatBoost, краудсорс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Исторические данные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сенсоров РФ/СНГ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Image 7" descr="preencoded.png">
            <a:extLst>
              <a:ext uri="{FF2B5EF4-FFF2-40B4-BE49-F238E27FC236}">
                <a16:creationId xmlns:a16="http://schemas.microsoft.com/office/drawing/2014/main" id="{770028B6-1931-B807-1B2B-5A3A0A7763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0196" y="4855674"/>
            <a:ext cx="3430441" cy="308217"/>
          </a:xfrm>
          <a:prstGeom prst="rect">
            <a:avLst/>
          </a:prstGeom>
        </p:spPr>
      </p:pic>
      <p:sp>
        <p:nvSpPr>
          <p:cNvPr id="82" name="Text 68">
            <a:extLst>
              <a:ext uri="{FF2B5EF4-FFF2-40B4-BE49-F238E27FC236}">
                <a16:creationId xmlns:a16="http://schemas.microsoft.com/office/drawing/2014/main" id="{71A04B4A-4064-B51B-3290-B67A98C467E1}"/>
              </a:ext>
            </a:extLst>
          </p:cNvPr>
          <p:cNvSpPr/>
          <p:nvPr/>
        </p:nvSpPr>
        <p:spPr>
          <a:xfrm>
            <a:off x="3977641" y="5181205"/>
            <a:ext cx="3474720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ETA: градиентный бустинг по расстоянию, часу, погоде, истории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69">
            <a:extLst>
              <a:ext uri="{FF2B5EF4-FFF2-40B4-BE49-F238E27FC236}">
                <a16:creationId xmlns:a16="http://schemas.microsoft.com/office/drawing/2014/main" id="{50020865-B87E-2CA5-BACA-7EA4B2F01551}"/>
              </a:ext>
            </a:extLst>
          </p:cNvPr>
          <p:cNvSpPr/>
          <p:nvPr/>
        </p:nvSpPr>
        <p:spPr>
          <a:xfrm>
            <a:off x="7589520" y="4782312"/>
            <a:ext cx="4251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Ограниченная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география (РФ/СНГ).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Закрытый стек.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Нет анализа покрытия.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70">
            <a:extLst>
              <a:ext uri="{FF2B5EF4-FFF2-40B4-BE49-F238E27FC236}">
                <a16:creationId xmlns:a16="http://schemas.microsoft.com/office/drawing/2014/main" id="{022A736F-C4A7-02EC-C1F8-948484CE0AD6}"/>
              </a:ext>
            </a:extLst>
          </p:cNvPr>
          <p:cNvSpPr/>
          <p:nvPr/>
        </p:nvSpPr>
        <p:spPr>
          <a:xfrm>
            <a:off x="266700" y="5638800"/>
            <a:ext cx="11638786" cy="969264"/>
          </a:xfrm>
          <a:prstGeom prst="rect">
            <a:avLst/>
          </a:prstGeom>
          <a:solidFill>
            <a:srgbClr val="E8F5E9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85" name="Shape 71">
            <a:extLst>
              <a:ext uri="{FF2B5EF4-FFF2-40B4-BE49-F238E27FC236}">
                <a16:creationId xmlns:a16="http://schemas.microsoft.com/office/drawing/2014/main" id="{BA53305E-DA09-71FA-BB50-B53F81AEE82B}"/>
              </a:ext>
            </a:extLst>
          </p:cNvPr>
          <p:cNvSpPr/>
          <p:nvPr/>
        </p:nvSpPr>
        <p:spPr>
          <a:xfrm>
            <a:off x="548640" y="5647267"/>
            <a:ext cx="0" cy="969264"/>
          </a:xfrm>
          <a:prstGeom prst="line">
            <a:avLst/>
          </a:prstGeom>
          <a:noFill/>
          <a:ln w="5080">
            <a:solidFill>
              <a:srgbClr val="1A6B3C"/>
            </a:solidFill>
            <a:prstDash val="solid"/>
          </a:ln>
        </p:spPr>
      </p:sp>
      <p:sp>
        <p:nvSpPr>
          <p:cNvPr id="86" name="Shape 72">
            <a:extLst>
              <a:ext uri="{FF2B5EF4-FFF2-40B4-BE49-F238E27FC236}">
                <a16:creationId xmlns:a16="http://schemas.microsoft.com/office/drawing/2014/main" id="{16D7E1F6-A9AC-D6DC-64D4-A22638CF4712}"/>
              </a:ext>
            </a:extLst>
          </p:cNvPr>
          <p:cNvSpPr/>
          <p:nvPr/>
        </p:nvSpPr>
        <p:spPr>
          <a:xfrm>
            <a:off x="1965960" y="5647267"/>
            <a:ext cx="0" cy="969264"/>
          </a:xfrm>
          <a:prstGeom prst="line">
            <a:avLst/>
          </a:prstGeom>
          <a:noFill/>
          <a:ln w="5080">
            <a:solidFill>
              <a:srgbClr val="1A6B3C"/>
            </a:solidFill>
            <a:prstDash val="solid"/>
          </a:ln>
        </p:spPr>
      </p:sp>
      <p:sp>
        <p:nvSpPr>
          <p:cNvPr id="87" name="Shape 73">
            <a:extLst>
              <a:ext uri="{FF2B5EF4-FFF2-40B4-BE49-F238E27FC236}">
                <a16:creationId xmlns:a16="http://schemas.microsoft.com/office/drawing/2014/main" id="{038D287B-D8DA-7080-FB8C-CD19867751C6}"/>
              </a:ext>
            </a:extLst>
          </p:cNvPr>
          <p:cNvSpPr/>
          <p:nvPr/>
        </p:nvSpPr>
        <p:spPr>
          <a:xfrm>
            <a:off x="3959352" y="5647267"/>
            <a:ext cx="0" cy="969264"/>
          </a:xfrm>
          <a:prstGeom prst="line">
            <a:avLst/>
          </a:prstGeom>
          <a:noFill/>
          <a:ln w="5080">
            <a:solidFill>
              <a:srgbClr val="1A6B3C"/>
            </a:solidFill>
            <a:prstDash val="solid"/>
          </a:ln>
        </p:spPr>
      </p:sp>
      <p:sp>
        <p:nvSpPr>
          <p:cNvPr id="88" name="Shape 74">
            <a:extLst>
              <a:ext uri="{FF2B5EF4-FFF2-40B4-BE49-F238E27FC236}">
                <a16:creationId xmlns:a16="http://schemas.microsoft.com/office/drawing/2014/main" id="{CDD71075-2027-BE81-DE24-0425CBBBEF73}"/>
              </a:ext>
            </a:extLst>
          </p:cNvPr>
          <p:cNvSpPr/>
          <p:nvPr/>
        </p:nvSpPr>
        <p:spPr>
          <a:xfrm>
            <a:off x="7507223" y="5647267"/>
            <a:ext cx="0" cy="969264"/>
          </a:xfrm>
          <a:prstGeom prst="line">
            <a:avLst/>
          </a:prstGeom>
          <a:noFill/>
          <a:ln w="5080">
            <a:solidFill>
              <a:srgbClr val="1A6B3C"/>
            </a:solidFill>
            <a:prstDash val="solid"/>
          </a:ln>
        </p:spPr>
      </p:sp>
      <p:sp>
        <p:nvSpPr>
          <p:cNvPr id="89" name="Shape 75">
            <a:extLst>
              <a:ext uri="{FF2B5EF4-FFF2-40B4-BE49-F238E27FC236}">
                <a16:creationId xmlns:a16="http://schemas.microsoft.com/office/drawing/2014/main" id="{33DFAC03-557C-700E-B43D-43D02A772FD2}"/>
              </a:ext>
            </a:extLst>
          </p:cNvPr>
          <p:cNvSpPr/>
          <p:nvPr/>
        </p:nvSpPr>
        <p:spPr>
          <a:xfrm>
            <a:off x="256032" y="6616531"/>
            <a:ext cx="11649456" cy="0"/>
          </a:xfrm>
          <a:prstGeom prst="line">
            <a:avLst/>
          </a:prstGeom>
          <a:noFill/>
          <a:ln w="5080">
            <a:solidFill>
              <a:srgbClr val="1A6B3C"/>
            </a:solidFill>
            <a:prstDash val="solid"/>
          </a:ln>
        </p:spPr>
      </p:sp>
      <p:sp>
        <p:nvSpPr>
          <p:cNvPr id="90" name="Text 76">
            <a:extLst>
              <a:ext uri="{FF2B5EF4-FFF2-40B4-BE49-F238E27FC236}">
                <a16:creationId xmlns:a16="http://schemas.microsoft.com/office/drawing/2014/main" id="{C7BA7E4D-41FB-87EA-9E2D-E4408C7E08E9}"/>
              </a:ext>
            </a:extLst>
          </p:cNvPr>
          <p:cNvSpPr/>
          <p:nvPr/>
        </p:nvSpPr>
        <p:spPr>
          <a:xfrm>
            <a:off x="274320" y="5647267"/>
            <a:ext cx="2560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★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 77">
            <a:extLst>
              <a:ext uri="{FF2B5EF4-FFF2-40B4-BE49-F238E27FC236}">
                <a16:creationId xmlns:a16="http://schemas.microsoft.com/office/drawing/2014/main" id="{6018F841-FFE3-0DB2-5F8B-43089A95A19F}"/>
              </a:ext>
            </a:extLst>
          </p:cNvPr>
          <p:cNvSpPr/>
          <p:nvPr/>
        </p:nvSpPr>
        <p:spPr>
          <a:xfrm>
            <a:off x="585216" y="5683843"/>
            <a:ext cx="1344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RoadSense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(данная работа)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 78">
            <a:extLst>
              <a:ext uri="{FF2B5EF4-FFF2-40B4-BE49-F238E27FC236}">
                <a16:creationId xmlns:a16="http://schemas.microsoft.com/office/drawing/2014/main" id="{3904560F-70AE-7454-D3DE-35F09C91BACC}"/>
              </a:ext>
            </a:extLst>
          </p:cNvPr>
          <p:cNvSpPr/>
          <p:nvPr/>
        </p:nvSpPr>
        <p:spPr>
          <a:xfrm>
            <a:off x="2011680" y="5683843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XGBoost, FCN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Вероятностная модель ДТП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2-opt, архив NZTA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3" name="Image 8" descr="preencoded.png">
            <a:extLst>
              <a:ext uri="{FF2B5EF4-FFF2-40B4-BE49-F238E27FC236}">
                <a16:creationId xmlns:a16="http://schemas.microsoft.com/office/drawing/2014/main" id="{07990A26-C8CB-DAC3-E679-BF7588CD3E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2182" y="5749570"/>
            <a:ext cx="3180500" cy="473648"/>
          </a:xfrm>
          <a:prstGeom prst="rect">
            <a:avLst/>
          </a:prstGeom>
        </p:spPr>
      </p:pic>
      <p:sp>
        <p:nvSpPr>
          <p:cNvPr id="94" name="Text 79">
            <a:extLst>
              <a:ext uri="{FF2B5EF4-FFF2-40B4-BE49-F238E27FC236}">
                <a16:creationId xmlns:a16="http://schemas.microsoft.com/office/drawing/2014/main" id="{6BD6CC62-6B1C-A341-B0CC-EFEF3671587A}"/>
              </a:ext>
            </a:extLst>
          </p:cNvPr>
          <p:cNvSpPr/>
          <p:nvPr/>
        </p:nvSpPr>
        <p:spPr>
          <a:xfrm>
            <a:off x="3988054" y="6209008"/>
            <a:ext cx="3474720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полная формула: чистое время, пробка, ДТП-</a:t>
            </a:r>
            <a:r>
              <a:rPr lang="en-US" sz="1200" i="1" dirty="0" err="1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риск</a:t>
            </a: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архив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 80">
            <a:extLst>
              <a:ext uri="{FF2B5EF4-FFF2-40B4-BE49-F238E27FC236}">
                <a16:creationId xmlns:a16="http://schemas.microsoft.com/office/drawing/2014/main" id="{50938E58-4A09-78AF-73DC-DBFF8D538E7E}"/>
              </a:ext>
            </a:extLst>
          </p:cNvPr>
          <p:cNvSpPr/>
          <p:nvPr/>
        </p:nvSpPr>
        <p:spPr>
          <a:xfrm>
            <a:off x="7589520" y="5692987"/>
            <a:ext cx="4251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 source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Анализ покрытия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Спутниковые снимки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b="1" dirty="0" err="1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Вер</a:t>
            </a:r>
            <a:r>
              <a:rPr lang="ru-RU" sz="14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оятнос</a:t>
            </a:r>
            <a:r>
              <a:rPr lang="en-US" sz="1400" b="1" dirty="0" err="1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ть</a:t>
            </a:r>
            <a:r>
              <a:rPr lang="en-US" sz="14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ДТП + архив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Slide Number Placeholder 99">
            <a:extLst>
              <a:ext uri="{FF2B5EF4-FFF2-40B4-BE49-F238E27FC236}">
                <a16:creationId xmlns:a16="http://schemas.microsoft.com/office/drawing/2014/main" id="{10070DDC-FE74-9ECB-5F7F-C85EC798F2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24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41">
            <a:extLst>
              <a:ext uri="{FF2B5EF4-FFF2-40B4-BE49-F238E27FC236}">
                <a16:creationId xmlns:a16="http://schemas.microsoft.com/office/drawing/2014/main" id="{56B8C0AA-4886-A660-752C-E64114294834}"/>
              </a:ext>
            </a:extLst>
          </p:cNvPr>
          <p:cNvSpPr/>
          <p:nvPr/>
        </p:nvSpPr>
        <p:spPr>
          <a:xfrm>
            <a:off x="264667" y="805960"/>
            <a:ext cx="5358893" cy="5863063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4" name="Shape 2">
            <a:extLst>
              <a:ext uri="{FF2B5EF4-FFF2-40B4-BE49-F238E27FC236}">
                <a16:creationId xmlns:a16="http://schemas.microsoft.com/office/drawing/2014/main" id="{4C299FCE-D6F2-901B-8057-7EC1A9F3EE06}"/>
              </a:ext>
            </a:extLst>
          </p:cNvPr>
          <p:cNvSpPr/>
          <p:nvPr/>
        </p:nvSpPr>
        <p:spPr>
          <a:xfrm>
            <a:off x="265113" y="566928"/>
            <a:ext cx="5358447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5" name="Text 3">
            <a:extLst>
              <a:ext uri="{FF2B5EF4-FFF2-40B4-BE49-F238E27FC236}">
                <a16:creationId xmlns:a16="http://schemas.microsoft.com/office/drawing/2014/main" id="{E0EA7950-47A6-CB22-59B9-062C65F9BCF1}"/>
              </a:ext>
            </a:extLst>
          </p:cNvPr>
          <p:cNvSpPr/>
          <p:nvPr/>
        </p:nvSpPr>
        <p:spPr>
          <a:xfrm>
            <a:off x="274320" y="566928"/>
            <a:ext cx="534924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Входные данные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4">
            <a:extLst>
              <a:ext uri="{FF2B5EF4-FFF2-40B4-BE49-F238E27FC236}">
                <a16:creationId xmlns:a16="http://schemas.microsoft.com/office/drawing/2014/main" id="{5BCF9CF2-C407-C926-3CC3-CFE879F8756A}"/>
              </a:ext>
            </a:extLst>
          </p:cNvPr>
          <p:cNvSpPr/>
          <p:nvPr/>
        </p:nvSpPr>
        <p:spPr>
          <a:xfrm>
            <a:off x="274320" y="804672"/>
            <a:ext cx="5340668" cy="1033272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1CFAE132-F4CA-071F-4A0A-462AC18D436B}"/>
              </a:ext>
            </a:extLst>
          </p:cNvPr>
          <p:cNvSpPr/>
          <p:nvPr/>
        </p:nvSpPr>
        <p:spPr>
          <a:xfrm>
            <a:off x="384048" y="919978"/>
            <a:ext cx="5129784" cy="82296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 = (V, E)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граф дорожной сети
</a:t>
            </a:r>
            <a:r>
              <a:rPr lang="en-US" sz="1200" i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</a:t>
            </a:r>
            <a:r>
              <a:rPr lang="en-US" sz="1200" i="1" baseline="-40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ij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длина сегмента i→j [км]  |  </a:t>
            </a:r>
            <a:r>
              <a:rPr lang="en-US" sz="1200" i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</a:t>
            </a:r>
            <a:r>
              <a:rPr lang="en-US" sz="1200" i="1" baseline="-40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= 90 км/ч — базовая скорость
</a:t>
            </a:r>
            <a:r>
              <a:rPr lang="en-US" sz="1200" i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</a:t>
            </a:r>
            <a:r>
              <a:rPr lang="en-US" sz="1200" i="1" baseline="-40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пол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расстояние до полицейского поста [км]
</a:t>
            </a: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H(road_id, hour, day)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функция архивного времени НЗТА [мин/10 км]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Shape 6">
            <a:extLst>
              <a:ext uri="{FF2B5EF4-FFF2-40B4-BE49-F238E27FC236}">
                <a16:creationId xmlns:a16="http://schemas.microsoft.com/office/drawing/2014/main" id="{456C19DE-BAEC-ACDA-FC94-EDECA3F69AF0}"/>
              </a:ext>
            </a:extLst>
          </p:cNvPr>
          <p:cNvSpPr/>
          <p:nvPr/>
        </p:nvSpPr>
        <p:spPr>
          <a:xfrm>
            <a:off x="274320" y="1847088"/>
            <a:ext cx="5349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07416D40-ACED-964B-8C6F-8ADBCED43A14}"/>
              </a:ext>
            </a:extLst>
          </p:cNvPr>
          <p:cNvSpPr/>
          <p:nvPr/>
        </p:nvSpPr>
        <p:spPr>
          <a:xfrm>
            <a:off x="274320" y="1847088"/>
            <a:ext cx="534924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Коэффициенты модели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Shape 9">
            <a:extLst>
              <a:ext uri="{FF2B5EF4-FFF2-40B4-BE49-F238E27FC236}">
                <a16:creationId xmlns:a16="http://schemas.microsoft.com/office/drawing/2014/main" id="{F9A60576-D4B4-2693-4F0F-ABF061E1796B}"/>
              </a:ext>
            </a:extLst>
          </p:cNvPr>
          <p:cNvSpPr/>
          <p:nvPr/>
        </p:nvSpPr>
        <p:spPr>
          <a:xfrm>
            <a:off x="271463" y="2084832"/>
            <a:ext cx="898969" cy="411480"/>
          </a:xfrm>
          <a:prstGeom prst="rect">
            <a:avLst/>
          </a:prstGeom>
          <a:solidFill>
            <a:srgbClr val="D6E4F0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2" name="Text 10">
            <a:extLst>
              <a:ext uri="{FF2B5EF4-FFF2-40B4-BE49-F238E27FC236}">
                <a16:creationId xmlns:a16="http://schemas.microsoft.com/office/drawing/2014/main" id="{D31FB5F3-C7FC-9450-92BC-3C0A6E6421F5}"/>
              </a:ext>
            </a:extLst>
          </p:cNvPr>
          <p:cNvSpPr/>
          <p:nvPr/>
        </p:nvSpPr>
        <p:spPr>
          <a:xfrm>
            <a:off x="310896" y="2084832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K_покр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Shape 11">
            <a:extLst>
              <a:ext uri="{FF2B5EF4-FFF2-40B4-BE49-F238E27FC236}">
                <a16:creationId xmlns:a16="http://schemas.microsoft.com/office/drawing/2014/main" id="{CD8FBAE8-43DE-79AF-2D31-60F52680ABD4}"/>
              </a:ext>
            </a:extLst>
          </p:cNvPr>
          <p:cNvSpPr/>
          <p:nvPr/>
        </p:nvSpPr>
        <p:spPr>
          <a:xfrm>
            <a:off x="1188720" y="2084832"/>
            <a:ext cx="2249424" cy="411480"/>
          </a:xfrm>
          <a:prstGeom prst="rect">
            <a:avLst/>
          </a:prstGeom>
          <a:solidFill>
            <a:srgbClr val="E9EF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1A4B2FCC-C2CF-1CA4-CC4B-D61BCD884ED8}"/>
              </a:ext>
            </a:extLst>
          </p:cNvPr>
          <p:cNvSpPr/>
          <p:nvPr/>
        </p:nvSpPr>
        <p:spPr>
          <a:xfrm>
            <a:off x="1207008" y="208483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1,00/0,95/0,8</a:t>
            </a:r>
            <a:r>
              <a:rPr lang="ru-RU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/0,7</a:t>
            </a:r>
            <a:r>
              <a:rPr lang="ru-RU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/0,</a:t>
            </a:r>
            <a:r>
              <a:rPr lang="ru-RU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68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/0,</a:t>
            </a:r>
            <a:r>
              <a:rPr lang="ru-RU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13">
            <a:extLst>
              <a:ext uri="{FF2B5EF4-FFF2-40B4-BE49-F238E27FC236}">
                <a16:creationId xmlns:a16="http://schemas.microsoft.com/office/drawing/2014/main" id="{449571B2-CC33-384D-9D49-DB73E06D6267}"/>
              </a:ext>
            </a:extLst>
          </p:cNvPr>
          <p:cNvSpPr/>
          <p:nvPr/>
        </p:nvSpPr>
        <p:spPr>
          <a:xfrm>
            <a:off x="3456432" y="2084832"/>
            <a:ext cx="2158556" cy="411480"/>
          </a:xfrm>
          <a:prstGeom prst="rect">
            <a:avLst/>
          </a:prstGeom>
          <a:solidFill>
            <a:srgbClr val="E9EF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ED522F9B-8A88-844E-F36E-2065FE9E417F}"/>
              </a:ext>
            </a:extLst>
          </p:cNvPr>
          <p:cNvSpPr/>
          <p:nvPr/>
        </p:nvSpPr>
        <p:spPr>
          <a:xfrm>
            <a:off x="3474720" y="2084832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хор.асф/бетон/гравий/пов.асф/грунт/песок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Shape 15">
            <a:extLst>
              <a:ext uri="{FF2B5EF4-FFF2-40B4-BE49-F238E27FC236}">
                <a16:creationId xmlns:a16="http://schemas.microsoft.com/office/drawing/2014/main" id="{87CF79DD-A675-8508-4D1E-0C9FCAEC75A7}"/>
              </a:ext>
            </a:extLst>
          </p:cNvPr>
          <p:cNvSpPr/>
          <p:nvPr/>
        </p:nvSpPr>
        <p:spPr>
          <a:xfrm>
            <a:off x="271463" y="2505456"/>
            <a:ext cx="898969" cy="411480"/>
          </a:xfrm>
          <a:prstGeom prst="rect">
            <a:avLst/>
          </a:prstGeom>
          <a:solidFill>
            <a:srgbClr val="D6E4F0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88" name="Text 16">
            <a:extLst>
              <a:ext uri="{FF2B5EF4-FFF2-40B4-BE49-F238E27FC236}">
                <a16:creationId xmlns:a16="http://schemas.microsoft.com/office/drawing/2014/main" id="{FB54F20A-74CF-0644-EC35-7BA1D1CB2961}"/>
              </a:ext>
            </a:extLst>
          </p:cNvPr>
          <p:cNvSpPr/>
          <p:nvPr/>
        </p:nvSpPr>
        <p:spPr>
          <a:xfrm>
            <a:off x="310896" y="2505456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K_погода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Shape 17">
            <a:extLst>
              <a:ext uri="{FF2B5EF4-FFF2-40B4-BE49-F238E27FC236}">
                <a16:creationId xmlns:a16="http://schemas.microsoft.com/office/drawing/2014/main" id="{5B4047AD-E069-B6F5-3798-3B5713FFEE79}"/>
              </a:ext>
            </a:extLst>
          </p:cNvPr>
          <p:cNvSpPr/>
          <p:nvPr/>
        </p:nvSpPr>
        <p:spPr>
          <a:xfrm>
            <a:off x="1188720" y="2505456"/>
            <a:ext cx="2249424" cy="411480"/>
          </a:xfrm>
          <a:prstGeom prst="rect">
            <a:avLst/>
          </a:prstGeom>
          <a:solidFill>
            <a:srgbClr val="F4F7FB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0" name="Text 18">
            <a:extLst>
              <a:ext uri="{FF2B5EF4-FFF2-40B4-BE49-F238E27FC236}">
                <a16:creationId xmlns:a16="http://schemas.microsoft.com/office/drawing/2014/main" id="{284B6246-FE3C-229B-8187-817019C60B50}"/>
              </a:ext>
            </a:extLst>
          </p:cNvPr>
          <p:cNvSpPr/>
          <p:nvPr/>
        </p:nvSpPr>
        <p:spPr>
          <a:xfrm>
            <a:off x="1207008" y="250545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1,00 / 0,</a:t>
            </a:r>
            <a:r>
              <a:rPr lang="ru-RU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77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0,6</a:t>
            </a:r>
            <a:r>
              <a:rPr lang="ru-RU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Shape 19">
            <a:extLst>
              <a:ext uri="{FF2B5EF4-FFF2-40B4-BE49-F238E27FC236}">
                <a16:creationId xmlns:a16="http://schemas.microsoft.com/office/drawing/2014/main" id="{D3796773-988C-A2BC-A65A-38CDF5B587C8}"/>
              </a:ext>
            </a:extLst>
          </p:cNvPr>
          <p:cNvSpPr/>
          <p:nvPr/>
        </p:nvSpPr>
        <p:spPr>
          <a:xfrm>
            <a:off x="3456432" y="2505456"/>
            <a:ext cx="2158556" cy="411480"/>
          </a:xfrm>
          <a:prstGeom prst="rect">
            <a:avLst/>
          </a:prstGeom>
          <a:solidFill>
            <a:srgbClr val="F4F7FB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0EDC79E3-9411-5432-48D2-317007634BD8}"/>
              </a:ext>
            </a:extLst>
          </p:cNvPr>
          <p:cNvSpPr/>
          <p:nvPr/>
        </p:nvSpPr>
        <p:spPr>
          <a:xfrm>
            <a:off x="3474720" y="2505456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ясно / дождь / ливень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Shape 21">
            <a:extLst>
              <a:ext uri="{FF2B5EF4-FFF2-40B4-BE49-F238E27FC236}">
                <a16:creationId xmlns:a16="http://schemas.microsoft.com/office/drawing/2014/main" id="{F55E6CE5-0B7E-43B2-E28E-ED913B457113}"/>
              </a:ext>
            </a:extLst>
          </p:cNvPr>
          <p:cNvSpPr/>
          <p:nvPr/>
        </p:nvSpPr>
        <p:spPr>
          <a:xfrm>
            <a:off x="271463" y="2926080"/>
            <a:ext cx="898969" cy="411480"/>
          </a:xfrm>
          <a:prstGeom prst="rect">
            <a:avLst/>
          </a:prstGeom>
          <a:solidFill>
            <a:srgbClr val="D6E4F0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4" name="Text 22">
            <a:extLst>
              <a:ext uri="{FF2B5EF4-FFF2-40B4-BE49-F238E27FC236}">
                <a16:creationId xmlns:a16="http://schemas.microsoft.com/office/drawing/2014/main" id="{5AE666D4-D55D-BC9D-039E-58807357BE03}"/>
              </a:ext>
            </a:extLst>
          </p:cNvPr>
          <p:cNvSpPr/>
          <p:nvPr/>
        </p:nvSpPr>
        <p:spPr>
          <a:xfrm>
            <a:off x="310896" y="292608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 err="1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K_время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Shape 23">
            <a:extLst>
              <a:ext uri="{FF2B5EF4-FFF2-40B4-BE49-F238E27FC236}">
                <a16:creationId xmlns:a16="http://schemas.microsoft.com/office/drawing/2014/main" id="{CEA00631-7A9C-B071-392B-30F9928D21CB}"/>
              </a:ext>
            </a:extLst>
          </p:cNvPr>
          <p:cNvSpPr/>
          <p:nvPr/>
        </p:nvSpPr>
        <p:spPr>
          <a:xfrm>
            <a:off x="1188720" y="2926080"/>
            <a:ext cx="2249424" cy="411480"/>
          </a:xfrm>
          <a:prstGeom prst="rect">
            <a:avLst/>
          </a:prstGeom>
          <a:solidFill>
            <a:srgbClr val="E9EF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6" name="Text 24">
            <a:extLst>
              <a:ext uri="{FF2B5EF4-FFF2-40B4-BE49-F238E27FC236}">
                <a16:creationId xmlns:a16="http://schemas.microsoft.com/office/drawing/2014/main" id="{207F2D26-661E-634C-D72E-53AF01A3BD6A}"/>
              </a:ext>
            </a:extLst>
          </p:cNvPr>
          <p:cNvSpPr/>
          <p:nvPr/>
        </p:nvSpPr>
        <p:spPr>
          <a:xfrm>
            <a:off x="1207008" y="29260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1,00 / 0,</a:t>
            </a:r>
            <a:r>
              <a:rPr lang="ru-RU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69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/ 1,10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Shape 25">
            <a:extLst>
              <a:ext uri="{FF2B5EF4-FFF2-40B4-BE49-F238E27FC236}">
                <a16:creationId xmlns:a16="http://schemas.microsoft.com/office/drawing/2014/main" id="{D2C6E866-CE46-3DC1-EAD3-503BA3DFA47F}"/>
              </a:ext>
            </a:extLst>
          </p:cNvPr>
          <p:cNvSpPr/>
          <p:nvPr/>
        </p:nvSpPr>
        <p:spPr>
          <a:xfrm>
            <a:off x="3456432" y="2926080"/>
            <a:ext cx="2158556" cy="411480"/>
          </a:xfrm>
          <a:prstGeom prst="rect">
            <a:avLst/>
          </a:prstGeom>
          <a:solidFill>
            <a:srgbClr val="E9EF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98" name="Text 26">
            <a:extLst>
              <a:ext uri="{FF2B5EF4-FFF2-40B4-BE49-F238E27FC236}">
                <a16:creationId xmlns:a16="http://schemas.microsoft.com/office/drawing/2014/main" id="{4F26096B-AC91-6E60-3548-BF5647223AE1}"/>
              </a:ext>
            </a:extLst>
          </p:cNvPr>
          <p:cNvSpPr/>
          <p:nvPr/>
        </p:nvSpPr>
        <p:spPr>
          <a:xfrm>
            <a:off x="3474720" y="29260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день / пик / ночь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Shape 27">
            <a:extLst>
              <a:ext uri="{FF2B5EF4-FFF2-40B4-BE49-F238E27FC236}">
                <a16:creationId xmlns:a16="http://schemas.microsoft.com/office/drawing/2014/main" id="{0AC62510-C925-681C-8130-5C1A6673721C}"/>
              </a:ext>
            </a:extLst>
          </p:cNvPr>
          <p:cNvSpPr/>
          <p:nvPr/>
        </p:nvSpPr>
        <p:spPr>
          <a:xfrm>
            <a:off x="274320" y="3346704"/>
            <a:ext cx="5349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0" name="Text 28">
            <a:extLst>
              <a:ext uri="{FF2B5EF4-FFF2-40B4-BE49-F238E27FC236}">
                <a16:creationId xmlns:a16="http://schemas.microsoft.com/office/drawing/2014/main" id="{3788C52A-E9A5-A1AD-F018-B43A429BFA16}"/>
              </a:ext>
            </a:extLst>
          </p:cNvPr>
          <p:cNvSpPr/>
          <p:nvPr/>
        </p:nvSpPr>
        <p:spPr>
          <a:xfrm>
            <a:off x="274320" y="3346704"/>
            <a:ext cx="534924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b"/>
          <a:lstStyle/>
          <a:p>
            <a:pPr marL="0" indent="0">
              <a:buNone/>
            </a:pPr>
            <a:r>
              <a:rPr lang="ru-RU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Архивное время </a:t>
            </a:r>
            <a:r>
              <a:rPr lang="en-GB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NZTA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H(road_id, hour, day)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" name="Image 0" descr="preencoded.png">
            <a:extLst>
              <a:ext uri="{FF2B5EF4-FFF2-40B4-BE49-F238E27FC236}">
                <a16:creationId xmlns:a16="http://schemas.microsoft.com/office/drawing/2014/main" id="{0901813D-6DB0-D4CE-5347-62C2BDA29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3635251"/>
            <a:ext cx="4465320" cy="384048"/>
          </a:xfrm>
          <a:prstGeom prst="rect">
            <a:avLst/>
          </a:prstGeom>
        </p:spPr>
      </p:pic>
      <p:sp>
        <p:nvSpPr>
          <p:cNvPr id="103" name="Text 30">
            <a:extLst>
              <a:ext uri="{FF2B5EF4-FFF2-40B4-BE49-F238E27FC236}">
                <a16:creationId xmlns:a16="http://schemas.microsoft.com/office/drawing/2014/main" id="{DA82F9C7-E7CD-4983-FB91-563E0411C8EB}"/>
              </a:ext>
            </a:extLst>
          </p:cNvPr>
          <p:cNvSpPr/>
          <p:nvPr/>
        </p:nvSpPr>
        <p:spPr>
          <a:xfrm>
            <a:off x="384048" y="3975947"/>
            <a:ext cx="5129784" cy="475488"/>
          </a:xfrm>
          <a:prstGeom prst="rect">
            <a:avLst/>
          </a:prstGeom>
          <a:noFill/>
          <a:ln/>
        </p:spPr>
        <p:txBody>
          <a:bodyPr wrap="square" lIns="1270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Источник: NZTA TMS, 2013–2022, 2042 датчика.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Пик (пн–чт)≈44 мин, пятница≈52 мин, ночь≈24 мин  (на 10 км).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Вес архивной составляющей: α ∈ [0,1]  (по умолчанию α = 0,3)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Shape 31">
            <a:extLst>
              <a:ext uri="{FF2B5EF4-FFF2-40B4-BE49-F238E27FC236}">
                <a16:creationId xmlns:a16="http://schemas.microsoft.com/office/drawing/2014/main" id="{1FA8028C-3ADF-2876-7E0F-AA3939D5A9F7}"/>
              </a:ext>
            </a:extLst>
          </p:cNvPr>
          <p:cNvSpPr/>
          <p:nvPr/>
        </p:nvSpPr>
        <p:spPr>
          <a:xfrm>
            <a:off x="274320" y="4608576"/>
            <a:ext cx="5349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5" name="Text 32">
            <a:extLst>
              <a:ext uri="{FF2B5EF4-FFF2-40B4-BE49-F238E27FC236}">
                <a16:creationId xmlns:a16="http://schemas.microsoft.com/office/drawing/2014/main" id="{A9386DBF-0999-9138-F231-C6E39F9E971E}"/>
              </a:ext>
            </a:extLst>
          </p:cNvPr>
          <p:cNvSpPr/>
          <p:nvPr/>
        </p:nvSpPr>
        <p:spPr>
          <a:xfrm>
            <a:off x="274320" y="4608576"/>
            <a:ext cx="534924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 Целевая функция (2-opt)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7" name="Image 1" descr="preencoded.png">
            <a:extLst>
              <a:ext uri="{FF2B5EF4-FFF2-40B4-BE49-F238E27FC236}">
                <a16:creationId xmlns:a16="http://schemas.microsoft.com/office/drawing/2014/main" id="{2892CAE1-4B74-34E4-EEE5-76BCBDA1A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259" y="4903483"/>
            <a:ext cx="2524306" cy="627207"/>
          </a:xfrm>
          <a:prstGeom prst="rect">
            <a:avLst/>
          </a:prstGeom>
        </p:spPr>
      </p:pic>
      <p:sp>
        <p:nvSpPr>
          <p:cNvPr id="108" name="Text 34">
            <a:extLst>
              <a:ext uri="{FF2B5EF4-FFF2-40B4-BE49-F238E27FC236}">
                <a16:creationId xmlns:a16="http://schemas.microsoft.com/office/drawing/2014/main" id="{D8817E1E-C5F3-617B-1873-28B6412AB336}"/>
              </a:ext>
            </a:extLst>
          </p:cNvPr>
          <p:cNvSpPr/>
          <p:nvPr/>
        </p:nvSpPr>
        <p:spPr>
          <a:xfrm>
            <a:off x="350520" y="5438986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σ — перестановка сегментов,  n — их число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Shape 35">
            <a:extLst>
              <a:ext uri="{FF2B5EF4-FFF2-40B4-BE49-F238E27FC236}">
                <a16:creationId xmlns:a16="http://schemas.microsoft.com/office/drawing/2014/main" id="{E969DAA1-1D90-88A0-1546-D042584FD889}"/>
              </a:ext>
            </a:extLst>
          </p:cNvPr>
          <p:cNvSpPr/>
          <p:nvPr/>
        </p:nvSpPr>
        <p:spPr>
          <a:xfrm>
            <a:off x="274320" y="5779008"/>
            <a:ext cx="534924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0" name="Text 36">
            <a:extLst>
              <a:ext uri="{FF2B5EF4-FFF2-40B4-BE49-F238E27FC236}">
                <a16:creationId xmlns:a16="http://schemas.microsoft.com/office/drawing/2014/main" id="{4B0D0AD9-444A-700B-D67F-2FEB9D4141F1}"/>
              </a:ext>
            </a:extLst>
          </p:cNvPr>
          <p:cNvSpPr/>
          <p:nvPr/>
        </p:nvSpPr>
        <p:spPr>
          <a:xfrm>
            <a:off x="274320" y="5779008"/>
            <a:ext cx="534924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 Ограничения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 38">
            <a:extLst>
              <a:ext uri="{FF2B5EF4-FFF2-40B4-BE49-F238E27FC236}">
                <a16:creationId xmlns:a16="http://schemas.microsoft.com/office/drawing/2014/main" id="{4362395F-FBBF-F2D6-E84B-6B4BD4996AFB}"/>
              </a:ext>
            </a:extLst>
          </p:cNvPr>
          <p:cNvSpPr/>
          <p:nvPr/>
        </p:nvSpPr>
        <p:spPr>
          <a:xfrm>
            <a:off x="384048" y="6071616"/>
            <a:ext cx="5129784" cy="548640"/>
          </a:xfrm>
          <a:prstGeom prst="rect">
            <a:avLst/>
          </a:prstGeom>
          <a:noFill/>
          <a:ln/>
        </p:spPr>
        <p:txBody>
          <a:bodyPr wrap="square" lIns="2540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 &lt; V</a:t>
            </a:r>
            <a:r>
              <a:rPr lang="en-US" sz="1200" baseline="-40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ij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≤ V</a:t>
            </a:r>
            <a:r>
              <a:rPr lang="en-US" sz="1200" baseline="-40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|  0 ≤ p ≤ 0,08  |  A ∈ {0,1},  C ~ U(8,25) мин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итераций 2-opt ≤ 100  |  α ∈ [0,1]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Shape 39">
            <a:extLst>
              <a:ext uri="{FF2B5EF4-FFF2-40B4-BE49-F238E27FC236}">
                <a16:creationId xmlns:a16="http://schemas.microsoft.com/office/drawing/2014/main" id="{518A6D08-7D14-AAF3-116D-0DB3FA1C0D98}"/>
              </a:ext>
            </a:extLst>
          </p:cNvPr>
          <p:cNvSpPr/>
          <p:nvPr/>
        </p:nvSpPr>
        <p:spPr>
          <a:xfrm>
            <a:off x="5955792" y="566928"/>
            <a:ext cx="58521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4" name="Text 40">
            <a:extLst>
              <a:ext uri="{FF2B5EF4-FFF2-40B4-BE49-F238E27FC236}">
                <a16:creationId xmlns:a16="http://schemas.microsoft.com/office/drawing/2014/main" id="{19B04749-643E-C4B5-50A8-9143522E60CD}"/>
              </a:ext>
            </a:extLst>
          </p:cNvPr>
          <p:cNvSpPr/>
          <p:nvPr/>
        </p:nvSpPr>
        <p:spPr>
          <a:xfrm>
            <a:off x="5955792" y="566928"/>
            <a:ext cx="585216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6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 Основная формула расчёта времени сегмента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Shape 41">
            <a:extLst>
              <a:ext uri="{FF2B5EF4-FFF2-40B4-BE49-F238E27FC236}">
                <a16:creationId xmlns:a16="http://schemas.microsoft.com/office/drawing/2014/main" id="{FCFB59C3-AA39-3C41-555E-1FDC91D7D45F}"/>
              </a:ext>
            </a:extLst>
          </p:cNvPr>
          <p:cNvSpPr/>
          <p:nvPr/>
        </p:nvSpPr>
        <p:spPr>
          <a:xfrm>
            <a:off x="5955792" y="804672"/>
            <a:ext cx="5852160" cy="4715444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16" name="Image 2" descr="preencoded.png">
            <a:extLst>
              <a:ext uri="{FF2B5EF4-FFF2-40B4-BE49-F238E27FC236}">
                <a16:creationId xmlns:a16="http://schemas.microsoft.com/office/drawing/2014/main" id="{C4771914-7F96-DB22-8E02-E83AA8EDA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043" y="873083"/>
            <a:ext cx="3325571" cy="621792"/>
          </a:xfrm>
          <a:prstGeom prst="rect">
            <a:avLst/>
          </a:prstGeom>
        </p:spPr>
      </p:pic>
      <p:sp>
        <p:nvSpPr>
          <p:cNvPr id="117" name="Shape 42">
            <a:extLst>
              <a:ext uri="{FF2B5EF4-FFF2-40B4-BE49-F238E27FC236}">
                <a16:creationId xmlns:a16="http://schemas.microsoft.com/office/drawing/2014/main" id="{99719D6A-1D62-1D77-50A0-31C049EE7479}"/>
              </a:ext>
            </a:extLst>
          </p:cNvPr>
          <p:cNvSpPr/>
          <p:nvPr/>
        </p:nvSpPr>
        <p:spPr>
          <a:xfrm>
            <a:off x="5965824" y="1554479"/>
            <a:ext cx="5832475" cy="725423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43">
            <a:extLst>
              <a:ext uri="{FF2B5EF4-FFF2-40B4-BE49-F238E27FC236}">
                <a16:creationId xmlns:a16="http://schemas.microsoft.com/office/drawing/2014/main" id="{11452AEB-112D-B642-8E8E-160F75E3B102}"/>
              </a:ext>
            </a:extLst>
          </p:cNvPr>
          <p:cNvSpPr/>
          <p:nvPr/>
        </p:nvSpPr>
        <p:spPr>
          <a:xfrm>
            <a:off x="6103189" y="1673352"/>
            <a:ext cx="5669280" cy="585216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L/V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чистое время  |  </a:t>
            </a: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A·C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задержка активной аварии  (A∈{0,1}, C~U(8,25) мин)
</a:t>
            </a: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p·t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задержка от возможного ДТП  |  </a:t>
            </a: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α·T</a:t>
            </a:r>
            <a:r>
              <a:rPr lang="en-US" sz="1200" b="1" baseline="-400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арх</a:t>
            </a:r>
            <a:r>
              <a:rPr lang="en-US" sz="12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поправка из архива НЗТА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Shape 44">
            <a:extLst>
              <a:ext uri="{FF2B5EF4-FFF2-40B4-BE49-F238E27FC236}">
                <a16:creationId xmlns:a16="http://schemas.microsoft.com/office/drawing/2014/main" id="{EFFA457B-13A8-18F7-D5BA-857B35D0C930}"/>
              </a:ext>
            </a:extLst>
          </p:cNvPr>
          <p:cNvSpPr/>
          <p:nvPr/>
        </p:nvSpPr>
        <p:spPr>
          <a:xfrm>
            <a:off x="5955792" y="2279904"/>
            <a:ext cx="58521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0" name="Text 45">
            <a:extLst>
              <a:ext uri="{FF2B5EF4-FFF2-40B4-BE49-F238E27FC236}">
                <a16:creationId xmlns:a16="http://schemas.microsoft.com/office/drawing/2014/main" id="{7CBA2DA0-1C52-C8A3-8292-D45A8034F1A7}"/>
              </a:ext>
            </a:extLst>
          </p:cNvPr>
          <p:cNvSpPr/>
          <p:nvPr/>
        </p:nvSpPr>
        <p:spPr>
          <a:xfrm>
            <a:off x="5955792" y="22799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7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 Скорость сегмента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Image 3" descr="preencoded.png">
            <a:extLst>
              <a:ext uri="{FF2B5EF4-FFF2-40B4-BE49-F238E27FC236}">
                <a16:creationId xmlns:a16="http://schemas.microsoft.com/office/drawing/2014/main" id="{7582756C-0121-51E6-067E-A22BC7382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202" y="2659472"/>
            <a:ext cx="3413683" cy="384048"/>
          </a:xfrm>
          <a:prstGeom prst="rect">
            <a:avLst/>
          </a:prstGeom>
        </p:spPr>
      </p:pic>
      <p:sp>
        <p:nvSpPr>
          <p:cNvPr id="123" name="Shape 47">
            <a:extLst>
              <a:ext uri="{FF2B5EF4-FFF2-40B4-BE49-F238E27FC236}">
                <a16:creationId xmlns:a16="http://schemas.microsoft.com/office/drawing/2014/main" id="{921FA3E5-D8FA-4DD7-59FE-D688633EE6EE}"/>
              </a:ext>
            </a:extLst>
          </p:cNvPr>
          <p:cNvSpPr/>
          <p:nvPr/>
        </p:nvSpPr>
        <p:spPr>
          <a:xfrm>
            <a:off x="5955792" y="3270504"/>
            <a:ext cx="5842507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4" name="Text 48">
            <a:extLst>
              <a:ext uri="{FF2B5EF4-FFF2-40B4-BE49-F238E27FC236}">
                <a16:creationId xmlns:a16="http://schemas.microsoft.com/office/drawing/2014/main" id="{A65FC057-EEF2-6E2D-62C1-3D149D8B5BBC}"/>
              </a:ext>
            </a:extLst>
          </p:cNvPr>
          <p:cNvSpPr/>
          <p:nvPr/>
        </p:nvSpPr>
        <p:spPr>
          <a:xfrm>
            <a:off x="5955792" y="32705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8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 Вероятность ДТП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6" name="Image 4" descr="preencoded.png">
            <a:extLst>
              <a:ext uri="{FF2B5EF4-FFF2-40B4-BE49-F238E27FC236}">
                <a16:creationId xmlns:a16="http://schemas.microsoft.com/office/drawing/2014/main" id="{9D2D8533-F2A0-E38B-1C68-05EE2AE24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435" y="3650363"/>
            <a:ext cx="4578786" cy="441422"/>
          </a:xfrm>
          <a:prstGeom prst="rect">
            <a:avLst/>
          </a:prstGeom>
        </p:spPr>
      </p:pic>
      <p:sp>
        <p:nvSpPr>
          <p:cNvPr id="127" name="Shape 50">
            <a:extLst>
              <a:ext uri="{FF2B5EF4-FFF2-40B4-BE49-F238E27FC236}">
                <a16:creationId xmlns:a16="http://schemas.microsoft.com/office/drawing/2014/main" id="{9DA8A8E1-5C0D-3944-E258-2270D096C745}"/>
              </a:ext>
            </a:extLst>
          </p:cNvPr>
          <p:cNvSpPr/>
          <p:nvPr/>
        </p:nvSpPr>
        <p:spPr>
          <a:xfrm>
            <a:off x="5955792" y="4282779"/>
            <a:ext cx="58521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Text 51">
            <a:extLst>
              <a:ext uri="{FF2B5EF4-FFF2-40B4-BE49-F238E27FC236}">
                <a16:creationId xmlns:a16="http://schemas.microsoft.com/office/drawing/2014/main" id="{DF4C69E7-3C7E-A58F-149A-4544B4AFCABA}"/>
              </a:ext>
            </a:extLst>
          </p:cNvPr>
          <p:cNvSpPr/>
          <p:nvPr/>
        </p:nvSpPr>
        <p:spPr>
          <a:xfrm>
            <a:off x="5955792" y="4282779"/>
            <a:ext cx="585216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9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 Время устранения аварии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Image 5" descr="preencoded.png">
            <a:extLst>
              <a:ext uri="{FF2B5EF4-FFF2-40B4-BE49-F238E27FC236}">
                <a16:creationId xmlns:a16="http://schemas.microsoft.com/office/drawing/2014/main" id="{8671990B-BC8F-257F-25B7-8400E2304E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9735" y="4684987"/>
            <a:ext cx="3694616" cy="565985"/>
          </a:xfrm>
          <a:prstGeom prst="rect">
            <a:avLst/>
          </a:prstGeom>
        </p:spPr>
      </p:pic>
      <p:sp>
        <p:nvSpPr>
          <p:cNvPr id="131" name="Shape 53">
            <a:extLst>
              <a:ext uri="{FF2B5EF4-FFF2-40B4-BE49-F238E27FC236}">
                <a16:creationId xmlns:a16="http://schemas.microsoft.com/office/drawing/2014/main" id="{DFA56B9B-C91E-231C-AC2C-2A2C79E59A45}"/>
              </a:ext>
            </a:extLst>
          </p:cNvPr>
          <p:cNvSpPr/>
          <p:nvPr/>
        </p:nvSpPr>
        <p:spPr>
          <a:xfrm>
            <a:off x="5955792" y="5530690"/>
            <a:ext cx="585216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2" name="Text 54">
            <a:extLst>
              <a:ext uri="{FF2B5EF4-FFF2-40B4-BE49-F238E27FC236}">
                <a16:creationId xmlns:a16="http://schemas.microsoft.com/office/drawing/2014/main" id="{9D8AA12F-C91F-4945-3D18-09FD03B7257C}"/>
              </a:ext>
            </a:extLst>
          </p:cNvPr>
          <p:cNvSpPr/>
          <p:nvPr/>
        </p:nvSpPr>
        <p:spPr>
          <a:xfrm>
            <a:off x="5989320" y="5502994"/>
            <a:ext cx="5852160" cy="23774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10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 Суммарное время маршрута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Shape 55">
            <a:extLst>
              <a:ext uri="{FF2B5EF4-FFF2-40B4-BE49-F238E27FC236}">
                <a16:creationId xmlns:a16="http://schemas.microsoft.com/office/drawing/2014/main" id="{CB5589D2-DADC-0E2D-E8EF-4F370C4C6379}"/>
              </a:ext>
            </a:extLst>
          </p:cNvPr>
          <p:cNvSpPr/>
          <p:nvPr/>
        </p:nvSpPr>
        <p:spPr>
          <a:xfrm>
            <a:off x="5955792" y="5779008"/>
            <a:ext cx="5852160" cy="890016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34" name="Image 6" descr="preencoded.png">
            <a:extLst>
              <a:ext uri="{FF2B5EF4-FFF2-40B4-BE49-F238E27FC236}">
                <a16:creationId xmlns:a16="http://schemas.microsoft.com/office/drawing/2014/main" id="{F6953D8A-162F-1FA8-0BD1-8F81DDCF96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196" y="5893985"/>
            <a:ext cx="4185694" cy="598424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635787FC-988D-EEF0-6162-7234370E359D}"/>
              </a:ext>
            </a:extLst>
          </p:cNvPr>
          <p:cNvSpPr txBox="1"/>
          <p:nvPr/>
        </p:nvSpPr>
        <p:spPr>
          <a:xfrm>
            <a:off x="2058700" y="-60442"/>
            <a:ext cx="7861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5260" algn="ctr">
              <a:lnSpc>
                <a:spcPct val="100000"/>
              </a:lnSpc>
              <a:spcBef>
                <a:spcPts val="1595"/>
              </a:spcBef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Формализованное</a:t>
            </a:r>
            <a:r>
              <a:rPr lang="en-GB"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</a:t>
            </a:r>
            <a:r>
              <a:rPr lang="ru-RU"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Slide Number Placeholder 137">
            <a:extLst>
              <a:ext uri="{FF2B5EF4-FFF2-40B4-BE49-F238E27FC236}">
                <a16:creationId xmlns:a16="http://schemas.microsoft.com/office/drawing/2014/main" id="{69FD3750-FD1D-33CA-A885-93AFDA64FA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74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AABD53-A75F-6CCC-CD98-1F6037EFB030}"/>
              </a:ext>
            </a:extLst>
          </p:cNvPr>
          <p:cNvSpPr txBox="1"/>
          <p:nvPr/>
        </p:nvSpPr>
        <p:spPr>
          <a:xfrm>
            <a:off x="1942899" y="0"/>
            <a:ext cx="83062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24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алгоритма логистической системы перевозки</a:t>
            </a:r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4D6DCC9-B1F1-EA7F-2BDC-0836B5EBBC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7</a:t>
            </a:fld>
            <a:endParaRPr lang="ru-RU"/>
          </a:p>
        </p:txBody>
      </p:sp>
      <p:pic>
        <p:nvPicPr>
          <p:cNvPr id="26" name="Picture 25" descr="A black and white diagram&#10;&#10;AI-generated content may be incorrect.">
            <a:extLst>
              <a:ext uri="{FF2B5EF4-FFF2-40B4-BE49-F238E27FC236}">
                <a16:creationId xmlns:a16="http://schemas.microsoft.com/office/drawing/2014/main" id="{C53D7185-923A-C24D-32DA-E33CF631F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6" y="505423"/>
            <a:ext cx="11401425" cy="625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28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AABD53-A75F-6CCC-CD98-1F6037EFB030}"/>
              </a:ext>
            </a:extLst>
          </p:cNvPr>
          <p:cNvSpPr txBox="1"/>
          <p:nvPr/>
        </p:nvSpPr>
        <p:spPr>
          <a:xfrm>
            <a:off x="990597" y="0"/>
            <a:ext cx="1021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24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реализация алгоритма логистической системы перевозки</a:t>
            </a:r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group of rectangular white rectangles&#10;&#10;AI-generated content may be incorrect.">
            <a:extLst>
              <a:ext uri="{FF2B5EF4-FFF2-40B4-BE49-F238E27FC236}">
                <a16:creationId xmlns:a16="http://schemas.microsoft.com/office/drawing/2014/main" id="{FB9600A3-7ACE-F63D-1B26-66226534A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42" y="685800"/>
            <a:ext cx="11801111" cy="580382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9852398-1B33-C609-9936-22FFF09585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249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4DE7D9-D54B-4844-55A7-0F9695F86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839" y="965478"/>
            <a:ext cx="4839362" cy="2880573"/>
          </a:xfrm>
          <a:prstGeom prst="rect">
            <a:avLst/>
          </a:prstGeom>
        </p:spPr>
      </p:pic>
      <p:pic>
        <p:nvPicPr>
          <p:cNvPr id="8" name="Picture 7" descr="An aerial view of a city&#10;&#10;AI-generated content may be incorrect.">
            <a:extLst>
              <a:ext uri="{FF2B5EF4-FFF2-40B4-BE49-F238E27FC236}">
                <a16:creationId xmlns:a16="http://schemas.microsoft.com/office/drawing/2014/main" id="{8F250685-1072-6CA2-AF73-DE2D61561A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371" y="3698068"/>
            <a:ext cx="4341257" cy="2602074"/>
          </a:xfrm>
          <a:prstGeom prst="rect">
            <a:avLst/>
          </a:prstGeom>
        </p:spPr>
      </p:pic>
      <p:pic>
        <p:nvPicPr>
          <p:cNvPr id="10" name="Picture 9" descr="An aerial view of a city&#10;&#10;AI-generated content may be incorrect.">
            <a:extLst>
              <a:ext uri="{FF2B5EF4-FFF2-40B4-BE49-F238E27FC236}">
                <a16:creationId xmlns:a16="http://schemas.microsoft.com/office/drawing/2014/main" id="{BDBBA3EC-CB39-A613-C8D6-69B4D966BD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58" y="1168770"/>
            <a:ext cx="3657600" cy="2194560"/>
          </a:xfrm>
          <a:prstGeom prst="rect">
            <a:avLst/>
          </a:prstGeom>
        </p:spPr>
      </p:pic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53548820-09A6-C697-154D-0158DE03D37C}"/>
              </a:ext>
            </a:extLst>
          </p:cNvPr>
          <p:cNvCxnSpPr>
            <a:cxnSpLocks/>
          </p:cNvCxnSpPr>
          <p:nvPr/>
        </p:nvCxnSpPr>
        <p:spPr>
          <a:xfrm flipV="1">
            <a:off x="4819048" y="1973892"/>
            <a:ext cx="1970791" cy="6760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ED99BA6-1E1E-F2D1-FD1B-ED3D19D121D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458202" y="3918954"/>
            <a:ext cx="1828798" cy="1643646"/>
          </a:xfrm>
          <a:prstGeom prst="curvedConnector3">
            <a:avLst>
              <a:gd name="adj1" fmla="val -105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760B06D-C3BD-8A8D-D893-8EF5BABDC560}"/>
              </a:ext>
            </a:extLst>
          </p:cNvPr>
          <p:cNvSpPr txBox="1"/>
          <p:nvPr/>
        </p:nvSpPr>
        <p:spPr>
          <a:xfrm>
            <a:off x="757663" y="3330433"/>
            <a:ext cx="3818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Снимок участка дороги со спутника </a:t>
            </a:r>
            <a:r>
              <a:rPr lang="en-GB" sz="1400" dirty="0"/>
              <a:t>Google</a:t>
            </a:r>
            <a:endParaRPr lang="ru-RU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38CD51-2308-5A92-653A-99AC3C877B96}"/>
              </a:ext>
            </a:extLst>
          </p:cNvPr>
          <p:cNvSpPr txBox="1"/>
          <p:nvPr/>
        </p:nvSpPr>
        <p:spPr>
          <a:xfrm>
            <a:off x="3414816" y="6311182"/>
            <a:ext cx="5362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Сегментация снимка на различные типы дорожного покрытия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D297F4-1912-1511-74D8-99FCD704027F}"/>
              </a:ext>
            </a:extLst>
          </p:cNvPr>
          <p:cNvSpPr txBox="1"/>
          <p:nvPr/>
        </p:nvSpPr>
        <p:spPr>
          <a:xfrm>
            <a:off x="1670916" y="146246"/>
            <a:ext cx="88501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/>
                <a:cs typeface="Times New Roman"/>
              </a:rPr>
              <a:t>Результаты работы программного модуля по сегментации дорожного покрытия </a:t>
            </a:r>
          </a:p>
          <a:p>
            <a:endParaRPr lang="ru-RU" sz="3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CAD7D-C531-A976-1AAA-8BC39F07A7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15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BBFD27-7FB4-102D-F2F3-955990B86EAB}"/>
              </a:ext>
            </a:extLst>
          </p:cNvPr>
          <p:cNvSpPr txBox="1"/>
          <p:nvPr/>
        </p:nvSpPr>
        <p:spPr>
          <a:xfrm>
            <a:off x="2510238" y="51522"/>
            <a:ext cx="71593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точности разработанной модели и алгоритма</a:t>
            </a:r>
            <a:endParaRPr lang="ru-RU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1DE09BFE-0802-5499-936B-A9295C0D2703}"/>
              </a:ext>
            </a:extLst>
          </p:cNvPr>
          <p:cNvSpPr/>
          <p:nvPr/>
        </p:nvSpPr>
        <p:spPr>
          <a:xfrm>
            <a:off x="486156" y="533400"/>
            <a:ext cx="2148840" cy="1261872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0E5BD005-1116-8881-0277-D1511A4508C9}"/>
              </a:ext>
            </a:extLst>
          </p:cNvPr>
          <p:cNvSpPr/>
          <p:nvPr/>
        </p:nvSpPr>
        <p:spPr>
          <a:xfrm>
            <a:off x="486156" y="606552"/>
            <a:ext cx="214884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12.4%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E18C6621-59B0-ED76-B9F9-6E53CB8D22F4}"/>
              </a:ext>
            </a:extLst>
          </p:cNvPr>
          <p:cNvSpPr/>
          <p:nvPr/>
        </p:nvSpPr>
        <p:spPr>
          <a:xfrm>
            <a:off x="486156" y="1189573"/>
            <a:ext cx="214884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A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D3733D27-51D0-18D8-3891-632BF86841AE}"/>
              </a:ext>
            </a:extLst>
          </p:cNvPr>
          <p:cNvSpPr/>
          <p:nvPr/>
        </p:nvSpPr>
        <p:spPr>
          <a:xfrm>
            <a:off x="486156" y="1441948"/>
            <a:ext cx="214884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RoadSense ETA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6BB80947-63B3-E231-108B-2C808FE6B964}"/>
              </a:ext>
            </a:extLst>
          </p:cNvPr>
          <p:cNvSpPr/>
          <p:nvPr/>
        </p:nvSpPr>
        <p:spPr>
          <a:xfrm>
            <a:off x="2753868" y="533400"/>
            <a:ext cx="2148840" cy="1261872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582F79AB-82AA-A727-941C-19ADBE788E04}"/>
              </a:ext>
            </a:extLst>
          </p:cNvPr>
          <p:cNvSpPr/>
          <p:nvPr/>
        </p:nvSpPr>
        <p:spPr>
          <a:xfrm>
            <a:off x="2753868" y="606552"/>
            <a:ext cx="214884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+7%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8F14A7F4-61F0-52AB-D692-4099F375D4CB}"/>
              </a:ext>
            </a:extLst>
          </p:cNvPr>
          <p:cNvSpPr/>
          <p:nvPr/>
        </p:nvSpPr>
        <p:spPr>
          <a:xfrm>
            <a:off x="2753868" y="1189573"/>
            <a:ext cx="214884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A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vs Google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FD399733-9CDE-6E64-1252-1C6067FFD10E}"/>
              </a:ext>
            </a:extLst>
          </p:cNvPr>
          <p:cNvSpPr/>
          <p:nvPr/>
        </p:nvSpPr>
        <p:spPr>
          <a:xfrm>
            <a:off x="2753868" y="1441948"/>
            <a:ext cx="214884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точнее по MAPE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0EAED344-5244-3047-E675-6465041FC25E}"/>
              </a:ext>
            </a:extLst>
          </p:cNvPr>
          <p:cNvSpPr/>
          <p:nvPr/>
        </p:nvSpPr>
        <p:spPr>
          <a:xfrm>
            <a:off x="5021580" y="533400"/>
            <a:ext cx="2148840" cy="1261872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407BE729-A6B1-1743-E5FC-5FDF97DD4627}"/>
              </a:ext>
            </a:extLst>
          </p:cNvPr>
          <p:cNvSpPr/>
          <p:nvPr/>
        </p:nvSpPr>
        <p:spPr>
          <a:xfrm>
            <a:off x="5021580" y="606552"/>
            <a:ext cx="214884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87.6%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D447C2C9-5ACB-CD12-1DA8-60AA2F913A9B}"/>
              </a:ext>
            </a:extLst>
          </p:cNvPr>
          <p:cNvSpPr/>
          <p:nvPr/>
        </p:nvSpPr>
        <p:spPr>
          <a:xfrm>
            <a:off x="5021580" y="1189573"/>
            <a:ext cx="214884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A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AD63E2C2-5FED-730E-263F-63BF2D156695}"/>
              </a:ext>
            </a:extLst>
          </p:cNvPr>
          <p:cNvSpPr/>
          <p:nvPr/>
        </p:nvSpPr>
        <p:spPr>
          <a:xfrm>
            <a:off x="5021580" y="1441948"/>
            <a:ext cx="214884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 покрытие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7ABCFAEE-E46A-F8D2-C344-351EECF02E58}"/>
              </a:ext>
            </a:extLst>
          </p:cNvPr>
          <p:cNvSpPr/>
          <p:nvPr/>
        </p:nvSpPr>
        <p:spPr>
          <a:xfrm>
            <a:off x="7289292" y="533400"/>
            <a:ext cx="2148840" cy="1261872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601A3E53-663E-429C-DEA4-946ECD5855A8}"/>
              </a:ext>
            </a:extLst>
          </p:cNvPr>
          <p:cNvSpPr/>
          <p:nvPr/>
        </p:nvSpPr>
        <p:spPr>
          <a:xfrm>
            <a:off x="7289292" y="606552"/>
            <a:ext cx="214884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0.86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E2A2FA50-EFF0-8BE9-619E-AFF54AED34B6}"/>
              </a:ext>
            </a:extLst>
          </p:cNvPr>
          <p:cNvSpPr/>
          <p:nvPr/>
        </p:nvSpPr>
        <p:spPr>
          <a:xfrm>
            <a:off x="7289292" y="1189573"/>
            <a:ext cx="214884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A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macro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055A0753-33BC-B5CF-00F8-B91E3A74E411}"/>
              </a:ext>
            </a:extLst>
          </p:cNvPr>
          <p:cNvSpPr/>
          <p:nvPr/>
        </p:nvSpPr>
        <p:spPr>
          <a:xfrm>
            <a:off x="7289292" y="1441948"/>
            <a:ext cx="214884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среднее по 6 классам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AEC0328A-7F72-3840-4260-F5D7DB2CC92A}"/>
              </a:ext>
            </a:extLst>
          </p:cNvPr>
          <p:cNvSpPr/>
          <p:nvPr/>
        </p:nvSpPr>
        <p:spPr>
          <a:xfrm>
            <a:off x="9557004" y="533400"/>
            <a:ext cx="2148840" cy="1261872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A9529EC1-9165-C021-3358-BDD21ACD2088}"/>
              </a:ext>
            </a:extLst>
          </p:cNvPr>
          <p:cNvSpPr/>
          <p:nvPr/>
        </p:nvSpPr>
        <p:spPr>
          <a:xfrm>
            <a:off x="9557004" y="606552"/>
            <a:ext cx="2148840" cy="69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−13%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5EF34917-DA53-374A-1AAA-342B857D1803}"/>
              </a:ext>
            </a:extLst>
          </p:cNvPr>
          <p:cNvSpPr/>
          <p:nvPr/>
        </p:nvSpPr>
        <p:spPr>
          <a:xfrm>
            <a:off x="9557004" y="1189573"/>
            <a:ext cx="214884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A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2-opt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FFE778AC-E2B9-8847-6146-3E7CD729642F}"/>
              </a:ext>
            </a:extLst>
          </p:cNvPr>
          <p:cNvSpPr/>
          <p:nvPr/>
        </p:nvSpPr>
        <p:spPr>
          <a:xfrm>
            <a:off x="9557004" y="1441948"/>
            <a:ext cx="214884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улучшение маршрута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473B5707-CD77-D442-4BFE-43BF5FEE4F39}"/>
              </a:ext>
            </a:extLst>
          </p:cNvPr>
          <p:cNvSpPr/>
          <p:nvPr/>
        </p:nvSpPr>
        <p:spPr>
          <a:xfrm>
            <a:off x="486156" y="1886712"/>
            <a:ext cx="557784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965CCEE4-3FFC-2829-776F-F67B009D2F52}"/>
              </a:ext>
            </a:extLst>
          </p:cNvPr>
          <p:cNvSpPr/>
          <p:nvPr/>
        </p:nvSpPr>
        <p:spPr>
          <a:xfrm>
            <a:off x="486156" y="1857913"/>
            <a:ext cx="557784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Сравнение точности ETA (MAPE) с аналогами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Image 0" descr="preencoded.png">
            <a:extLst>
              <a:ext uri="{FF2B5EF4-FFF2-40B4-BE49-F238E27FC236}">
                <a16:creationId xmlns:a16="http://schemas.microsoft.com/office/drawing/2014/main" id="{40F0EB11-2AA8-3E0F-7FC8-D45941FD4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122" y="2180308"/>
            <a:ext cx="3835908" cy="2249424"/>
          </a:xfrm>
          <a:prstGeom prst="rect">
            <a:avLst/>
          </a:prstGeom>
        </p:spPr>
      </p:pic>
      <p:sp>
        <p:nvSpPr>
          <p:cNvPr id="64" name="Shape 24">
            <a:extLst>
              <a:ext uri="{FF2B5EF4-FFF2-40B4-BE49-F238E27FC236}">
                <a16:creationId xmlns:a16="http://schemas.microsoft.com/office/drawing/2014/main" id="{9B7E1F37-A1BC-9CC2-F469-988BEF08CE76}"/>
              </a:ext>
            </a:extLst>
          </p:cNvPr>
          <p:cNvSpPr/>
          <p:nvPr/>
        </p:nvSpPr>
        <p:spPr>
          <a:xfrm>
            <a:off x="6292596" y="1886712"/>
            <a:ext cx="5413248" cy="24067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A2606A26-8739-2220-651C-840B03482019}"/>
              </a:ext>
            </a:extLst>
          </p:cNvPr>
          <p:cNvSpPr/>
          <p:nvPr/>
        </p:nvSpPr>
        <p:spPr>
          <a:xfrm>
            <a:off x="6292596" y="1849920"/>
            <a:ext cx="576072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Качество классификации покрытия XGBoost (F1-score)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6" name="Image 1" descr="preencoded.png">
            <a:extLst>
              <a:ext uri="{FF2B5EF4-FFF2-40B4-BE49-F238E27FC236}">
                <a16:creationId xmlns:a16="http://schemas.microsoft.com/office/drawing/2014/main" id="{BB0742D9-FD86-80AD-06CA-33625AEEB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937" y="2186934"/>
            <a:ext cx="4114038" cy="2249424"/>
          </a:xfrm>
          <a:prstGeom prst="rect">
            <a:avLst/>
          </a:prstGeom>
        </p:spPr>
      </p:pic>
      <p:sp>
        <p:nvSpPr>
          <p:cNvPr id="67" name="Shape 26">
            <a:extLst>
              <a:ext uri="{FF2B5EF4-FFF2-40B4-BE49-F238E27FC236}">
                <a16:creationId xmlns:a16="http://schemas.microsoft.com/office/drawing/2014/main" id="{5AED3545-9FFB-75B5-775F-BC75B1CDFD6B}"/>
              </a:ext>
            </a:extLst>
          </p:cNvPr>
          <p:cNvSpPr/>
          <p:nvPr/>
        </p:nvSpPr>
        <p:spPr>
          <a:xfrm>
            <a:off x="486156" y="4483608"/>
            <a:ext cx="557784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Text 27">
            <a:extLst>
              <a:ext uri="{FF2B5EF4-FFF2-40B4-BE49-F238E27FC236}">
                <a16:creationId xmlns:a16="http://schemas.microsoft.com/office/drawing/2014/main" id="{0469171A-E71E-35A4-FF16-6315C391DE93}"/>
              </a:ext>
            </a:extLst>
          </p:cNvPr>
          <p:cNvSpPr/>
          <p:nvPr/>
        </p:nvSpPr>
        <p:spPr>
          <a:xfrm>
            <a:off x="495300" y="4450915"/>
            <a:ext cx="557784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Корреляционный анализ факторов задержки (Пирсон)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779A112C-4C6D-304F-8B58-650535FAA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570" y="4784372"/>
            <a:ext cx="3110484" cy="1938528"/>
          </a:xfrm>
          <a:prstGeom prst="rect">
            <a:avLst/>
          </a:prstGeom>
        </p:spPr>
      </p:pic>
      <p:sp>
        <p:nvSpPr>
          <p:cNvPr id="70" name="Shape 28">
            <a:extLst>
              <a:ext uri="{FF2B5EF4-FFF2-40B4-BE49-F238E27FC236}">
                <a16:creationId xmlns:a16="http://schemas.microsoft.com/office/drawing/2014/main" id="{DF838455-180E-1840-7220-06BD49E4996E}"/>
              </a:ext>
            </a:extLst>
          </p:cNvPr>
          <p:cNvSpPr/>
          <p:nvPr/>
        </p:nvSpPr>
        <p:spPr>
          <a:xfrm>
            <a:off x="6298692" y="4470739"/>
            <a:ext cx="5398008" cy="25366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1" name="Text 29">
            <a:extLst>
              <a:ext uri="{FF2B5EF4-FFF2-40B4-BE49-F238E27FC236}">
                <a16:creationId xmlns:a16="http://schemas.microsoft.com/office/drawing/2014/main" id="{B9C1EA30-13D6-D1AF-864C-2A3616BD6B6D}"/>
              </a:ext>
            </a:extLst>
          </p:cNvPr>
          <p:cNvSpPr/>
          <p:nvPr/>
        </p:nvSpPr>
        <p:spPr>
          <a:xfrm>
            <a:off x="6292596" y="4461120"/>
            <a:ext cx="576072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Сводная таблица метрик модели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2" name="Table 0">
            <a:extLst>
              <a:ext uri="{FF2B5EF4-FFF2-40B4-BE49-F238E27FC236}">
                <a16:creationId xmlns:a16="http://schemas.microsoft.com/office/drawing/2014/main" id="{0BCB3CA0-BCCC-64AE-BC9B-0CC552311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019119"/>
              </p:ext>
            </p:extLst>
          </p:nvPr>
        </p:nvGraphicFramePr>
        <p:xfrm>
          <a:off x="6292596" y="4730496"/>
          <a:ext cx="5413248" cy="1920240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Метрика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RoadSense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Google Maps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Целевое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MAPE (ETA)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12.4%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15.6%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&lt; 15%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MAE (мин)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3.2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4.8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&lt; 5 мин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RMSE (мин)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4.1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6.3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R²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0.87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0.79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&gt; 0.85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F1 macro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0.86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&gt; 0.82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ROC-AUC ДТП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0.78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&gt; 0.75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4" name="Slide Number Placeholder 73">
            <a:extLst>
              <a:ext uri="{FF2B5EF4-FFF2-40B4-BE49-F238E27FC236}">
                <a16:creationId xmlns:a16="http://schemas.microsoft.com/office/drawing/2014/main" id="{716FE65E-6D7C-D4A2-F6C4-8B94DFBBC2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843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BBFD27-7FB4-102D-F2F3-955990B86EAB}"/>
              </a:ext>
            </a:extLst>
          </p:cNvPr>
          <p:cNvSpPr txBox="1"/>
          <p:nvPr/>
        </p:nvSpPr>
        <p:spPr>
          <a:xfrm>
            <a:off x="2229813" y="61708"/>
            <a:ext cx="77323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точности разработанной модели и алгоритма</a:t>
            </a:r>
            <a:endParaRPr lang="ru-RU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E02D2C3-0CF5-01B3-D07B-A71E8E26A07E}"/>
              </a:ext>
            </a:extLst>
          </p:cNvPr>
          <p:cNvSpPr/>
          <p:nvPr/>
        </p:nvSpPr>
        <p:spPr>
          <a:xfrm>
            <a:off x="417576" y="533400"/>
            <a:ext cx="2148840" cy="12070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8896733-D579-DD36-A822-D00C834D5843}"/>
              </a:ext>
            </a:extLst>
          </p:cNvPr>
          <p:cNvSpPr/>
          <p:nvPr/>
        </p:nvSpPr>
        <p:spPr>
          <a:xfrm>
            <a:off x="417576" y="606552"/>
            <a:ext cx="21488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76.0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B76A0EA-7AA7-3592-0AA2-6AE7B66ADCE8}"/>
              </a:ext>
            </a:extLst>
          </p:cNvPr>
          <p:cNvSpPr/>
          <p:nvPr/>
        </p:nvSpPr>
        <p:spPr>
          <a:xfrm>
            <a:off x="417576" y="1161044"/>
            <a:ext cx="214884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A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мин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E066880-0C0F-F878-0AC5-28F60C55FEE3}"/>
              </a:ext>
            </a:extLst>
          </p:cNvPr>
          <p:cNvSpPr/>
          <p:nvPr/>
        </p:nvSpPr>
        <p:spPr>
          <a:xfrm>
            <a:off x="417576" y="1402446"/>
            <a:ext cx="2148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маршрут после 2-opt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DCE6A5C-F88C-CBCB-59D3-67E2E4519281}"/>
              </a:ext>
            </a:extLst>
          </p:cNvPr>
          <p:cNvSpPr/>
          <p:nvPr/>
        </p:nvSpPr>
        <p:spPr>
          <a:xfrm>
            <a:off x="2685288" y="533400"/>
            <a:ext cx="2148840" cy="12070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A5DCF6B-50D9-5778-2218-1031F4F1CF50}"/>
              </a:ext>
            </a:extLst>
          </p:cNvPr>
          <p:cNvSpPr/>
          <p:nvPr/>
        </p:nvSpPr>
        <p:spPr>
          <a:xfrm>
            <a:off x="2685288" y="606552"/>
            <a:ext cx="21488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87.4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86D927-1707-CC36-DAC3-E8296D3C5827}"/>
              </a:ext>
            </a:extLst>
          </p:cNvPr>
          <p:cNvSpPr/>
          <p:nvPr/>
        </p:nvSpPr>
        <p:spPr>
          <a:xfrm>
            <a:off x="2685288" y="1161044"/>
            <a:ext cx="214884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A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мин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74E3561-B51C-8AB1-E415-6599F667AE1E}"/>
              </a:ext>
            </a:extLst>
          </p:cNvPr>
          <p:cNvSpPr/>
          <p:nvPr/>
        </p:nvSpPr>
        <p:spPr>
          <a:xfrm>
            <a:off x="2685288" y="1402446"/>
            <a:ext cx="2148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до оптимизации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CE94639-AF4B-D799-6C9D-EFA3F8AF143E}"/>
              </a:ext>
            </a:extLst>
          </p:cNvPr>
          <p:cNvSpPr/>
          <p:nvPr/>
        </p:nvSpPr>
        <p:spPr>
          <a:xfrm>
            <a:off x="4953000" y="533400"/>
            <a:ext cx="2148840" cy="12070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2E04E60-C89A-951F-0D97-34E2902C83D6}"/>
              </a:ext>
            </a:extLst>
          </p:cNvPr>
          <p:cNvSpPr/>
          <p:nvPr/>
        </p:nvSpPr>
        <p:spPr>
          <a:xfrm>
            <a:off x="4953000" y="606552"/>
            <a:ext cx="21488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 ит.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828D369-769F-7102-EC5F-3A29ABD1307A}"/>
              </a:ext>
            </a:extLst>
          </p:cNvPr>
          <p:cNvSpPr/>
          <p:nvPr/>
        </p:nvSpPr>
        <p:spPr>
          <a:xfrm>
            <a:off x="4953000" y="1161044"/>
            <a:ext cx="214884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A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итераций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09E2F57-3642-C08E-C6DF-A26E836E806E}"/>
              </a:ext>
            </a:extLst>
          </p:cNvPr>
          <p:cNvSpPr/>
          <p:nvPr/>
        </p:nvSpPr>
        <p:spPr>
          <a:xfrm>
            <a:off x="4953000" y="1402446"/>
            <a:ext cx="2148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до сходимости 2-opt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8EDFB4D-697F-A8BC-091D-F1BB7A03D542}"/>
              </a:ext>
            </a:extLst>
          </p:cNvPr>
          <p:cNvSpPr/>
          <p:nvPr/>
        </p:nvSpPr>
        <p:spPr>
          <a:xfrm>
            <a:off x="7220712" y="533400"/>
            <a:ext cx="2148840" cy="12070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B8365BF-3294-FA40-A3ED-4FAE4501118F}"/>
              </a:ext>
            </a:extLst>
          </p:cNvPr>
          <p:cNvSpPr/>
          <p:nvPr/>
        </p:nvSpPr>
        <p:spPr>
          <a:xfrm>
            <a:off x="7220712" y="606552"/>
            <a:ext cx="21488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0.3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D3E4533-0E16-98BC-333F-8609A950DBDD}"/>
              </a:ext>
            </a:extLst>
          </p:cNvPr>
          <p:cNvSpPr/>
          <p:nvPr/>
        </p:nvSpPr>
        <p:spPr>
          <a:xfrm>
            <a:off x="7220712" y="1161044"/>
            <a:ext cx="214884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7A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α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AA591673-A8DB-0F20-3ED4-EB41DFA489D7}"/>
              </a:ext>
            </a:extLst>
          </p:cNvPr>
          <p:cNvSpPr/>
          <p:nvPr/>
        </p:nvSpPr>
        <p:spPr>
          <a:xfrm>
            <a:off x="7220712" y="1402446"/>
            <a:ext cx="2148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вес архива </a:t>
            </a:r>
            <a:r>
              <a:rPr lang="en-GB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NZTA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CD3DA5B7-F0F6-5CA5-09C4-08CE974D972D}"/>
              </a:ext>
            </a:extLst>
          </p:cNvPr>
          <p:cNvSpPr/>
          <p:nvPr/>
        </p:nvSpPr>
        <p:spPr>
          <a:xfrm>
            <a:off x="9488424" y="533400"/>
            <a:ext cx="2148840" cy="1207008"/>
          </a:xfrm>
          <a:prstGeom prst="rect">
            <a:avLst/>
          </a:prstGeom>
          <a:solidFill>
            <a:srgbClr val="EEF4FC"/>
          </a:solidFill>
          <a:ln w="12700">
            <a:solidFill>
              <a:srgbClr val="1A3A5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6722B75D-491D-480C-03E4-C55D933DEE85}"/>
              </a:ext>
            </a:extLst>
          </p:cNvPr>
          <p:cNvSpPr/>
          <p:nvPr/>
        </p:nvSpPr>
        <p:spPr>
          <a:xfrm>
            <a:off x="9488424" y="606552"/>
            <a:ext cx="2148840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2042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AB8E5211-4573-FAF5-F911-8457EF05A9C7}"/>
              </a:ext>
            </a:extLst>
          </p:cNvPr>
          <p:cNvSpPr/>
          <p:nvPr/>
        </p:nvSpPr>
        <p:spPr>
          <a:xfrm>
            <a:off x="9488424" y="1161044"/>
            <a:ext cx="2148840" cy="265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A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датчика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FD31365-F0BB-B3EA-C7A0-F7F3B46B8352}"/>
              </a:ext>
            </a:extLst>
          </p:cNvPr>
          <p:cNvSpPr/>
          <p:nvPr/>
        </p:nvSpPr>
        <p:spPr>
          <a:xfrm>
            <a:off x="9488424" y="1402446"/>
            <a:ext cx="2148840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NZTA, 2013–2022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F2B8F05-2807-9274-9E50-96D59356E2DD}"/>
              </a:ext>
            </a:extLst>
          </p:cNvPr>
          <p:cNvSpPr/>
          <p:nvPr/>
        </p:nvSpPr>
        <p:spPr>
          <a:xfrm>
            <a:off x="417576" y="1831848"/>
            <a:ext cx="557784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8EEEECC5-59BE-C808-A748-C66B226D7EDB}"/>
              </a:ext>
            </a:extLst>
          </p:cNvPr>
          <p:cNvSpPr/>
          <p:nvPr/>
        </p:nvSpPr>
        <p:spPr>
          <a:xfrm>
            <a:off x="417576" y="1831848"/>
            <a:ext cx="557784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Сходимость алгоритма 2-opt оптимизации маршрута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A735A645-47BD-63A0-E402-4BE6451ED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76" y="2106168"/>
            <a:ext cx="3749040" cy="2304288"/>
          </a:xfrm>
          <a:prstGeom prst="rect">
            <a:avLst/>
          </a:prstGeom>
        </p:spPr>
      </p:pic>
      <p:sp>
        <p:nvSpPr>
          <p:cNvPr id="29" name="Shape 24">
            <a:extLst>
              <a:ext uri="{FF2B5EF4-FFF2-40B4-BE49-F238E27FC236}">
                <a16:creationId xmlns:a16="http://schemas.microsoft.com/office/drawing/2014/main" id="{6691E5C2-CD91-FC13-62D8-A0A28504F55E}"/>
              </a:ext>
            </a:extLst>
          </p:cNvPr>
          <p:cNvSpPr/>
          <p:nvPr/>
        </p:nvSpPr>
        <p:spPr>
          <a:xfrm>
            <a:off x="6498336" y="1831848"/>
            <a:ext cx="5138928" cy="274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7035D29B-F464-2858-0966-0869C9547980}"/>
              </a:ext>
            </a:extLst>
          </p:cNvPr>
          <p:cNvSpPr/>
          <p:nvPr/>
        </p:nvSpPr>
        <p:spPr>
          <a:xfrm>
            <a:off x="6498336" y="1830324"/>
            <a:ext cx="576072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Разбивка времени по сегментам (пример маршрута, 38 км)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AD2B4C36-A305-C1A2-1B07-380D76548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2145284"/>
            <a:ext cx="4450080" cy="2304288"/>
          </a:xfrm>
          <a:prstGeom prst="rect">
            <a:avLst/>
          </a:prstGeom>
        </p:spPr>
      </p:pic>
      <p:sp>
        <p:nvSpPr>
          <p:cNvPr id="32" name="Shape 26">
            <a:extLst>
              <a:ext uri="{FF2B5EF4-FFF2-40B4-BE49-F238E27FC236}">
                <a16:creationId xmlns:a16="http://schemas.microsoft.com/office/drawing/2014/main" id="{72E12838-8E3F-AC31-31F1-CF3D0D030506}"/>
              </a:ext>
            </a:extLst>
          </p:cNvPr>
          <p:cNvSpPr/>
          <p:nvPr/>
        </p:nvSpPr>
        <p:spPr>
          <a:xfrm>
            <a:off x="417576" y="4483608"/>
            <a:ext cx="557784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FB111CEA-B85D-276E-4F4A-F11182C58229}"/>
              </a:ext>
            </a:extLst>
          </p:cNvPr>
          <p:cNvSpPr/>
          <p:nvPr/>
        </p:nvSpPr>
        <p:spPr>
          <a:xfrm>
            <a:off x="417576" y="4483608"/>
            <a:ext cx="5577840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Ключевые выводы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10AFD1CE-5A8A-227C-5F42-A26151451226}"/>
              </a:ext>
            </a:extLst>
          </p:cNvPr>
          <p:cNvSpPr/>
          <p:nvPr/>
        </p:nvSpPr>
        <p:spPr>
          <a:xfrm>
            <a:off x="417576" y="4730496"/>
            <a:ext cx="5577840" cy="1938528"/>
          </a:xfrm>
          <a:prstGeom prst="rect">
            <a:avLst/>
          </a:prstGeom>
          <a:solidFill>
            <a:srgbClr val="F4F7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3A08AF37-E487-061D-6401-1BECCC0F89E1}"/>
              </a:ext>
            </a:extLst>
          </p:cNvPr>
          <p:cNvSpPr/>
          <p:nvPr/>
        </p:nvSpPr>
        <p:spPr>
          <a:xfrm>
            <a:off x="490728" y="4803648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A04ECF89-A224-C5D7-1EC2-A6B478A93CDB}"/>
              </a:ext>
            </a:extLst>
          </p:cNvPr>
          <p:cNvSpPr/>
          <p:nvPr/>
        </p:nvSpPr>
        <p:spPr>
          <a:xfrm>
            <a:off x="490728" y="4803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9690ACFD-ECB3-2F4D-E980-1E1D32AE7759}"/>
              </a:ext>
            </a:extLst>
          </p:cNvPr>
          <p:cNvSpPr/>
          <p:nvPr/>
        </p:nvSpPr>
        <p:spPr>
          <a:xfrm>
            <a:off x="801624" y="4767072"/>
            <a:ext cx="5074920" cy="329184"/>
          </a:xfrm>
          <a:prstGeom prst="rect">
            <a:avLst/>
          </a:prstGeom>
          <a:noFill/>
          <a:ln/>
        </p:spPr>
        <p:txBody>
          <a:bodyPr wrap="square" lIns="1270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Учёт покрытия (XGBoost) даёт +3% точности vs Google Maps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8C164846-66C9-3E07-019F-289E393F521E}"/>
              </a:ext>
            </a:extLst>
          </p:cNvPr>
          <p:cNvSpPr/>
          <p:nvPr/>
        </p:nvSpPr>
        <p:spPr>
          <a:xfrm>
            <a:off x="490728" y="5160264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A0EC0DA0-63BA-BED1-F0E9-8B6731F00BA7}"/>
              </a:ext>
            </a:extLst>
          </p:cNvPr>
          <p:cNvSpPr/>
          <p:nvPr/>
        </p:nvSpPr>
        <p:spPr>
          <a:xfrm>
            <a:off x="490728" y="5160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A40F5CC9-DE68-075F-CD3F-C4319E9EC5AE}"/>
              </a:ext>
            </a:extLst>
          </p:cNvPr>
          <p:cNvSpPr/>
          <p:nvPr/>
        </p:nvSpPr>
        <p:spPr>
          <a:xfrm>
            <a:off x="801624" y="5123688"/>
            <a:ext cx="5074920" cy="329184"/>
          </a:xfrm>
          <a:prstGeom prst="rect">
            <a:avLst/>
          </a:prstGeom>
          <a:noFill/>
          <a:ln/>
        </p:spPr>
        <p:txBody>
          <a:bodyPr wrap="square" lIns="1270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Вероятностная модель ДТП даёт +4% точности ETA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C13FB007-0413-98E9-7DE6-46EF6092C3C4}"/>
              </a:ext>
            </a:extLst>
          </p:cNvPr>
          <p:cNvSpPr/>
          <p:nvPr/>
        </p:nvSpPr>
        <p:spPr>
          <a:xfrm>
            <a:off x="490728" y="5516880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9402EAF9-B8EA-319D-0049-050F8B9E7D5E}"/>
              </a:ext>
            </a:extLst>
          </p:cNvPr>
          <p:cNvSpPr/>
          <p:nvPr/>
        </p:nvSpPr>
        <p:spPr>
          <a:xfrm>
            <a:off x="490728" y="5516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A842D048-AACA-493E-43F9-2D036EC1BF23}"/>
              </a:ext>
            </a:extLst>
          </p:cNvPr>
          <p:cNvSpPr/>
          <p:nvPr/>
        </p:nvSpPr>
        <p:spPr>
          <a:xfrm>
            <a:off x="801624" y="5480304"/>
            <a:ext cx="5074920" cy="329184"/>
          </a:xfrm>
          <a:prstGeom prst="rect">
            <a:avLst/>
          </a:prstGeom>
          <a:noFill/>
          <a:ln/>
        </p:spPr>
        <p:txBody>
          <a:bodyPr wrap="square" lIns="1270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Архив НЗТА (α·T_арх) снижает MAE с 4.8 до 3.2 мин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13200E56-4230-2B86-D9BE-CE894A43E487}"/>
              </a:ext>
            </a:extLst>
          </p:cNvPr>
          <p:cNvSpPr/>
          <p:nvPr/>
        </p:nvSpPr>
        <p:spPr>
          <a:xfrm>
            <a:off x="490728" y="5873496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E1EA208F-4AB0-B223-9393-25B3350CA7D2}"/>
              </a:ext>
            </a:extLst>
          </p:cNvPr>
          <p:cNvSpPr/>
          <p:nvPr/>
        </p:nvSpPr>
        <p:spPr>
          <a:xfrm>
            <a:off x="490728" y="5873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CCFC5EA6-70CC-B046-C6E0-CF4135618679}"/>
              </a:ext>
            </a:extLst>
          </p:cNvPr>
          <p:cNvSpPr/>
          <p:nvPr/>
        </p:nvSpPr>
        <p:spPr>
          <a:xfrm>
            <a:off x="801624" y="5836920"/>
            <a:ext cx="5074920" cy="329184"/>
          </a:xfrm>
          <a:prstGeom prst="rect">
            <a:avLst/>
          </a:prstGeom>
          <a:noFill/>
          <a:ln/>
        </p:spPr>
        <p:txBody>
          <a:bodyPr wrap="square" lIns="1270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2-opt сокращает время маршрута в среднем на 13%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1">
            <a:extLst>
              <a:ext uri="{FF2B5EF4-FFF2-40B4-BE49-F238E27FC236}">
                <a16:creationId xmlns:a16="http://schemas.microsoft.com/office/drawing/2014/main" id="{6566A1DE-066E-C8E5-F722-4E200ED54D3A}"/>
              </a:ext>
            </a:extLst>
          </p:cNvPr>
          <p:cNvSpPr/>
          <p:nvPr/>
        </p:nvSpPr>
        <p:spPr>
          <a:xfrm>
            <a:off x="490728" y="6230112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5AA73B60-1DC7-1B3E-ACAF-24593294C41A}"/>
              </a:ext>
            </a:extLst>
          </p:cNvPr>
          <p:cNvSpPr/>
          <p:nvPr/>
        </p:nvSpPr>
        <p:spPr>
          <a:xfrm>
            <a:off x="490728" y="6230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⑤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0EFA0C34-1B96-5888-AF11-E78F8EC0D75D}"/>
              </a:ext>
            </a:extLst>
          </p:cNvPr>
          <p:cNvSpPr/>
          <p:nvPr/>
        </p:nvSpPr>
        <p:spPr>
          <a:xfrm>
            <a:off x="801624" y="6193536"/>
            <a:ext cx="5074920" cy="329184"/>
          </a:xfrm>
          <a:prstGeom prst="rect">
            <a:avLst/>
          </a:prstGeom>
          <a:noFill/>
          <a:ln/>
        </p:spPr>
        <p:txBody>
          <a:bodyPr wrap="square" lIns="1270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Сходимость 2-opt: 7 итераций при n=20 сегментах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6A1F8B9A-4454-9DCE-F17A-5278B7560684}"/>
              </a:ext>
            </a:extLst>
          </p:cNvPr>
          <p:cNvSpPr/>
          <p:nvPr/>
        </p:nvSpPr>
        <p:spPr>
          <a:xfrm>
            <a:off x="6502781" y="4483608"/>
            <a:ext cx="5124449" cy="2453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96AD134E-ED9E-4300-4649-3E2888004BEA}"/>
              </a:ext>
            </a:extLst>
          </p:cNvPr>
          <p:cNvSpPr/>
          <p:nvPr/>
        </p:nvSpPr>
        <p:spPr>
          <a:xfrm>
            <a:off x="6492209" y="4449572"/>
            <a:ext cx="5754686" cy="246888"/>
          </a:xfrm>
          <a:prstGeom prst="rect">
            <a:avLst/>
          </a:prstGeom>
          <a:noFill/>
          <a:ln/>
        </p:spPr>
        <p:txBody>
          <a:bodyPr wrap="square" lIns="0" tIns="88900" rIns="0" bIns="0" rtlCol="0" anchor="b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Сравнение с аналогами по функциональности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2" name="Table 0">
            <a:extLst>
              <a:ext uri="{FF2B5EF4-FFF2-40B4-BE49-F238E27FC236}">
                <a16:creationId xmlns:a16="http://schemas.microsoft.com/office/drawing/2014/main" id="{B03171E2-23AB-123F-50E4-59214A8F9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629595"/>
              </p:ext>
            </p:extLst>
          </p:nvPr>
        </p:nvGraphicFramePr>
        <p:xfrm>
          <a:off x="6498336" y="4730496"/>
          <a:ext cx="5138928" cy="1920240"/>
        </p:xfrm>
        <a:graphic>
          <a:graphicData uri="http://schemas.openxmlformats.org/drawingml/2006/table">
            <a:tbl>
              <a:tblPr/>
              <a:tblGrid>
                <a:gridCol w="1683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7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Функция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RoadSense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Google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Waze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Яндекс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Анализ покрытия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✅ XGBoost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❌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❌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❌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Спутн. снимки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✅ LINZ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вид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❌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вид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Вер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оятнос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ть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ДТП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✅ модель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архив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crowd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crowd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Архив трафика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✅ НЗТА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✅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✅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✅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2-opt маршрут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✅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A*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A*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A*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Open source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✅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❌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❌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❌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1E1D045A-E561-7768-33DD-29FF573C18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602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F77A3-859E-FDF4-9117-AFB75792C3CF}"/>
              </a:ext>
            </a:extLst>
          </p:cNvPr>
          <p:cNvSpPr txBox="1"/>
          <p:nvPr/>
        </p:nvSpPr>
        <p:spPr>
          <a:xfrm>
            <a:off x="1540522" y="533400"/>
            <a:ext cx="91109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Основные результаты диссертационной работы</a:t>
            </a:r>
            <a:endParaRPr lang="ru-RU" sz="3200" b="0" dirty="0"/>
          </a:p>
          <a:p>
            <a:endParaRPr lang="ru-RU" sz="3200" u="sng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4F50A44-E53D-D44A-A47A-20E835586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43573"/>
            <a:ext cx="11125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Проведён аналитический обзор существующих</a:t>
            </a:r>
            <a:r>
              <a:rPr kumimoji="0" lang="en-GB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решений.</a:t>
            </a:r>
          </a:p>
          <a:p>
            <a:pPr marL="457200" lvl="1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Получена формальная постановка задачи с целевой функцией и полной формулой расчёта времени.</a:t>
            </a:r>
          </a:p>
          <a:p>
            <a:pPr marL="457200" lvl="1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методика учёта факторов дорожной среды — определены коэффициенты влияния погоды, типа покрытия и времени суток на скорость движения. </a:t>
            </a:r>
          </a:p>
          <a:p>
            <a:pPr marL="457200" lvl="1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алгоритм вероятностного моделирования ДТП, рассчитано время устранения аварии с учётом расстояния до ближайшего поста дорожной службы.</a:t>
            </a:r>
          </a:p>
          <a:p>
            <a:pPr marL="457200" lvl="1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программный комплекс RoadSense — комплекс из пяти программных модулей на Python.</a:t>
            </a:r>
          </a:p>
          <a:p>
            <a:pPr marL="457200" lvl="1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оценка точности и эффективности модели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B8E204-9A92-32E0-F47A-EA2BAEB3C4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538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1A475E-2AAB-DE9A-B797-3D04EFDB7D9B}"/>
              </a:ext>
            </a:extLst>
          </p:cNvPr>
          <p:cNvSpPr txBox="1"/>
          <p:nvPr/>
        </p:nvSpPr>
        <p:spPr>
          <a:xfrm>
            <a:off x="2819400" y="3075057"/>
            <a:ext cx="655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544170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11285</TotalTime>
  <Words>1257</Words>
  <Application>Microsoft Office PowerPoint</Application>
  <PresentationFormat>Widescreen</PresentationFormat>
  <Paragraphs>265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Аналитический обзор существующих методов и средств построения пути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Arthur</dc:creator>
  <cp:lastModifiedBy>Артур Артюшенков</cp:lastModifiedBy>
  <cp:revision>203</cp:revision>
  <dcterms:created xsi:type="dcterms:W3CDTF">2026-04-21T21:45:20Z</dcterms:created>
  <dcterms:modified xsi:type="dcterms:W3CDTF">2026-05-20T16:06:56Z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2025-06-11T00:00:00Z</vt:filetime>
  </property>
  <property fmtid="{D5CDD505-2E9C-101B-9397-08002B2CF9AE}" pid="3" name="LastSaved">
    <vt:filetime>2026-04-21T00:00:00Z</vt:filetime>
  </property>
</Properties>
</file>