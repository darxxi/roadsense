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70" r:id="rId7"/>
    <p:sldId id="269" r:id="rId8"/>
    <p:sldId id="275" r:id="rId9"/>
    <p:sldId id="271" r:id="rId10"/>
    <p:sldId id="272" r:id="rId11"/>
    <p:sldId id="264" r:id="rId12"/>
    <p:sldId id="265" r:id="rId13"/>
    <p:sldId id="268" r:id="rId14"/>
    <p:sldId id="273" r:id="rId15"/>
    <p:sldId id="274" r:id="rId16"/>
    <p:sldId id="266" r:id="rId17"/>
    <p:sldId id="267" r:id="rId1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2140" y="3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538969" y="6131890"/>
            <a:ext cx="0" cy="586740"/>
          </a:xfrm>
          <a:custGeom>
            <a:avLst/>
            <a:gdLst/>
            <a:ahLst/>
            <a:cxnLst/>
            <a:rect l="l" t="t" r="r" b="b"/>
            <a:pathLst>
              <a:path h="586740">
                <a:moveTo>
                  <a:pt x="0" y="0"/>
                </a:moveTo>
                <a:lnTo>
                  <a:pt x="0" y="58640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318115" y="6131890"/>
            <a:ext cx="0" cy="586740"/>
          </a:xfrm>
          <a:custGeom>
            <a:avLst/>
            <a:gdLst/>
            <a:ahLst/>
            <a:cxnLst/>
            <a:rect l="l" t="t" r="r" b="b"/>
            <a:pathLst>
              <a:path h="586740">
                <a:moveTo>
                  <a:pt x="0" y="0"/>
                </a:moveTo>
                <a:lnTo>
                  <a:pt x="0" y="58640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158855" y="6131890"/>
            <a:ext cx="0" cy="586740"/>
          </a:xfrm>
          <a:custGeom>
            <a:avLst/>
            <a:gdLst/>
            <a:ahLst/>
            <a:cxnLst/>
            <a:rect l="l" t="t" r="r" b="b"/>
            <a:pathLst>
              <a:path h="586740">
                <a:moveTo>
                  <a:pt x="0" y="0"/>
                </a:moveTo>
                <a:lnTo>
                  <a:pt x="0" y="58640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532619" y="6131890"/>
            <a:ext cx="2466975" cy="586740"/>
          </a:xfrm>
          <a:custGeom>
            <a:avLst/>
            <a:gdLst/>
            <a:ahLst/>
            <a:cxnLst/>
            <a:rect l="l" t="t" r="r" b="b"/>
            <a:pathLst>
              <a:path w="2466975" h="586740">
                <a:moveTo>
                  <a:pt x="2212339" y="0"/>
                </a:moveTo>
                <a:lnTo>
                  <a:pt x="2212339" y="586409"/>
                </a:lnTo>
              </a:path>
              <a:path w="2466975" h="586740">
                <a:moveTo>
                  <a:pt x="0" y="6349"/>
                </a:moveTo>
                <a:lnTo>
                  <a:pt x="2466975" y="6349"/>
                </a:lnTo>
              </a:path>
              <a:path w="2466975" h="586740">
                <a:moveTo>
                  <a:pt x="0" y="303517"/>
                </a:moveTo>
                <a:lnTo>
                  <a:pt x="2466975" y="303517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98754" y="147701"/>
            <a:ext cx="0" cy="6562725"/>
          </a:xfrm>
          <a:custGeom>
            <a:avLst/>
            <a:gdLst/>
            <a:ahLst/>
            <a:cxnLst/>
            <a:rect l="l" t="t" r="r" b="b"/>
            <a:pathLst>
              <a:path h="6562725">
                <a:moveTo>
                  <a:pt x="0" y="0"/>
                </a:moveTo>
                <a:lnTo>
                  <a:pt x="0" y="6562661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92404" y="147701"/>
            <a:ext cx="11807190" cy="6570980"/>
          </a:xfrm>
          <a:custGeom>
            <a:avLst/>
            <a:gdLst/>
            <a:ahLst/>
            <a:cxnLst/>
            <a:rect l="l" t="t" r="r" b="b"/>
            <a:pathLst>
              <a:path w="11807190" h="6570980">
                <a:moveTo>
                  <a:pt x="11800840" y="0"/>
                </a:moveTo>
                <a:lnTo>
                  <a:pt x="11800840" y="6570599"/>
                </a:lnTo>
              </a:path>
              <a:path w="11807190" h="6570980">
                <a:moveTo>
                  <a:pt x="0" y="6350"/>
                </a:moveTo>
                <a:lnTo>
                  <a:pt x="11807190" y="6350"/>
                </a:lnTo>
              </a:path>
              <a:path w="11807190" h="6570980">
                <a:moveTo>
                  <a:pt x="0" y="6556311"/>
                </a:moveTo>
                <a:lnTo>
                  <a:pt x="9340215" y="6556311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9532620" y="6704012"/>
            <a:ext cx="2466975" cy="0"/>
          </a:xfrm>
          <a:custGeom>
            <a:avLst/>
            <a:gdLst/>
            <a:ahLst/>
            <a:cxnLst/>
            <a:rect l="l" t="t" r="r" b="b"/>
            <a:pathLst>
              <a:path w="2466975">
                <a:moveTo>
                  <a:pt x="0" y="0"/>
                </a:moveTo>
                <a:lnTo>
                  <a:pt x="2466975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bg 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300" y="1181100"/>
            <a:ext cx="4581525" cy="47053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5140" y="353060"/>
            <a:ext cx="11397615" cy="449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10377" y="1209547"/>
            <a:ext cx="5495290" cy="46551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F6C2291-7009-CBF9-4361-FC080284AE5A}"/>
              </a:ext>
            </a:extLst>
          </p:cNvPr>
          <p:cNvSpPr txBox="1"/>
          <p:nvPr/>
        </p:nvSpPr>
        <p:spPr>
          <a:xfrm>
            <a:off x="34922" y="721290"/>
            <a:ext cx="12122150" cy="1739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72639" marR="2058035" algn="ctr">
              <a:lnSpc>
                <a:spcPct val="101400"/>
              </a:lnSpc>
              <a:spcBef>
                <a:spcPts val="1705"/>
              </a:spcBef>
              <a:tabLst>
                <a:tab pos="5383530" algn="l"/>
              </a:tabLst>
            </a:pPr>
            <a:r>
              <a:rPr lang="ru-RU" sz="3600" dirty="0">
                <a:latin typeface="Times New Roman"/>
                <a:cs typeface="Times New Roman"/>
              </a:rPr>
              <a:t>Исследование</a:t>
            </a:r>
            <a:r>
              <a:rPr lang="ru-RU" sz="3600" spc="60" dirty="0">
                <a:latin typeface="Times New Roman"/>
                <a:cs typeface="Times New Roman"/>
              </a:rPr>
              <a:t> </a:t>
            </a:r>
            <a:r>
              <a:rPr lang="ru-RU" sz="3600" dirty="0">
                <a:latin typeface="Times New Roman"/>
                <a:cs typeface="Times New Roman"/>
              </a:rPr>
              <a:t>и</a:t>
            </a:r>
            <a:r>
              <a:rPr lang="ru-RU" sz="3600" spc="80" dirty="0">
                <a:latin typeface="Times New Roman"/>
                <a:cs typeface="Times New Roman"/>
              </a:rPr>
              <a:t> </a:t>
            </a:r>
            <a:r>
              <a:rPr lang="ru-RU" sz="3600" spc="-10" dirty="0">
                <a:latin typeface="Times New Roman"/>
                <a:cs typeface="Times New Roman"/>
              </a:rPr>
              <a:t>разработка предиктивной </a:t>
            </a:r>
            <a:r>
              <a:rPr lang="ru-RU" sz="3600" dirty="0">
                <a:latin typeface="Times New Roman"/>
                <a:cs typeface="Times New Roman"/>
              </a:rPr>
              <a:t>модели</a:t>
            </a:r>
            <a:r>
              <a:rPr lang="ru-RU" sz="3600" spc="45" dirty="0">
                <a:latin typeface="Times New Roman"/>
                <a:cs typeface="Times New Roman"/>
              </a:rPr>
              <a:t> </a:t>
            </a:r>
            <a:r>
              <a:rPr lang="ru-RU" sz="3600" dirty="0">
                <a:latin typeface="Times New Roman"/>
                <a:cs typeface="Times New Roman"/>
              </a:rPr>
              <a:t>и</a:t>
            </a:r>
            <a:r>
              <a:rPr lang="ru-RU" sz="3600" spc="-25" dirty="0">
                <a:latin typeface="Times New Roman"/>
                <a:cs typeface="Times New Roman"/>
              </a:rPr>
              <a:t> </a:t>
            </a:r>
            <a:r>
              <a:rPr lang="ru-RU" sz="3600" spc="-10" dirty="0">
                <a:latin typeface="Times New Roman"/>
                <a:cs typeface="Times New Roman"/>
              </a:rPr>
              <a:t>алгоритма </a:t>
            </a:r>
            <a:r>
              <a:rPr lang="ru-RU" sz="3600" dirty="0">
                <a:latin typeface="Times New Roman"/>
                <a:cs typeface="Times New Roman"/>
              </a:rPr>
              <a:t>логистической</a:t>
            </a:r>
            <a:r>
              <a:rPr lang="ru-RU" sz="3600" spc="40" dirty="0">
                <a:latin typeface="Times New Roman"/>
                <a:cs typeface="Times New Roman"/>
              </a:rPr>
              <a:t> </a:t>
            </a:r>
            <a:r>
              <a:rPr lang="ru-RU" sz="3600" dirty="0">
                <a:latin typeface="Times New Roman"/>
                <a:cs typeface="Times New Roman"/>
              </a:rPr>
              <a:t>системы</a:t>
            </a:r>
            <a:r>
              <a:rPr lang="ru-RU" sz="3600" spc="100" dirty="0">
                <a:latin typeface="Times New Roman"/>
                <a:cs typeface="Times New Roman"/>
              </a:rPr>
              <a:t> </a:t>
            </a:r>
            <a:r>
              <a:rPr lang="ru-RU" sz="3600" spc="-10" dirty="0">
                <a:latin typeface="Times New Roman"/>
                <a:cs typeface="Times New Roman"/>
              </a:rPr>
              <a:t>перевозки</a:t>
            </a:r>
            <a:endParaRPr lang="ru-RU" sz="3600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C32E67-A765-EF13-CFB4-EC98925BF854}"/>
              </a:ext>
            </a:extLst>
          </p:cNvPr>
          <p:cNvSpPr txBox="1"/>
          <p:nvPr/>
        </p:nvSpPr>
        <p:spPr>
          <a:xfrm>
            <a:off x="682623" y="2971800"/>
            <a:ext cx="10826750" cy="3152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255" algn="ctr">
              <a:lnSpc>
                <a:spcPts val="2865"/>
              </a:lnSpc>
              <a:spcBef>
                <a:spcPts val="2445"/>
              </a:spcBef>
            </a:pPr>
            <a:r>
              <a:rPr lang="ru-RU" sz="2000" dirty="0">
                <a:latin typeface="Times New Roman"/>
                <a:cs typeface="Times New Roman"/>
              </a:rPr>
              <a:t>Диссертация</a:t>
            </a:r>
            <a:r>
              <a:rPr lang="ru-RU" sz="2000" spc="-55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Times New Roman"/>
                <a:cs typeface="Times New Roman"/>
              </a:rPr>
              <a:t>на</a:t>
            </a:r>
            <a:r>
              <a:rPr lang="ru-RU" sz="2000" spc="-80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Times New Roman"/>
                <a:cs typeface="Times New Roman"/>
              </a:rPr>
              <a:t>соискание</a:t>
            </a:r>
            <a:r>
              <a:rPr lang="ru-RU" sz="2000" spc="-85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Times New Roman"/>
                <a:cs typeface="Times New Roman"/>
              </a:rPr>
              <a:t>квалификации</a:t>
            </a:r>
            <a:r>
              <a:rPr lang="ru-RU" sz="2000" spc="-75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Times New Roman"/>
                <a:cs typeface="Times New Roman"/>
              </a:rPr>
              <a:t>магистра</a:t>
            </a:r>
            <a:r>
              <a:rPr lang="ru-RU" sz="2000" spc="-80" dirty="0">
                <a:latin typeface="Times New Roman"/>
                <a:cs typeface="Times New Roman"/>
              </a:rPr>
              <a:t> </a:t>
            </a:r>
            <a:r>
              <a:rPr lang="ru-RU" sz="2000" spc="-10" dirty="0">
                <a:latin typeface="Times New Roman"/>
                <a:cs typeface="Times New Roman"/>
              </a:rPr>
              <a:t>техники </a:t>
            </a:r>
            <a:r>
              <a:rPr lang="ru-RU" sz="2000" dirty="0">
                <a:latin typeface="Times New Roman"/>
                <a:cs typeface="Times New Roman"/>
              </a:rPr>
              <a:t>и</a:t>
            </a:r>
            <a:r>
              <a:rPr lang="ru-RU" sz="2000" spc="-30" dirty="0">
                <a:latin typeface="Times New Roman"/>
                <a:cs typeface="Times New Roman"/>
              </a:rPr>
              <a:t> </a:t>
            </a:r>
            <a:r>
              <a:rPr lang="ru-RU" sz="2000" spc="-10" dirty="0">
                <a:latin typeface="Times New Roman"/>
                <a:cs typeface="Times New Roman"/>
              </a:rPr>
              <a:t>технологий</a:t>
            </a:r>
          </a:p>
          <a:p>
            <a:pPr marL="8255" algn="ctr">
              <a:lnSpc>
                <a:spcPts val="2865"/>
              </a:lnSpc>
              <a:spcBef>
                <a:spcPts val="2445"/>
              </a:spcBef>
            </a:pPr>
            <a:endParaRPr lang="ru-RU" sz="2000" dirty="0">
              <a:latin typeface="Times New Roman"/>
              <a:cs typeface="Times New Roman"/>
            </a:endParaRPr>
          </a:p>
          <a:p>
            <a:pPr marL="5191125" marR="2594610" indent="-2566035" algn="ctr">
              <a:lnSpc>
                <a:spcPct val="133000"/>
              </a:lnSpc>
            </a:pPr>
            <a:endParaRPr lang="ru-RU" sz="2000" dirty="0">
              <a:latin typeface="Times New Roman"/>
              <a:cs typeface="Times New Roman"/>
            </a:endParaRPr>
          </a:p>
          <a:p>
            <a:pPr marL="1609090" marR="1958339" indent="498475" algn="ctr">
              <a:lnSpc>
                <a:spcPct val="130400"/>
              </a:lnSpc>
              <a:spcBef>
                <a:spcPts val="75"/>
              </a:spcBef>
            </a:pPr>
            <a:r>
              <a:rPr lang="ru-RU" sz="2000" dirty="0">
                <a:latin typeface="Times New Roman"/>
                <a:cs typeface="Times New Roman"/>
              </a:rPr>
              <a:t>Соискатель:</a:t>
            </a:r>
            <a:r>
              <a:rPr lang="ru-RU" sz="2000" spc="-70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Times New Roman"/>
                <a:cs typeface="Times New Roman"/>
              </a:rPr>
              <a:t>магистрант</a:t>
            </a:r>
            <a:r>
              <a:rPr lang="ru-RU" sz="2000" spc="-35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Times New Roman"/>
                <a:cs typeface="Times New Roman"/>
              </a:rPr>
              <a:t>Артюшенков</a:t>
            </a:r>
            <a:r>
              <a:rPr lang="ru-RU" sz="2000" spc="-75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Times New Roman"/>
                <a:cs typeface="Times New Roman"/>
              </a:rPr>
              <a:t>Артур</a:t>
            </a:r>
            <a:r>
              <a:rPr lang="ru-RU" sz="2000" spc="-70" dirty="0">
                <a:latin typeface="Times New Roman"/>
                <a:cs typeface="Times New Roman"/>
              </a:rPr>
              <a:t> </a:t>
            </a:r>
            <a:r>
              <a:rPr lang="ru-RU" sz="2000" spc="-10" dirty="0">
                <a:latin typeface="Times New Roman"/>
                <a:cs typeface="Times New Roman"/>
              </a:rPr>
              <a:t>Сергеевич </a:t>
            </a:r>
            <a:endParaRPr lang="en-GB" sz="2000" spc="-10" dirty="0">
              <a:latin typeface="Times New Roman"/>
              <a:cs typeface="Times New Roman"/>
            </a:endParaRPr>
          </a:p>
          <a:p>
            <a:pPr marL="1609090" marR="1958339" indent="498475" algn="ctr">
              <a:lnSpc>
                <a:spcPct val="130400"/>
              </a:lnSpc>
              <a:spcBef>
                <a:spcPts val="75"/>
              </a:spcBef>
            </a:pPr>
            <a:r>
              <a:rPr lang="ru-RU" sz="2000" dirty="0">
                <a:latin typeface="Times New Roman"/>
                <a:cs typeface="Times New Roman"/>
              </a:rPr>
              <a:t>Научный</a:t>
            </a:r>
            <a:r>
              <a:rPr lang="ru-RU" sz="2000" spc="-80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Times New Roman"/>
                <a:cs typeface="Times New Roman"/>
              </a:rPr>
              <a:t>руководитель:</a:t>
            </a:r>
            <a:r>
              <a:rPr lang="ru-RU" sz="2000" spc="-65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Times New Roman"/>
                <a:cs typeface="Times New Roman"/>
              </a:rPr>
              <a:t>д.т.н.,</a:t>
            </a:r>
            <a:r>
              <a:rPr lang="ru-RU" sz="2000" spc="-65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Times New Roman"/>
                <a:cs typeface="Times New Roman"/>
              </a:rPr>
              <a:t>профессор</a:t>
            </a:r>
            <a:r>
              <a:rPr lang="ru-RU" sz="2000" spc="-70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Times New Roman"/>
                <a:cs typeface="Times New Roman"/>
              </a:rPr>
              <a:t>института</a:t>
            </a:r>
            <a:r>
              <a:rPr lang="ru-RU" sz="2000" spc="-85" dirty="0">
                <a:latin typeface="Times New Roman"/>
                <a:cs typeface="Times New Roman"/>
              </a:rPr>
              <a:t> </a:t>
            </a:r>
            <a:r>
              <a:rPr lang="ru-RU" sz="2000" spc="-10" dirty="0">
                <a:latin typeface="Times New Roman"/>
                <a:cs typeface="Times New Roman"/>
              </a:rPr>
              <a:t>СПИНТех</a:t>
            </a:r>
            <a:r>
              <a:rPr lang="en-GB" sz="2000" spc="-10" dirty="0">
                <a:latin typeface="Times New Roman"/>
                <a:cs typeface="Times New Roman"/>
              </a:rPr>
              <a:t> </a:t>
            </a:r>
          </a:p>
          <a:p>
            <a:pPr marL="1609090" marR="1958339" indent="498475" algn="ctr">
              <a:lnSpc>
                <a:spcPct val="130400"/>
              </a:lnSpc>
              <a:spcBef>
                <a:spcPts val="75"/>
              </a:spcBef>
            </a:pPr>
            <a:r>
              <a:rPr lang="ru-RU" sz="2000" dirty="0">
                <a:latin typeface="Times New Roman"/>
                <a:cs typeface="Times New Roman"/>
              </a:rPr>
              <a:t>Гагарина</a:t>
            </a:r>
            <a:r>
              <a:rPr lang="ru-RU" sz="2000" spc="-20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Times New Roman"/>
                <a:cs typeface="Times New Roman"/>
              </a:rPr>
              <a:t>Лариса</a:t>
            </a:r>
            <a:r>
              <a:rPr lang="ru-RU" sz="2000" spc="-80" dirty="0">
                <a:latin typeface="Times New Roman"/>
                <a:cs typeface="Times New Roman"/>
              </a:rPr>
              <a:t> </a:t>
            </a:r>
            <a:r>
              <a:rPr lang="ru-RU" sz="2000" spc="-10" dirty="0">
                <a:latin typeface="Times New Roman"/>
                <a:cs typeface="Times New Roman"/>
              </a:rPr>
              <a:t>Геннадьевна</a:t>
            </a:r>
            <a:endParaRPr lang="ru-RU" sz="2000" dirty="0">
              <a:latin typeface="Times New Roman"/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19F9F9-A3B1-D268-E576-6C02FBC07A0C}"/>
              </a:ext>
            </a:extLst>
          </p:cNvPr>
          <p:cNvSpPr txBox="1"/>
          <p:nvPr/>
        </p:nvSpPr>
        <p:spPr>
          <a:xfrm>
            <a:off x="346827" y="3429000"/>
            <a:ext cx="11498341" cy="1106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91125" marR="2594610" indent="-2566035" algn="ctr">
              <a:lnSpc>
                <a:spcPct val="133000"/>
              </a:lnSpc>
            </a:pPr>
            <a:endParaRPr lang="en-GB" sz="1800" dirty="0">
              <a:latin typeface="Times New Roman"/>
              <a:cs typeface="Times New Roman"/>
            </a:endParaRPr>
          </a:p>
          <a:p>
            <a:pPr marL="5191125" marR="2594610" indent="-2566035" algn="ctr">
              <a:lnSpc>
                <a:spcPct val="133000"/>
              </a:lnSpc>
            </a:pPr>
            <a:r>
              <a:rPr lang="ru-RU" sz="1800" dirty="0">
                <a:latin typeface="Times New Roman"/>
                <a:cs typeface="Times New Roman"/>
              </a:rPr>
              <a:t>Направление</a:t>
            </a:r>
            <a:r>
              <a:rPr lang="ru-RU" sz="1800" spc="5" dirty="0">
                <a:latin typeface="Times New Roman"/>
                <a:cs typeface="Times New Roman"/>
              </a:rPr>
              <a:t> </a:t>
            </a:r>
            <a:r>
              <a:rPr lang="ru-RU" sz="1800" spc="-10" dirty="0">
                <a:latin typeface="Times New Roman"/>
                <a:cs typeface="Times New Roman"/>
              </a:rPr>
              <a:t>подготовки</a:t>
            </a:r>
            <a:r>
              <a:rPr lang="ru-RU" sz="1800" spc="-50" dirty="0">
                <a:latin typeface="Times New Roman"/>
                <a:cs typeface="Times New Roman"/>
              </a:rPr>
              <a:t> </a:t>
            </a:r>
            <a:r>
              <a:rPr lang="ru-RU" sz="1800" dirty="0">
                <a:latin typeface="Times New Roman"/>
                <a:cs typeface="Times New Roman"/>
              </a:rPr>
              <a:t>09.04.04.</a:t>
            </a:r>
            <a:r>
              <a:rPr lang="ru-RU" sz="1800" spc="-15" dirty="0">
                <a:latin typeface="Times New Roman"/>
                <a:cs typeface="Times New Roman"/>
              </a:rPr>
              <a:t> </a:t>
            </a:r>
            <a:r>
              <a:rPr lang="ru-RU" sz="1800" dirty="0">
                <a:latin typeface="Times New Roman"/>
                <a:cs typeface="Times New Roman"/>
              </a:rPr>
              <a:t>–</a:t>
            </a:r>
            <a:r>
              <a:rPr lang="ru-RU" sz="1800" spc="-45" dirty="0">
                <a:latin typeface="Times New Roman"/>
                <a:cs typeface="Times New Roman"/>
              </a:rPr>
              <a:t> </a:t>
            </a:r>
            <a:r>
              <a:rPr lang="ru-RU" sz="1800" spc="-10" dirty="0">
                <a:latin typeface="Times New Roman"/>
                <a:cs typeface="Times New Roman"/>
              </a:rPr>
              <a:t>Программная</a:t>
            </a:r>
            <a:r>
              <a:rPr lang="en-GB" sz="1800" spc="-10" dirty="0">
                <a:latin typeface="Times New Roman"/>
                <a:cs typeface="Times New Roman"/>
              </a:rPr>
              <a:t> </a:t>
            </a:r>
            <a:r>
              <a:rPr lang="ru-RU" sz="1800" spc="-10" dirty="0">
                <a:latin typeface="Times New Roman"/>
                <a:cs typeface="Times New Roman"/>
              </a:rPr>
              <a:t>инженерия</a:t>
            </a:r>
            <a:endParaRPr lang="en-GB" sz="1800" spc="-10" dirty="0">
              <a:latin typeface="Times New Roman"/>
              <a:cs typeface="Times New Roman"/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6BA3BD3-3401-5CE9-DA7F-C5355EED6487}"/>
              </a:ext>
            </a:extLst>
          </p:cNvPr>
          <p:cNvSpPr txBox="1"/>
          <p:nvPr/>
        </p:nvSpPr>
        <p:spPr>
          <a:xfrm>
            <a:off x="2713182" y="381000"/>
            <a:ext cx="67656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latin typeface="Times New Roman"/>
                <a:cs typeface="Times New Roman"/>
              </a:rPr>
              <a:t>Проблемная</a:t>
            </a:r>
            <a:r>
              <a:rPr lang="ru-RU" sz="3600" spc="95" dirty="0">
                <a:latin typeface="Times New Roman"/>
                <a:cs typeface="Times New Roman"/>
              </a:rPr>
              <a:t> </a:t>
            </a:r>
            <a:r>
              <a:rPr lang="ru-RU" sz="3600" dirty="0">
                <a:latin typeface="Times New Roman"/>
                <a:cs typeface="Times New Roman"/>
              </a:rPr>
              <a:t>ситуация</a:t>
            </a:r>
            <a:r>
              <a:rPr lang="ru-RU" sz="3600" spc="100" dirty="0">
                <a:latin typeface="Times New Roman"/>
                <a:cs typeface="Times New Roman"/>
              </a:rPr>
              <a:t> </a:t>
            </a:r>
            <a:r>
              <a:rPr lang="ru-RU" sz="3600" dirty="0">
                <a:latin typeface="Times New Roman"/>
                <a:cs typeface="Times New Roman"/>
              </a:rPr>
              <a:t>в</a:t>
            </a:r>
            <a:r>
              <a:rPr lang="ru-RU" sz="3600" spc="50" dirty="0">
                <a:latin typeface="Times New Roman"/>
                <a:cs typeface="Times New Roman"/>
              </a:rPr>
              <a:t> </a:t>
            </a:r>
            <a:r>
              <a:rPr lang="ru-RU" sz="3600" spc="-10" dirty="0">
                <a:latin typeface="Times New Roman"/>
                <a:cs typeface="Times New Roman"/>
              </a:rPr>
              <a:t>области </a:t>
            </a:r>
            <a:r>
              <a:rPr lang="ru-RU" sz="3600" dirty="0">
                <a:latin typeface="Times New Roman"/>
                <a:cs typeface="Times New Roman"/>
              </a:rPr>
              <a:t>объекта</a:t>
            </a:r>
            <a:r>
              <a:rPr lang="en-GB" sz="3600" spc="60" dirty="0">
                <a:latin typeface="Times New Roman"/>
                <a:cs typeface="Times New Roman"/>
              </a:rPr>
              <a:t> </a:t>
            </a:r>
            <a:r>
              <a:rPr lang="ru-RU" sz="3600" spc="-10" dirty="0">
                <a:latin typeface="Times New Roman"/>
                <a:cs typeface="Times New Roman"/>
              </a:rPr>
              <a:t>исследования</a:t>
            </a:r>
            <a:endParaRPr lang="ru-RU" sz="3600" dirty="0">
              <a:latin typeface="Times New Roman"/>
              <a:cs typeface="Times New Roman"/>
            </a:endParaRPr>
          </a:p>
          <a:p>
            <a:endParaRPr lang="ru-RU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553A7A-879F-7902-43D0-7B26B13EE976}"/>
              </a:ext>
            </a:extLst>
          </p:cNvPr>
          <p:cNvSpPr txBox="1"/>
          <p:nvPr/>
        </p:nvSpPr>
        <p:spPr>
          <a:xfrm>
            <a:off x="228600" y="1970226"/>
            <a:ext cx="14129132" cy="3920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4795" marR="1993264">
              <a:lnSpc>
                <a:spcPct val="101699"/>
              </a:lnSpc>
              <a:spcBef>
                <a:spcPts val="1645"/>
              </a:spcBef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Отсутсвие точности прогнозирования времени в пути в условиях стохастической и многопараметрической дорожной среды.</a:t>
            </a:r>
          </a:p>
          <a:p>
            <a:pPr marL="264795" marR="1993264">
              <a:lnSpc>
                <a:spcPct val="101699"/>
              </a:lnSpc>
              <a:spcBef>
                <a:spcPts val="1645"/>
              </a:spcBef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4795">
              <a:lnSpc>
                <a:spcPct val="100000"/>
              </a:lnSpc>
              <a:spcBef>
                <a:spcPts val="5"/>
              </a:spcBef>
            </a:pPr>
            <a:r>
              <a:rPr lang="ru-RU" sz="2400" b="1" dirty="0">
                <a:latin typeface="Times New Roman"/>
                <a:cs typeface="Times New Roman"/>
              </a:rPr>
              <a:t>Причины</a:t>
            </a:r>
            <a:r>
              <a:rPr lang="ru-RU" sz="2400" b="1" spc="-65" dirty="0">
                <a:latin typeface="Times New Roman"/>
                <a:cs typeface="Times New Roman"/>
              </a:rPr>
              <a:t> </a:t>
            </a:r>
            <a:r>
              <a:rPr lang="ru-RU" sz="2400" b="1" dirty="0">
                <a:latin typeface="Times New Roman"/>
                <a:cs typeface="Times New Roman"/>
              </a:rPr>
              <a:t>сложившейся</a:t>
            </a:r>
            <a:r>
              <a:rPr lang="ru-RU" sz="2400" b="1" spc="-25" dirty="0">
                <a:latin typeface="Times New Roman"/>
                <a:cs typeface="Times New Roman"/>
              </a:rPr>
              <a:t> </a:t>
            </a:r>
            <a:r>
              <a:rPr lang="ru-RU" sz="2400" b="1" spc="-10" dirty="0">
                <a:latin typeface="Times New Roman"/>
                <a:cs typeface="Times New Roman"/>
              </a:rPr>
              <a:t>ситуации:</a:t>
            </a:r>
            <a:endParaRPr lang="ru-RU" sz="2400" dirty="0">
              <a:latin typeface="Times New Roman"/>
              <a:cs typeface="Times New Roman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учета вероятности ДТП и времени их устранения 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Ограниченное использование погодных факторов 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Статичность моделей трафика (AADT) 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Игнорирование типа дорожного покрытия 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интеграции ML и оптимизационных моделей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27EE3A-697F-C337-1E9C-6F8155D5B2C1}"/>
              </a:ext>
            </a:extLst>
          </p:cNvPr>
          <p:cNvSpPr txBox="1"/>
          <p:nvPr/>
        </p:nvSpPr>
        <p:spPr>
          <a:xfrm>
            <a:off x="3322484" y="304800"/>
            <a:ext cx="55470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lang="ru-RU" sz="36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ru-RU" sz="3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ru-RU" sz="36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диссертации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912282-D793-E71A-D9AC-35ACFE95336A}"/>
              </a:ext>
            </a:extLst>
          </p:cNvPr>
          <p:cNvSpPr txBox="1"/>
          <p:nvPr/>
        </p:nvSpPr>
        <p:spPr>
          <a:xfrm>
            <a:off x="31750" y="1219200"/>
            <a:ext cx="12160250" cy="51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4795" marR="0" lvl="0" indent="0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lang="ru-RU" sz="24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работы:</a:t>
            </a:r>
            <a:r>
              <a:rPr lang="ru-RU" sz="2400" b="1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предиктивной модели маршрутизации, обеспечивающей повышение точности прогнозирования времени с учётом стохастических факторов дорожной среды.</a:t>
            </a:r>
          </a:p>
          <a:p>
            <a:pPr marL="264795">
              <a:lnSpc>
                <a:spcPct val="100000"/>
              </a:lnSpc>
              <a:spcBef>
                <a:spcPts val="2230"/>
              </a:spcBef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ru-RU" sz="2400" b="1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работы: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7060" marR="69215" lvl="7" indent="-342265">
              <a:lnSpc>
                <a:spcPts val="2850"/>
              </a:lnSpc>
              <a:spcBef>
                <a:spcPts val="170"/>
              </a:spcBef>
              <a:buAutoNum type="arabicPeriod"/>
              <a:tabLst>
                <a:tab pos="608330" algn="l"/>
              </a:tabLst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Аналитический</a:t>
            </a:r>
            <a:r>
              <a:rPr lang="ru-RU" sz="2400" spc="3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обзор</a:t>
            </a:r>
            <a:r>
              <a:rPr lang="ru-RU" sz="2400" spc="3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существующих</a:t>
            </a:r>
            <a:r>
              <a:rPr lang="ru-RU" sz="2400" spc="3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моделей,</a:t>
            </a:r>
            <a:r>
              <a:rPr lang="ru-RU" sz="2400" spc="3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ru-RU" sz="2400" spc="3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методов,</a:t>
            </a:r>
            <a:r>
              <a:rPr lang="ru-RU" sz="2400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ru-RU" sz="2400" spc="3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специализированного 	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lang="ru-RU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lang="ru-RU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построения</a:t>
            </a:r>
            <a:r>
              <a:rPr lang="ru-RU"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маршрута.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7060" lvl="7" indent="-342265">
              <a:lnSpc>
                <a:spcPts val="2770"/>
              </a:lnSpc>
              <a:buAutoNum type="arabicPeriod"/>
              <a:tabLst>
                <a:tab pos="607060" algn="l"/>
                <a:tab pos="2701290" algn="l"/>
                <a:tab pos="3744595" algn="l"/>
                <a:tab pos="5426075" algn="l"/>
                <a:tab pos="6777990" algn="l"/>
                <a:tab pos="8260715" algn="l"/>
                <a:tab pos="8603615" algn="l"/>
                <a:tab pos="9970770" algn="l"/>
              </a:tabLst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Формализовать транспортную сеть в виде графовой модели</a:t>
            </a:r>
          </a:p>
          <a:p>
            <a:pPr marL="607060" lvl="7" indent="-342265">
              <a:lnSpc>
                <a:spcPts val="2770"/>
              </a:lnSpc>
              <a:buAutoNum type="arabicPeriod"/>
              <a:tabLst>
                <a:tab pos="607060" algn="l"/>
                <a:tab pos="2701290" algn="l"/>
                <a:tab pos="3744595" algn="l"/>
                <a:tab pos="5426075" algn="l"/>
                <a:tab pos="6777990" algn="l"/>
                <a:tab pos="8260715" algn="l"/>
                <a:tab pos="8603615" algn="l"/>
                <a:tab pos="9970770" algn="l"/>
              </a:tabLst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Учесть влияние погоды, трафика и типа покрытия </a:t>
            </a:r>
          </a:p>
          <a:p>
            <a:pPr marL="607060" lvl="7" indent="-342265">
              <a:lnSpc>
                <a:spcPts val="2770"/>
              </a:lnSpc>
              <a:buAutoNum type="arabicPeriod"/>
              <a:tabLst>
                <a:tab pos="607060" algn="l"/>
                <a:tab pos="2701290" algn="l"/>
                <a:tab pos="3744595" algn="l"/>
                <a:tab pos="5426075" algn="l"/>
                <a:tab pos="6777990" algn="l"/>
                <a:tab pos="8260715" algn="l"/>
                <a:tab pos="8603615" algn="l"/>
                <a:tab pos="9970770" algn="l"/>
              </a:tabLst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Смоделировать вероятность ДТП и время их устранения </a:t>
            </a:r>
          </a:p>
          <a:p>
            <a:pPr marL="607060" lvl="7" indent="-342265">
              <a:lnSpc>
                <a:spcPts val="2770"/>
              </a:lnSpc>
              <a:buAutoNum type="arabicPeriod"/>
              <a:tabLst>
                <a:tab pos="607060" algn="l"/>
                <a:tab pos="2701290" algn="l"/>
                <a:tab pos="3744595" algn="l"/>
                <a:tab pos="5426075" algn="l"/>
                <a:tab pos="6777990" algn="l"/>
                <a:tab pos="8260715" algn="l"/>
                <a:tab pos="8603615" algn="l"/>
                <a:tab pos="9970770" algn="l"/>
              </a:tabLst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Интегрировать ML-модель в задачу оптимизации маршрутов </a:t>
            </a:r>
          </a:p>
          <a:p>
            <a:pPr marL="607060" lvl="7" indent="-342265">
              <a:lnSpc>
                <a:spcPts val="2770"/>
              </a:lnSpc>
              <a:buAutoNum type="arabicPeriod"/>
              <a:tabLst>
                <a:tab pos="607060" algn="l"/>
                <a:tab pos="2701290" algn="l"/>
                <a:tab pos="3744595" algn="l"/>
                <a:tab pos="5426075" algn="l"/>
                <a:tab pos="6777990" algn="l"/>
                <a:tab pos="8260715" algn="l"/>
                <a:tab pos="8603615" algn="l"/>
                <a:tab pos="9970770" algn="l"/>
              </a:tabLst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алгоритм OPT-2 для вычисления наилучшего маршрута, при помощи полученной модели </a:t>
            </a:r>
          </a:p>
          <a:p>
            <a:pPr marL="607060" lvl="7" indent="-342265">
              <a:lnSpc>
                <a:spcPts val="2770"/>
              </a:lnSpc>
              <a:buAutoNum type="arabicPeriod"/>
              <a:tabLst>
                <a:tab pos="607060" algn="l"/>
                <a:tab pos="2701290" algn="l"/>
                <a:tab pos="3744595" algn="l"/>
                <a:tab pos="5426075" algn="l"/>
                <a:tab pos="6777990" algn="l"/>
                <a:tab pos="8260715" algn="l"/>
                <a:tab pos="8603615" algn="l"/>
                <a:tab pos="9970770" algn="l"/>
              </a:tabLst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оценку точности и эффективности модели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0AA45B-66E3-E12C-F49E-99816EC49570}"/>
              </a:ext>
            </a:extLst>
          </p:cNvPr>
          <p:cNvSpPr txBox="1"/>
          <p:nvPr/>
        </p:nvSpPr>
        <p:spPr>
          <a:xfrm>
            <a:off x="3886100" y="345337"/>
            <a:ext cx="44198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защиту выносятся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987E8A-00EB-DD7F-FB4D-A567066EE7DF}"/>
              </a:ext>
            </a:extLst>
          </p:cNvPr>
          <p:cNvSpPr txBox="1"/>
          <p:nvPr/>
        </p:nvSpPr>
        <p:spPr>
          <a:xfrm>
            <a:off x="-152400" y="1539796"/>
            <a:ext cx="12160250" cy="377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99465" lvl="1" indent="-342265">
              <a:lnSpc>
                <a:spcPts val="2865"/>
              </a:lnSpc>
              <a:spcBef>
                <a:spcPts val="5"/>
              </a:spcBef>
              <a:buAutoNum type="arabicPeriod"/>
              <a:tabLst>
                <a:tab pos="342265" algn="l"/>
              </a:tabLst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Математическая модель логистической системы перевозок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учитывающая динамические и стохастические факторы дорожного движения</a:t>
            </a:r>
          </a:p>
          <a:p>
            <a:pPr marL="799465" lvl="1" indent="-342265">
              <a:lnSpc>
                <a:spcPts val="2865"/>
              </a:lnSpc>
              <a:spcBef>
                <a:spcPts val="5"/>
              </a:spcBef>
              <a:buAutoNum type="arabicPeriod"/>
              <a:tabLst>
                <a:tab pos="342265" algn="l"/>
              </a:tabLst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Гибридный алгоритм,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сочетающий предиктивную модель и методы локальной оптимизации, обладающий адаптивностью к изменяющимся условиям транспортной среды и сниженной вычислительной сложностью. </a:t>
            </a:r>
          </a:p>
          <a:p>
            <a:pPr marL="799465" lvl="1" indent="-342265">
              <a:lnSpc>
                <a:spcPts val="2865"/>
              </a:lnSpc>
              <a:spcBef>
                <a:spcPts val="5"/>
              </a:spcBef>
              <a:buAutoNum type="arabicPeriod"/>
              <a:tabLst>
                <a:tab pos="342265" algn="l"/>
              </a:tabLst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Предиктивная модель оценки параметров движения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интегрированная в задачу маршрутизации и учитывающая влияние внешних факторов на время прохождения рёбер графа. </a:t>
            </a:r>
          </a:p>
          <a:p>
            <a:pPr marL="799465" lvl="1" indent="-342265">
              <a:lnSpc>
                <a:spcPts val="2865"/>
              </a:lnSpc>
              <a:spcBef>
                <a:spcPts val="5"/>
              </a:spcBef>
              <a:buAutoNum type="arabicPeriod"/>
              <a:tabLst>
                <a:tab pos="342265" algn="l"/>
              </a:tabLst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Программная реализация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алгоритма и модели в виде прогаммного кмоплекса. </a:t>
            </a:r>
          </a:p>
          <a:p>
            <a:pPr marL="799465" lvl="1" indent="-342265">
              <a:lnSpc>
                <a:spcPts val="2865"/>
              </a:lnSpc>
              <a:spcBef>
                <a:spcPts val="5"/>
              </a:spcBef>
              <a:buAutoNum type="arabicPeriod"/>
              <a:tabLst>
                <a:tab pos="342265" algn="l"/>
              </a:tabLst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экспериментальных исследований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демонстрирующие повышение эффективности маршрутизации (снижение ошибки прогнозирования и времени доставки).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BAA53082-C5DF-E4D7-EF4B-F35806561F68}"/>
              </a:ext>
            </a:extLst>
          </p:cNvPr>
          <p:cNvSpPr txBox="1"/>
          <p:nvPr/>
        </p:nvSpPr>
        <p:spPr>
          <a:xfrm>
            <a:off x="1892359" y="228600"/>
            <a:ext cx="84072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5260" algn="ctr">
              <a:lnSpc>
                <a:spcPct val="100000"/>
              </a:lnSpc>
              <a:spcBef>
                <a:spcPts val="1595"/>
              </a:spcBef>
            </a:pPr>
            <a:r>
              <a:rPr lang="ru-RU" sz="3600" dirty="0">
                <a:latin typeface="Times New Roman"/>
                <a:cs typeface="Times New Roman"/>
              </a:rPr>
              <a:t>Формализованное</a:t>
            </a:r>
            <a:r>
              <a:rPr lang="en-GB" sz="3600" spc="-70" dirty="0">
                <a:latin typeface="Times New Roman"/>
                <a:cs typeface="Times New Roman"/>
              </a:rPr>
              <a:t> </a:t>
            </a:r>
            <a:r>
              <a:rPr lang="ru-RU" sz="3600" dirty="0">
                <a:latin typeface="Times New Roman"/>
                <a:cs typeface="Times New Roman"/>
              </a:rPr>
              <a:t>представление</a:t>
            </a:r>
            <a:r>
              <a:rPr lang="ru-RU" sz="3600" spc="-60" dirty="0">
                <a:latin typeface="Times New Roman"/>
                <a:cs typeface="Times New Roman"/>
              </a:rPr>
              <a:t> </a:t>
            </a:r>
            <a:r>
              <a:rPr lang="ru-RU" sz="3600" spc="-10" dirty="0">
                <a:latin typeface="Times New Roman"/>
                <a:cs typeface="Times New Roman"/>
              </a:rPr>
              <a:t>задачи</a:t>
            </a:r>
            <a:endParaRPr lang="ru-RU" sz="3600" dirty="0">
              <a:latin typeface="Times New Roman"/>
              <a:cs typeface="Times New Roman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6B4F6BF-D81B-AD82-5CDD-14EA7CA93658}"/>
              </a:ext>
            </a:extLst>
          </p:cNvPr>
          <p:cNvGrpSpPr/>
          <p:nvPr/>
        </p:nvGrpSpPr>
        <p:grpSpPr>
          <a:xfrm>
            <a:off x="3274605" y="1066800"/>
            <a:ext cx="5642790" cy="989649"/>
            <a:chOff x="3453241" y="919617"/>
            <a:chExt cx="5642790" cy="989649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C3C5891-195E-B28E-1F66-44894352EA7F}"/>
                </a:ext>
              </a:extLst>
            </p:cNvPr>
            <p:cNvSpPr txBox="1"/>
            <p:nvPr/>
          </p:nvSpPr>
          <p:spPr>
            <a:xfrm>
              <a:off x="4483120" y="919617"/>
              <a:ext cx="358303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2000" b="1" dirty="0">
                  <a:solidFill>
                    <a:schemeClr val="tx1"/>
                  </a:solidFill>
                </a:rPr>
                <a:t>Целевая функция модели</a:t>
              </a:r>
              <a:r>
                <a:rPr lang="en-GB" sz="2000" b="1" dirty="0">
                  <a:solidFill>
                    <a:schemeClr val="tx1"/>
                  </a:solidFill>
                </a:rPr>
                <a:t>:</a:t>
              </a:r>
              <a:endParaRPr lang="ru-RU" sz="2000" b="1" dirty="0">
                <a:solidFill>
                  <a:schemeClr val="tx1"/>
                </a:solidFill>
                <a:latin typeface="Times New Roman"/>
                <a:cs typeface="Times New Roman"/>
              </a:endParaRPr>
            </a:p>
            <a:p>
              <a:endParaRPr lang="ru-RU" sz="2000" dirty="0">
                <a:solidFill>
                  <a:schemeClr val="tx1"/>
                </a:solidFill>
              </a:endParaRP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C70A06FD-1858-B060-6CBF-A91E1E3A07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</a:blip>
            <a:srcRect l="3329" t="5345" r="4836" b="26410"/>
            <a:stretch/>
          </p:blipFill>
          <p:spPr>
            <a:xfrm>
              <a:off x="3453241" y="1415176"/>
              <a:ext cx="5642790" cy="49409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C77171B-F027-B169-85EB-3052FA484FA0}"/>
              </a:ext>
            </a:extLst>
          </p:cNvPr>
          <p:cNvGrpSpPr/>
          <p:nvPr/>
        </p:nvGrpSpPr>
        <p:grpSpPr>
          <a:xfrm>
            <a:off x="306186" y="3994398"/>
            <a:ext cx="5736761" cy="2330454"/>
            <a:chOff x="206839" y="2911376"/>
            <a:chExt cx="5736761" cy="2330454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399DA1B9-9413-856F-E4BE-F7315E2820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biLevel thresh="50000"/>
            </a:blip>
            <a:stretch>
              <a:fillRect/>
            </a:stretch>
          </p:blipFill>
          <p:spPr>
            <a:xfrm>
              <a:off x="300810" y="3288221"/>
              <a:ext cx="5642790" cy="195360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20BFEE2-D6E0-A71D-C918-6EA427B02311}"/>
                </a:ext>
              </a:extLst>
            </p:cNvPr>
            <p:cNvSpPr txBox="1"/>
            <p:nvPr/>
          </p:nvSpPr>
          <p:spPr>
            <a:xfrm>
              <a:off x="206839" y="2911376"/>
              <a:ext cx="31470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b="1" dirty="0"/>
                <a:t>Расшифровка признаков:</a:t>
              </a:r>
              <a:endParaRPr lang="ru-RU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7BAEF9D-89E4-30FF-DEE8-5ACDF99869E1}"/>
              </a:ext>
            </a:extLst>
          </p:cNvPr>
          <p:cNvGrpSpPr/>
          <p:nvPr/>
        </p:nvGrpSpPr>
        <p:grpSpPr>
          <a:xfrm>
            <a:off x="6248400" y="3380777"/>
            <a:ext cx="5642790" cy="741889"/>
            <a:chOff x="6274636" y="3013417"/>
            <a:chExt cx="5642790" cy="741889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DE4E897-D81E-5E13-0309-D8268A2616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biLevel thresh="75000"/>
            </a:blip>
            <a:srcRect l="2097" t="17556" r="7882" b="10693"/>
            <a:stretch/>
          </p:blipFill>
          <p:spPr>
            <a:xfrm>
              <a:off x="6274636" y="3385974"/>
              <a:ext cx="5642790" cy="36933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D738837-D8CA-292D-6D65-F752AB4D6C6A}"/>
                </a:ext>
              </a:extLst>
            </p:cNvPr>
            <p:cNvSpPr txBox="1"/>
            <p:nvPr/>
          </p:nvSpPr>
          <p:spPr>
            <a:xfrm>
              <a:off x="7848600" y="3013417"/>
              <a:ext cx="228940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800" b="1" dirty="0"/>
                <a:t>Вероятность ДТП</a:t>
              </a:r>
              <a:r>
                <a:rPr lang="en-GB" b="1" dirty="0"/>
                <a:t>:</a:t>
              </a:r>
              <a:endParaRPr lang="ru-RU" sz="1800" b="1" dirty="0">
                <a:latin typeface="Times New Roman"/>
                <a:cs typeface="Times New Roman"/>
              </a:endParaRPr>
            </a:p>
            <a:p>
              <a:endParaRPr lang="ru-RU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31F1E44-4081-D090-A36D-1515550649F8}"/>
              </a:ext>
            </a:extLst>
          </p:cNvPr>
          <p:cNvGrpSpPr/>
          <p:nvPr/>
        </p:nvGrpSpPr>
        <p:grpSpPr>
          <a:xfrm>
            <a:off x="7422785" y="4531105"/>
            <a:ext cx="3088566" cy="1624688"/>
            <a:chOff x="7327738" y="4420308"/>
            <a:chExt cx="3088566" cy="1624688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0EA82957-2117-3728-5330-C4CAB224A73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biLevel thresh="50000"/>
            </a:blip>
            <a:srcRect r="8929"/>
            <a:stretch/>
          </p:blipFill>
          <p:spPr>
            <a:xfrm>
              <a:off x="7327738" y="4806573"/>
              <a:ext cx="3088566" cy="123842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35A559F-A727-60C9-079F-480C76460B16}"/>
                </a:ext>
              </a:extLst>
            </p:cNvPr>
            <p:cNvSpPr txBox="1"/>
            <p:nvPr/>
          </p:nvSpPr>
          <p:spPr>
            <a:xfrm>
              <a:off x="7736133" y="4420308"/>
              <a:ext cx="22717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800" b="1" dirty="0"/>
                <a:t>Предикат Аварии:</a:t>
              </a:r>
              <a:endParaRPr lang="ru-RU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D406C7A-6008-D484-1B5D-F8687016DC18}"/>
              </a:ext>
            </a:extLst>
          </p:cNvPr>
          <p:cNvGrpSpPr/>
          <p:nvPr/>
        </p:nvGrpSpPr>
        <p:grpSpPr>
          <a:xfrm>
            <a:off x="166806" y="2362125"/>
            <a:ext cx="7004234" cy="935282"/>
            <a:chOff x="166806" y="2362125"/>
            <a:chExt cx="7004234" cy="935282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F5DF45F2-F849-5CB8-B136-D8C41773E70D}"/>
                </a:ext>
              </a:extLst>
            </p:cNvPr>
            <p:cNvGrpSpPr/>
            <p:nvPr/>
          </p:nvGrpSpPr>
          <p:grpSpPr>
            <a:xfrm>
              <a:off x="166806" y="2377110"/>
              <a:ext cx="7004234" cy="920297"/>
              <a:chOff x="206839" y="1991079"/>
              <a:chExt cx="7004234" cy="920297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93C32AA9-5D50-9460-0F73-2DC8B5EC31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biLevel thresh="50000"/>
              </a:blip>
              <a:srcRect r="4676" b="6228"/>
              <a:stretch/>
            </p:blipFill>
            <p:spPr>
              <a:xfrm>
                <a:off x="255112" y="2375396"/>
                <a:ext cx="6955961" cy="53598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BA8BE2D-3CB5-E80C-6A11-CB135BBFEEA6}"/>
                  </a:ext>
                </a:extLst>
              </p:cNvPr>
              <p:cNvSpPr txBox="1"/>
              <p:nvPr/>
            </p:nvSpPr>
            <p:spPr>
              <a:xfrm>
                <a:off x="206839" y="1991079"/>
                <a:ext cx="45833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b="1" dirty="0"/>
                  <a:t>Раскрытие предективной модели</a:t>
                </a:r>
                <a:r>
                  <a:rPr lang="en-GB" b="1" dirty="0"/>
                  <a:t>     </a:t>
                </a:r>
                <a:r>
                  <a:rPr lang="ru-RU" b="1" dirty="0"/>
                  <a:t> </a:t>
                </a:r>
                <a:r>
                  <a:rPr lang="fr-FR" dirty="0"/>
                  <a:t>​</a:t>
                </a:r>
                <a:r>
                  <a:rPr lang="ru-RU" b="1" dirty="0"/>
                  <a:t>:</a:t>
                </a:r>
                <a:endParaRPr lang="ru-RU" dirty="0"/>
              </a:p>
            </p:txBody>
          </p:sp>
        </p:grp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E0532525-2078-EEAC-15A5-6FB8DF75DA0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172661" y="2362125"/>
              <a:ext cx="317614" cy="34597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2">
            <a:extLst>
              <a:ext uri="{FF2B5EF4-FFF2-40B4-BE49-F238E27FC236}">
                <a16:creationId xmlns:a16="http://schemas.microsoft.com/office/drawing/2014/main" id="{4C299FCE-D6F2-901B-8057-7EC1A9F3EE06}"/>
              </a:ext>
            </a:extLst>
          </p:cNvPr>
          <p:cNvSpPr/>
          <p:nvPr/>
        </p:nvSpPr>
        <p:spPr>
          <a:xfrm>
            <a:off x="274320" y="566928"/>
            <a:ext cx="5349240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5" name="Text 3">
            <a:extLst>
              <a:ext uri="{FF2B5EF4-FFF2-40B4-BE49-F238E27FC236}">
                <a16:creationId xmlns:a16="http://schemas.microsoft.com/office/drawing/2014/main" id="{E0EA7950-47A6-CB22-59B9-062C65F9BCF1}"/>
              </a:ext>
            </a:extLst>
          </p:cNvPr>
          <p:cNvSpPr/>
          <p:nvPr/>
        </p:nvSpPr>
        <p:spPr>
          <a:xfrm>
            <a:off x="274320" y="566928"/>
            <a:ext cx="5349240" cy="23774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buNone/>
            </a:pPr>
            <a:r>
              <a:rPr lang="ru-RU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Входные данные</a:t>
            </a:r>
            <a:endParaRPr lang="en-US" sz="1000" dirty="0"/>
          </a:p>
        </p:txBody>
      </p:sp>
      <p:sp>
        <p:nvSpPr>
          <p:cNvPr id="76" name="Shape 4">
            <a:extLst>
              <a:ext uri="{FF2B5EF4-FFF2-40B4-BE49-F238E27FC236}">
                <a16:creationId xmlns:a16="http://schemas.microsoft.com/office/drawing/2014/main" id="{5BCF9CF2-C407-C926-3CC3-CFE879F8756A}"/>
              </a:ext>
            </a:extLst>
          </p:cNvPr>
          <p:cNvSpPr/>
          <p:nvPr/>
        </p:nvSpPr>
        <p:spPr>
          <a:xfrm>
            <a:off x="274320" y="804672"/>
            <a:ext cx="5349240" cy="1033272"/>
          </a:xfrm>
          <a:prstGeom prst="rect">
            <a:avLst/>
          </a:prstGeom>
          <a:solidFill>
            <a:srgbClr val="F4F7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7" name="Text 5">
            <a:extLst>
              <a:ext uri="{FF2B5EF4-FFF2-40B4-BE49-F238E27FC236}">
                <a16:creationId xmlns:a16="http://schemas.microsoft.com/office/drawing/2014/main" id="{1CFAE132-F4CA-071F-4A0A-462AC18D436B}"/>
              </a:ext>
            </a:extLst>
          </p:cNvPr>
          <p:cNvSpPr/>
          <p:nvPr/>
        </p:nvSpPr>
        <p:spPr>
          <a:xfrm>
            <a:off x="384048" y="919978"/>
            <a:ext cx="5129784" cy="822960"/>
          </a:xfrm>
          <a:prstGeom prst="rect">
            <a:avLst/>
          </a:prstGeom>
          <a:noFill/>
          <a:ln/>
        </p:spPr>
        <p:txBody>
          <a:bodyPr wrap="square" lIns="2540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= (V, E)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граф дорожной сети
</a:t>
            </a: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1000" i="1" baseline="-40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длина сегмента i→j [км]  |  </a:t>
            </a: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r>
              <a:rPr lang="en-US" sz="1000" i="1" baseline="-40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90 км/ч — базовая скорость
</a:t>
            </a: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r>
              <a:rPr lang="en-US" sz="1000" i="1" baseline="-40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расстояние до полицейского поста [км]
</a:t>
            </a: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H(road_id, hour, day)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функция архивного времени НЗТА [мин/10 км]</a:t>
            </a:r>
            <a:endParaRPr lang="en-US" sz="1000" dirty="0"/>
          </a:p>
        </p:txBody>
      </p:sp>
      <p:sp>
        <p:nvSpPr>
          <p:cNvPr id="78" name="Shape 6">
            <a:extLst>
              <a:ext uri="{FF2B5EF4-FFF2-40B4-BE49-F238E27FC236}">
                <a16:creationId xmlns:a16="http://schemas.microsoft.com/office/drawing/2014/main" id="{456C19DE-BAEC-ACDA-FC94-EDECA3F69AF0}"/>
              </a:ext>
            </a:extLst>
          </p:cNvPr>
          <p:cNvSpPr/>
          <p:nvPr/>
        </p:nvSpPr>
        <p:spPr>
          <a:xfrm>
            <a:off x="274320" y="1847088"/>
            <a:ext cx="5349240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9" name="Text 7">
            <a:extLst>
              <a:ext uri="{FF2B5EF4-FFF2-40B4-BE49-F238E27FC236}">
                <a16:creationId xmlns:a16="http://schemas.microsoft.com/office/drawing/2014/main" id="{07416D40-ACED-964B-8C6F-8ADBCED43A14}"/>
              </a:ext>
            </a:extLst>
          </p:cNvPr>
          <p:cNvSpPr/>
          <p:nvPr/>
        </p:nvSpPr>
        <p:spPr>
          <a:xfrm>
            <a:off x="274320" y="1847088"/>
            <a:ext cx="5349240" cy="23774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buNone/>
            </a:pPr>
            <a:r>
              <a:rPr lang="ru-RU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Коэффициенты модели</a:t>
            </a:r>
            <a:endParaRPr lang="en-US" sz="1000" dirty="0"/>
          </a:p>
        </p:txBody>
      </p:sp>
      <p:sp>
        <p:nvSpPr>
          <p:cNvPr id="80" name="Shape 8">
            <a:extLst>
              <a:ext uri="{FF2B5EF4-FFF2-40B4-BE49-F238E27FC236}">
                <a16:creationId xmlns:a16="http://schemas.microsoft.com/office/drawing/2014/main" id="{1D8C1E85-A013-2BD7-CDB0-E674969321F3}"/>
              </a:ext>
            </a:extLst>
          </p:cNvPr>
          <p:cNvSpPr/>
          <p:nvPr/>
        </p:nvSpPr>
        <p:spPr>
          <a:xfrm>
            <a:off x="274320" y="2084832"/>
            <a:ext cx="5349240" cy="1261872"/>
          </a:xfrm>
          <a:prstGeom prst="rect">
            <a:avLst/>
          </a:prstGeom>
          <a:solidFill>
            <a:srgbClr val="F4F7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1" name="Shape 9">
            <a:extLst>
              <a:ext uri="{FF2B5EF4-FFF2-40B4-BE49-F238E27FC236}">
                <a16:creationId xmlns:a16="http://schemas.microsoft.com/office/drawing/2014/main" id="{F9A60576-D4B4-2693-4F0F-ABF061E1796B}"/>
              </a:ext>
            </a:extLst>
          </p:cNvPr>
          <p:cNvSpPr/>
          <p:nvPr/>
        </p:nvSpPr>
        <p:spPr>
          <a:xfrm>
            <a:off x="292608" y="2084832"/>
            <a:ext cx="877824" cy="411480"/>
          </a:xfrm>
          <a:prstGeom prst="rect">
            <a:avLst/>
          </a:prstGeom>
          <a:solidFill>
            <a:srgbClr val="D6E4F0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82" name="Text 10">
            <a:extLst>
              <a:ext uri="{FF2B5EF4-FFF2-40B4-BE49-F238E27FC236}">
                <a16:creationId xmlns:a16="http://schemas.microsoft.com/office/drawing/2014/main" id="{D31FB5F3-C7FC-9450-92BC-3C0A6E6421F5}"/>
              </a:ext>
            </a:extLst>
          </p:cNvPr>
          <p:cNvSpPr/>
          <p:nvPr/>
        </p:nvSpPr>
        <p:spPr>
          <a:xfrm>
            <a:off x="310896" y="2084832"/>
            <a:ext cx="84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K_покр</a:t>
            </a:r>
            <a:endParaRPr lang="en-US" sz="900" dirty="0"/>
          </a:p>
        </p:txBody>
      </p:sp>
      <p:sp>
        <p:nvSpPr>
          <p:cNvPr id="83" name="Shape 11">
            <a:extLst>
              <a:ext uri="{FF2B5EF4-FFF2-40B4-BE49-F238E27FC236}">
                <a16:creationId xmlns:a16="http://schemas.microsoft.com/office/drawing/2014/main" id="{CD8FBAE8-43DE-79AF-2D31-60F52680ABD4}"/>
              </a:ext>
            </a:extLst>
          </p:cNvPr>
          <p:cNvSpPr/>
          <p:nvPr/>
        </p:nvSpPr>
        <p:spPr>
          <a:xfrm>
            <a:off x="1188720" y="2084832"/>
            <a:ext cx="2249424" cy="411480"/>
          </a:xfrm>
          <a:prstGeom prst="rect">
            <a:avLst/>
          </a:prstGeom>
          <a:solidFill>
            <a:srgbClr val="E9EFF7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84" name="Text 12">
            <a:extLst>
              <a:ext uri="{FF2B5EF4-FFF2-40B4-BE49-F238E27FC236}">
                <a16:creationId xmlns:a16="http://schemas.microsoft.com/office/drawing/2014/main" id="{1A4B2FCC-C2CF-1CA4-CC4B-D61BCD884ED8}"/>
              </a:ext>
            </a:extLst>
          </p:cNvPr>
          <p:cNvSpPr/>
          <p:nvPr/>
        </p:nvSpPr>
        <p:spPr>
          <a:xfrm>
            <a:off x="1207008" y="2084832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1,00/0,95/0,8</a:t>
            </a:r>
            <a:r>
              <a:rPr lang="ru-RU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/0,7</a:t>
            </a:r>
            <a:r>
              <a:rPr lang="ru-RU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/0,</a:t>
            </a:r>
            <a:r>
              <a:rPr lang="ru-RU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/0,</a:t>
            </a:r>
            <a:r>
              <a:rPr lang="ru-RU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000" dirty="0"/>
          </a:p>
        </p:txBody>
      </p:sp>
      <p:sp>
        <p:nvSpPr>
          <p:cNvPr id="85" name="Shape 13">
            <a:extLst>
              <a:ext uri="{FF2B5EF4-FFF2-40B4-BE49-F238E27FC236}">
                <a16:creationId xmlns:a16="http://schemas.microsoft.com/office/drawing/2014/main" id="{449571B2-CC33-384D-9D49-DB73E06D6267}"/>
              </a:ext>
            </a:extLst>
          </p:cNvPr>
          <p:cNvSpPr/>
          <p:nvPr/>
        </p:nvSpPr>
        <p:spPr>
          <a:xfrm>
            <a:off x="3456432" y="2084832"/>
            <a:ext cx="2167128" cy="411480"/>
          </a:xfrm>
          <a:prstGeom prst="rect">
            <a:avLst/>
          </a:prstGeom>
          <a:solidFill>
            <a:srgbClr val="E9EFF7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86" name="Text 14">
            <a:extLst>
              <a:ext uri="{FF2B5EF4-FFF2-40B4-BE49-F238E27FC236}">
                <a16:creationId xmlns:a16="http://schemas.microsoft.com/office/drawing/2014/main" id="{ED522F9B-8A88-844E-F36E-2065FE9E417F}"/>
              </a:ext>
            </a:extLst>
          </p:cNvPr>
          <p:cNvSpPr/>
          <p:nvPr/>
        </p:nvSpPr>
        <p:spPr>
          <a:xfrm>
            <a:off x="3474720" y="2084832"/>
            <a:ext cx="2048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хор.асф/бетон/гравий/пов.асф/грунт/песок</a:t>
            </a:r>
            <a:endParaRPr lang="en-US" sz="1000" dirty="0"/>
          </a:p>
        </p:txBody>
      </p:sp>
      <p:sp>
        <p:nvSpPr>
          <p:cNvPr id="87" name="Shape 15">
            <a:extLst>
              <a:ext uri="{FF2B5EF4-FFF2-40B4-BE49-F238E27FC236}">
                <a16:creationId xmlns:a16="http://schemas.microsoft.com/office/drawing/2014/main" id="{87CF79DD-A675-8508-4D1E-0C9FCAEC75A7}"/>
              </a:ext>
            </a:extLst>
          </p:cNvPr>
          <p:cNvSpPr/>
          <p:nvPr/>
        </p:nvSpPr>
        <p:spPr>
          <a:xfrm>
            <a:off x="292608" y="2505456"/>
            <a:ext cx="877824" cy="411480"/>
          </a:xfrm>
          <a:prstGeom prst="rect">
            <a:avLst/>
          </a:prstGeom>
          <a:solidFill>
            <a:srgbClr val="D6E4F0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88" name="Text 16">
            <a:extLst>
              <a:ext uri="{FF2B5EF4-FFF2-40B4-BE49-F238E27FC236}">
                <a16:creationId xmlns:a16="http://schemas.microsoft.com/office/drawing/2014/main" id="{FB54F20A-74CF-0644-EC35-7BA1D1CB2961}"/>
              </a:ext>
            </a:extLst>
          </p:cNvPr>
          <p:cNvSpPr/>
          <p:nvPr/>
        </p:nvSpPr>
        <p:spPr>
          <a:xfrm>
            <a:off x="310896" y="2505456"/>
            <a:ext cx="84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K_погода</a:t>
            </a:r>
            <a:endParaRPr lang="en-US" sz="900" dirty="0"/>
          </a:p>
        </p:txBody>
      </p:sp>
      <p:sp>
        <p:nvSpPr>
          <p:cNvPr id="89" name="Shape 17">
            <a:extLst>
              <a:ext uri="{FF2B5EF4-FFF2-40B4-BE49-F238E27FC236}">
                <a16:creationId xmlns:a16="http://schemas.microsoft.com/office/drawing/2014/main" id="{5B4047AD-E069-B6F5-3798-3B5713FFEE79}"/>
              </a:ext>
            </a:extLst>
          </p:cNvPr>
          <p:cNvSpPr/>
          <p:nvPr/>
        </p:nvSpPr>
        <p:spPr>
          <a:xfrm>
            <a:off x="1188720" y="2505456"/>
            <a:ext cx="2249424" cy="411480"/>
          </a:xfrm>
          <a:prstGeom prst="rect">
            <a:avLst/>
          </a:prstGeom>
          <a:solidFill>
            <a:srgbClr val="F4F7FB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90" name="Text 18">
            <a:extLst>
              <a:ext uri="{FF2B5EF4-FFF2-40B4-BE49-F238E27FC236}">
                <a16:creationId xmlns:a16="http://schemas.microsoft.com/office/drawing/2014/main" id="{284B6246-FE3C-229B-8187-817019C60B50}"/>
              </a:ext>
            </a:extLst>
          </p:cNvPr>
          <p:cNvSpPr/>
          <p:nvPr/>
        </p:nvSpPr>
        <p:spPr>
          <a:xfrm>
            <a:off x="1207008" y="2505456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 / 0,</a:t>
            </a:r>
            <a:r>
              <a:rPr lang="ru-RU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0,6</a:t>
            </a:r>
            <a:r>
              <a:rPr lang="ru-RU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91" name="Shape 19">
            <a:extLst>
              <a:ext uri="{FF2B5EF4-FFF2-40B4-BE49-F238E27FC236}">
                <a16:creationId xmlns:a16="http://schemas.microsoft.com/office/drawing/2014/main" id="{D3796773-988C-A2BC-A65A-38CDF5B587C8}"/>
              </a:ext>
            </a:extLst>
          </p:cNvPr>
          <p:cNvSpPr/>
          <p:nvPr/>
        </p:nvSpPr>
        <p:spPr>
          <a:xfrm>
            <a:off x="3456432" y="2505456"/>
            <a:ext cx="2167128" cy="411480"/>
          </a:xfrm>
          <a:prstGeom prst="rect">
            <a:avLst/>
          </a:prstGeom>
          <a:solidFill>
            <a:srgbClr val="F4F7FB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92" name="Text 20">
            <a:extLst>
              <a:ext uri="{FF2B5EF4-FFF2-40B4-BE49-F238E27FC236}">
                <a16:creationId xmlns:a16="http://schemas.microsoft.com/office/drawing/2014/main" id="{0EDC79E3-9411-5432-48D2-317007634BD8}"/>
              </a:ext>
            </a:extLst>
          </p:cNvPr>
          <p:cNvSpPr/>
          <p:nvPr/>
        </p:nvSpPr>
        <p:spPr>
          <a:xfrm>
            <a:off x="3474720" y="2505456"/>
            <a:ext cx="2048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ясно / дождь / ливень</a:t>
            </a:r>
            <a:endParaRPr lang="en-US" sz="1000" dirty="0"/>
          </a:p>
        </p:txBody>
      </p:sp>
      <p:sp>
        <p:nvSpPr>
          <p:cNvPr id="93" name="Shape 21">
            <a:extLst>
              <a:ext uri="{FF2B5EF4-FFF2-40B4-BE49-F238E27FC236}">
                <a16:creationId xmlns:a16="http://schemas.microsoft.com/office/drawing/2014/main" id="{F55E6CE5-0B7E-43B2-E28E-ED913B457113}"/>
              </a:ext>
            </a:extLst>
          </p:cNvPr>
          <p:cNvSpPr/>
          <p:nvPr/>
        </p:nvSpPr>
        <p:spPr>
          <a:xfrm>
            <a:off x="292608" y="2926080"/>
            <a:ext cx="877824" cy="411480"/>
          </a:xfrm>
          <a:prstGeom prst="rect">
            <a:avLst/>
          </a:prstGeom>
          <a:solidFill>
            <a:srgbClr val="D6E4F0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94" name="Text 22">
            <a:extLst>
              <a:ext uri="{FF2B5EF4-FFF2-40B4-BE49-F238E27FC236}">
                <a16:creationId xmlns:a16="http://schemas.microsoft.com/office/drawing/2014/main" id="{5AE666D4-D55D-BC9D-039E-58807357BE03}"/>
              </a:ext>
            </a:extLst>
          </p:cNvPr>
          <p:cNvSpPr/>
          <p:nvPr/>
        </p:nvSpPr>
        <p:spPr>
          <a:xfrm>
            <a:off x="310896" y="2926080"/>
            <a:ext cx="84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K_время</a:t>
            </a:r>
            <a:endParaRPr lang="en-US" sz="900" dirty="0"/>
          </a:p>
        </p:txBody>
      </p:sp>
      <p:sp>
        <p:nvSpPr>
          <p:cNvPr id="95" name="Shape 23">
            <a:extLst>
              <a:ext uri="{FF2B5EF4-FFF2-40B4-BE49-F238E27FC236}">
                <a16:creationId xmlns:a16="http://schemas.microsoft.com/office/drawing/2014/main" id="{CEA00631-7A9C-B071-392B-30F9928D21CB}"/>
              </a:ext>
            </a:extLst>
          </p:cNvPr>
          <p:cNvSpPr/>
          <p:nvPr/>
        </p:nvSpPr>
        <p:spPr>
          <a:xfrm>
            <a:off x="1188720" y="2926080"/>
            <a:ext cx="2249424" cy="411480"/>
          </a:xfrm>
          <a:prstGeom prst="rect">
            <a:avLst/>
          </a:prstGeom>
          <a:solidFill>
            <a:srgbClr val="E9EFF7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96" name="Text 24">
            <a:extLst>
              <a:ext uri="{FF2B5EF4-FFF2-40B4-BE49-F238E27FC236}">
                <a16:creationId xmlns:a16="http://schemas.microsoft.com/office/drawing/2014/main" id="{207F2D26-661E-634C-D72E-53AF01A3BD6A}"/>
              </a:ext>
            </a:extLst>
          </p:cNvPr>
          <p:cNvSpPr/>
          <p:nvPr/>
        </p:nvSpPr>
        <p:spPr>
          <a:xfrm>
            <a:off x="1207008" y="292608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 / 0,</a:t>
            </a:r>
            <a:r>
              <a:rPr lang="ru-RU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1,10</a:t>
            </a:r>
            <a:endParaRPr lang="en-US" sz="1000" dirty="0"/>
          </a:p>
        </p:txBody>
      </p:sp>
      <p:sp>
        <p:nvSpPr>
          <p:cNvPr id="97" name="Shape 25">
            <a:extLst>
              <a:ext uri="{FF2B5EF4-FFF2-40B4-BE49-F238E27FC236}">
                <a16:creationId xmlns:a16="http://schemas.microsoft.com/office/drawing/2014/main" id="{D2C6E866-CE46-3DC1-EAD3-503BA3DFA47F}"/>
              </a:ext>
            </a:extLst>
          </p:cNvPr>
          <p:cNvSpPr/>
          <p:nvPr/>
        </p:nvSpPr>
        <p:spPr>
          <a:xfrm>
            <a:off x="3456432" y="2926080"/>
            <a:ext cx="2167128" cy="411480"/>
          </a:xfrm>
          <a:prstGeom prst="rect">
            <a:avLst/>
          </a:prstGeom>
          <a:solidFill>
            <a:srgbClr val="E9EFF7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98" name="Text 26">
            <a:extLst>
              <a:ext uri="{FF2B5EF4-FFF2-40B4-BE49-F238E27FC236}">
                <a16:creationId xmlns:a16="http://schemas.microsoft.com/office/drawing/2014/main" id="{4F26096B-AC91-6E60-3548-BF5647223AE1}"/>
              </a:ext>
            </a:extLst>
          </p:cNvPr>
          <p:cNvSpPr/>
          <p:nvPr/>
        </p:nvSpPr>
        <p:spPr>
          <a:xfrm>
            <a:off x="3474720" y="2926080"/>
            <a:ext cx="2048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 / пик / ночь</a:t>
            </a:r>
            <a:endParaRPr lang="en-US" sz="1000" dirty="0"/>
          </a:p>
        </p:txBody>
      </p:sp>
      <p:sp>
        <p:nvSpPr>
          <p:cNvPr id="99" name="Shape 27">
            <a:extLst>
              <a:ext uri="{FF2B5EF4-FFF2-40B4-BE49-F238E27FC236}">
                <a16:creationId xmlns:a16="http://schemas.microsoft.com/office/drawing/2014/main" id="{0AC62510-C925-681C-8130-5C1A6673721C}"/>
              </a:ext>
            </a:extLst>
          </p:cNvPr>
          <p:cNvSpPr/>
          <p:nvPr/>
        </p:nvSpPr>
        <p:spPr>
          <a:xfrm>
            <a:off x="274320" y="3346704"/>
            <a:ext cx="5349240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0" name="Text 28">
            <a:extLst>
              <a:ext uri="{FF2B5EF4-FFF2-40B4-BE49-F238E27FC236}">
                <a16:creationId xmlns:a16="http://schemas.microsoft.com/office/drawing/2014/main" id="{3788C52A-E9A5-A1AD-F018-B43A429BFA16}"/>
              </a:ext>
            </a:extLst>
          </p:cNvPr>
          <p:cNvSpPr/>
          <p:nvPr/>
        </p:nvSpPr>
        <p:spPr>
          <a:xfrm>
            <a:off x="274320" y="3346704"/>
            <a:ext cx="5349240" cy="23774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buNone/>
            </a:pPr>
            <a:r>
              <a:rPr lang="ru-RU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Архивное время НЗТА  H(road_id, hour, day)</a:t>
            </a:r>
            <a:endParaRPr lang="en-US" sz="1000" dirty="0"/>
          </a:p>
        </p:txBody>
      </p:sp>
      <p:sp>
        <p:nvSpPr>
          <p:cNvPr id="101" name="Shape 29">
            <a:extLst>
              <a:ext uri="{FF2B5EF4-FFF2-40B4-BE49-F238E27FC236}">
                <a16:creationId xmlns:a16="http://schemas.microsoft.com/office/drawing/2014/main" id="{5C247922-C54E-60F6-E6E3-1631513B9BAF}"/>
              </a:ext>
            </a:extLst>
          </p:cNvPr>
          <p:cNvSpPr/>
          <p:nvPr/>
        </p:nvSpPr>
        <p:spPr>
          <a:xfrm>
            <a:off x="274320" y="3584448"/>
            <a:ext cx="5349240" cy="1024128"/>
          </a:xfrm>
          <a:prstGeom prst="rect">
            <a:avLst/>
          </a:prstGeom>
          <a:solidFill>
            <a:srgbClr val="F4F7FB"/>
          </a:solidFill>
          <a:ln w="6350">
            <a:solidFill>
              <a:srgbClr val="CCCCCC"/>
            </a:solidFill>
            <a:prstDash val="solid"/>
          </a:ln>
        </p:spPr>
      </p:sp>
      <p:pic>
        <p:nvPicPr>
          <p:cNvPr id="102" name="Image 0" descr="preencoded.png">
            <a:extLst>
              <a:ext uri="{FF2B5EF4-FFF2-40B4-BE49-F238E27FC236}">
                <a16:creationId xmlns:a16="http://schemas.microsoft.com/office/drawing/2014/main" id="{0901813D-6DB0-D4CE-5347-62C2BDA29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21024"/>
            <a:ext cx="4846320" cy="384048"/>
          </a:xfrm>
          <a:prstGeom prst="rect">
            <a:avLst/>
          </a:prstGeom>
        </p:spPr>
      </p:pic>
      <p:sp>
        <p:nvSpPr>
          <p:cNvPr id="103" name="Text 30">
            <a:extLst>
              <a:ext uri="{FF2B5EF4-FFF2-40B4-BE49-F238E27FC236}">
                <a16:creationId xmlns:a16="http://schemas.microsoft.com/office/drawing/2014/main" id="{DA82F9C7-E7CD-4983-FB91-563E0411C8EB}"/>
              </a:ext>
            </a:extLst>
          </p:cNvPr>
          <p:cNvSpPr/>
          <p:nvPr/>
        </p:nvSpPr>
        <p:spPr>
          <a:xfrm>
            <a:off x="384048" y="4041648"/>
            <a:ext cx="5129784" cy="475488"/>
          </a:xfrm>
          <a:prstGeom prst="rect">
            <a:avLst/>
          </a:prstGeom>
          <a:noFill/>
          <a:ln/>
        </p:spPr>
        <p:txBody>
          <a:bodyPr wrap="square" lIns="1270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NZTA TMS, 2013–2022, 2042 датчика.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Пик (пн–чт)≈44 мин, пятница≈52 мин, ночь≈24 мин  (на 10 км).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 архивной составляющей: α ∈ [0,1]  (по умолчанию α = 0,3)</a:t>
            </a:r>
            <a:endParaRPr lang="en-US" sz="900" dirty="0"/>
          </a:p>
        </p:txBody>
      </p:sp>
      <p:sp>
        <p:nvSpPr>
          <p:cNvPr id="104" name="Shape 31">
            <a:extLst>
              <a:ext uri="{FF2B5EF4-FFF2-40B4-BE49-F238E27FC236}">
                <a16:creationId xmlns:a16="http://schemas.microsoft.com/office/drawing/2014/main" id="{1FA8028C-3ADF-2876-7E0F-AA3939D5A9F7}"/>
              </a:ext>
            </a:extLst>
          </p:cNvPr>
          <p:cNvSpPr/>
          <p:nvPr/>
        </p:nvSpPr>
        <p:spPr>
          <a:xfrm>
            <a:off x="274320" y="4608576"/>
            <a:ext cx="5349240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5" name="Text 32">
            <a:extLst>
              <a:ext uri="{FF2B5EF4-FFF2-40B4-BE49-F238E27FC236}">
                <a16:creationId xmlns:a16="http://schemas.microsoft.com/office/drawing/2014/main" id="{A9386DBF-0999-9138-F231-C6E39F9E971E}"/>
              </a:ext>
            </a:extLst>
          </p:cNvPr>
          <p:cNvSpPr/>
          <p:nvPr/>
        </p:nvSpPr>
        <p:spPr>
          <a:xfrm>
            <a:off x="274320" y="4608576"/>
            <a:ext cx="5349240" cy="23774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buNone/>
            </a:pPr>
            <a:r>
              <a:rPr lang="ru-RU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Целевая функция (2-opt)</a:t>
            </a:r>
            <a:endParaRPr lang="en-US" sz="1000" dirty="0"/>
          </a:p>
        </p:txBody>
      </p:sp>
      <p:sp>
        <p:nvSpPr>
          <p:cNvPr id="106" name="Shape 33">
            <a:extLst>
              <a:ext uri="{FF2B5EF4-FFF2-40B4-BE49-F238E27FC236}">
                <a16:creationId xmlns:a16="http://schemas.microsoft.com/office/drawing/2014/main" id="{131BEEC0-F280-0D59-EB56-752AF23C348B}"/>
              </a:ext>
            </a:extLst>
          </p:cNvPr>
          <p:cNvSpPr/>
          <p:nvPr/>
        </p:nvSpPr>
        <p:spPr>
          <a:xfrm>
            <a:off x="274320" y="4846320"/>
            <a:ext cx="5349240" cy="922114"/>
          </a:xfrm>
          <a:prstGeom prst="rect">
            <a:avLst/>
          </a:prstGeom>
          <a:solidFill>
            <a:srgbClr val="F4F7FB"/>
          </a:solidFill>
          <a:ln w="6350">
            <a:solidFill>
              <a:srgbClr val="CCCCCC"/>
            </a:solidFill>
            <a:prstDash val="solid"/>
          </a:ln>
        </p:spPr>
      </p:sp>
      <p:pic>
        <p:nvPicPr>
          <p:cNvPr id="107" name="Image 1" descr="preencoded.png">
            <a:extLst>
              <a:ext uri="{FF2B5EF4-FFF2-40B4-BE49-F238E27FC236}">
                <a16:creationId xmlns:a16="http://schemas.microsoft.com/office/drawing/2014/main" id="{2892CAE1-4B74-34E4-EEE5-76BCBDA1A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114" y="4840224"/>
            <a:ext cx="3071191" cy="713232"/>
          </a:xfrm>
          <a:prstGeom prst="rect">
            <a:avLst/>
          </a:prstGeom>
        </p:spPr>
      </p:pic>
      <p:sp>
        <p:nvSpPr>
          <p:cNvPr id="108" name="Text 34">
            <a:extLst>
              <a:ext uri="{FF2B5EF4-FFF2-40B4-BE49-F238E27FC236}">
                <a16:creationId xmlns:a16="http://schemas.microsoft.com/office/drawing/2014/main" id="{D8817E1E-C5F3-617B-1873-28B6412AB336}"/>
              </a:ext>
            </a:extLst>
          </p:cNvPr>
          <p:cNvSpPr/>
          <p:nvPr/>
        </p:nvSpPr>
        <p:spPr>
          <a:xfrm>
            <a:off x="350520" y="5404104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— перестановка сегментов,  n — их число</a:t>
            </a:r>
            <a:endParaRPr lang="en-US" sz="800" dirty="0"/>
          </a:p>
        </p:txBody>
      </p:sp>
      <p:sp>
        <p:nvSpPr>
          <p:cNvPr id="109" name="Shape 35">
            <a:extLst>
              <a:ext uri="{FF2B5EF4-FFF2-40B4-BE49-F238E27FC236}">
                <a16:creationId xmlns:a16="http://schemas.microsoft.com/office/drawing/2014/main" id="{E969DAA1-1D90-88A0-1546-D042584FD889}"/>
              </a:ext>
            </a:extLst>
          </p:cNvPr>
          <p:cNvSpPr/>
          <p:nvPr/>
        </p:nvSpPr>
        <p:spPr>
          <a:xfrm>
            <a:off x="274320" y="5779008"/>
            <a:ext cx="5349240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0" name="Text 36">
            <a:extLst>
              <a:ext uri="{FF2B5EF4-FFF2-40B4-BE49-F238E27FC236}">
                <a16:creationId xmlns:a16="http://schemas.microsoft.com/office/drawing/2014/main" id="{4B0D0AD9-444A-700B-D67F-2FEB9D4141F1}"/>
              </a:ext>
            </a:extLst>
          </p:cNvPr>
          <p:cNvSpPr/>
          <p:nvPr/>
        </p:nvSpPr>
        <p:spPr>
          <a:xfrm>
            <a:off x="274320" y="5779008"/>
            <a:ext cx="5349240" cy="23774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buNone/>
            </a:pPr>
            <a:r>
              <a:rPr lang="ru-RU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Ограничения</a:t>
            </a:r>
            <a:endParaRPr lang="en-US" sz="1000" dirty="0"/>
          </a:p>
        </p:txBody>
      </p:sp>
      <p:sp>
        <p:nvSpPr>
          <p:cNvPr id="111" name="Shape 37">
            <a:extLst>
              <a:ext uri="{FF2B5EF4-FFF2-40B4-BE49-F238E27FC236}">
                <a16:creationId xmlns:a16="http://schemas.microsoft.com/office/drawing/2014/main" id="{EAE5D1A3-B3EC-EF71-970A-AB74228C4EF3}"/>
              </a:ext>
            </a:extLst>
          </p:cNvPr>
          <p:cNvSpPr/>
          <p:nvPr/>
        </p:nvSpPr>
        <p:spPr>
          <a:xfrm>
            <a:off x="274320" y="6016752"/>
            <a:ext cx="5349240" cy="658368"/>
          </a:xfrm>
          <a:prstGeom prst="rect">
            <a:avLst/>
          </a:prstGeom>
          <a:solidFill>
            <a:srgbClr val="F4F7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2" name="Text 38">
            <a:extLst>
              <a:ext uri="{FF2B5EF4-FFF2-40B4-BE49-F238E27FC236}">
                <a16:creationId xmlns:a16="http://schemas.microsoft.com/office/drawing/2014/main" id="{4362395F-FBBF-F2D6-E84B-6B4BD4996AFB}"/>
              </a:ext>
            </a:extLst>
          </p:cNvPr>
          <p:cNvSpPr/>
          <p:nvPr/>
        </p:nvSpPr>
        <p:spPr>
          <a:xfrm>
            <a:off x="384048" y="6071616"/>
            <a:ext cx="5129784" cy="548640"/>
          </a:xfrm>
          <a:prstGeom prst="rect">
            <a:avLst/>
          </a:prstGeom>
          <a:noFill/>
          <a:ln/>
        </p:spPr>
        <p:txBody>
          <a:bodyPr wrap="square" lIns="2540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&lt; V</a:t>
            </a:r>
            <a:r>
              <a:rPr lang="en-US" sz="1050" baseline="-40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≤ V</a:t>
            </a:r>
            <a:r>
              <a:rPr lang="en-US" sz="1050" baseline="-40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0 ≤ p ≤ 0,08  |  A ∈ {0,1},  C ~ U(8,25) мин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итераций 2-opt ≤ 100  |  α ∈ [0,1]</a:t>
            </a:r>
            <a:endParaRPr lang="en-US" sz="1050" dirty="0"/>
          </a:p>
        </p:txBody>
      </p:sp>
      <p:sp>
        <p:nvSpPr>
          <p:cNvPr id="113" name="Shape 39">
            <a:extLst>
              <a:ext uri="{FF2B5EF4-FFF2-40B4-BE49-F238E27FC236}">
                <a16:creationId xmlns:a16="http://schemas.microsoft.com/office/drawing/2014/main" id="{518A6D08-7D14-AAF3-116D-0DB3FA1C0D98}"/>
              </a:ext>
            </a:extLst>
          </p:cNvPr>
          <p:cNvSpPr/>
          <p:nvPr/>
        </p:nvSpPr>
        <p:spPr>
          <a:xfrm>
            <a:off x="5955792" y="566928"/>
            <a:ext cx="5852160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4" name="Text 40">
            <a:extLst>
              <a:ext uri="{FF2B5EF4-FFF2-40B4-BE49-F238E27FC236}">
                <a16:creationId xmlns:a16="http://schemas.microsoft.com/office/drawing/2014/main" id="{19B04749-643E-C4B5-50A8-9143522E60CD}"/>
              </a:ext>
            </a:extLst>
          </p:cNvPr>
          <p:cNvSpPr/>
          <p:nvPr/>
        </p:nvSpPr>
        <p:spPr>
          <a:xfrm>
            <a:off x="5955792" y="5669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buNone/>
            </a:pPr>
            <a:r>
              <a:rPr lang="ru-RU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Основная формула расчёта времени сегмента</a:t>
            </a:r>
            <a:endParaRPr lang="en-US" sz="1000" dirty="0"/>
          </a:p>
        </p:txBody>
      </p:sp>
      <p:sp>
        <p:nvSpPr>
          <p:cNvPr id="115" name="Shape 41">
            <a:extLst>
              <a:ext uri="{FF2B5EF4-FFF2-40B4-BE49-F238E27FC236}">
                <a16:creationId xmlns:a16="http://schemas.microsoft.com/office/drawing/2014/main" id="{FCFB59C3-AA39-3C41-555E-1FDC91D7D45F}"/>
              </a:ext>
            </a:extLst>
          </p:cNvPr>
          <p:cNvSpPr/>
          <p:nvPr/>
        </p:nvSpPr>
        <p:spPr>
          <a:xfrm>
            <a:off x="5955792" y="804672"/>
            <a:ext cx="5852160" cy="749808"/>
          </a:xfrm>
          <a:prstGeom prst="rect">
            <a:avLst/>
          </a:prstGeom>
          <a:solidFill>
            <a:srgbClr val="EEF4FC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116" name="Image 2" descr="preencoded.png">
            <a:extLst>
              <a:ext uri="{FF2B5EF4-FFF2-40B4-BE49-F238E27FC236}">
                <a16:creationId xmlns:a16="http://schemas.microsoft.com/office/drawing/2014/main" id="{C4771914-7F96-DB22-8E02-E83AA8EDA2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9034" y="840836"/>
            <a:ext cx="3855264" cy="621792"/>
          </a:xfrm>
          <a:prstGeom prst="rect">
            <a:avLst/>
          </a:prstGeom>
        </p:spPr>
      </p:pic>
      <p:sp>
        <p:nvSpPr>
          <p:cNvPr id="117" name="Shape 42">
            <a:extLst>
              <a:ext uri="{FF2B5EF4-FFF2-40B4-BE49-F238E27FC236}">
                <a16:creationId xmlns:a16="http://schemas.microsoft.com/office/drawing/2014/main" id="{99719D6A-1D62-1D77-50A0-31C049EE7479}"/>
              </a:ext>
            </a:extLst>
          </p:cNvPr>
          <p:cNvSpPr/>
          <p:nvPr/>
        </p:nvSpPr>
        <p:spPr>
          <a:xfrm>
            <a:off x="5955792" y="1554479"/>
            <a:ext cx="5852160" cy="725423"/>
          </a:xfrm>
          <a:prstGeom prst="rect">
            <a:avLst/>
          </a:prstGeom>
          <a:solidFill>
            <a:srgbClr val="F4F7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8" name="Text 43">
            <a:extLst>
              <a:ext uri="{FF2B5EF4-FFF2-40B4-BE49-F238E27FC236}">
                <a16:creationId xmlns:a16="http://schemas.microsoft.com/office/drawing/2014/main" id="{11452AEB-112D-B642-8E8E-160F75E3B102}"/>
              </a:ext>
            </a:extLst>
          </p:cNvPr>
          <p:cNvSpPr/>
          <p:nvPr/>
        </p:nvSpPr>
        <p:spPr>
          <a:xfrm>
            <a:off x="6047232" y="1710985"/>
            <a:ext cx="5669280" cy="585216"/>
          </a:xfrm>
          <a:prstGeom prst="rect">
            <a:avLst/>
          </a:prstGeom>
          <a:noFill/>
          <a:ln/>
        </p:spPr>
        <p:txBody>
          <a:bodyPr wrap="square" lIns="2540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L/V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чистое время  |  </a:t>
            </a: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A·C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задержка активной аварии  (A∈{0,1}, C~U(8,25) мин)
</a:t>
            </a: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p·t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задержка от возможного ДТП  |  </a:t>
            </a: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α·T</a:t>
            </a:r>
            <a:r>
              <a:rPr lang="en-US" sz="1000" b="1" baseline="-40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</a:t>
            </a: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поправка из архива НЗТА</a:t>
            </a:r>
            <a:endParaRPr lang="en-US" sz="1000" dirty="0"/>
          </a:p>
        </p:txBody>
      </p:sp>
      <p:sp>
        <p:nvSpPr>
          <p:cNvPr id="119" name="Shape 44">
            <a:extLst>
              <a:ext uri="{FF2B5EF4-FFF2-40B4-BE49-F238E27FC236}">
                <a16:creationId xmlns:a16="http://schemas.microsoft.com/office/drawing/2014/main" id="{EFFA457B-13A8-18F7-D5BA-857B35D0C930}"/>
              </a:ext>
            </a:extLst>
          </p:cNvPr>
          <p:cNvSpPr/>
          <p:nvPr/>
        </p:nvSpPr>
        <p:spPr>
          <a:xfrm>
            <a:off x="5955792" y="2279904"/>
            <a:ext cx="5852160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0" name="Text 45">
            <a:extLst>
              <a:ext uri="{FF2B5EF4-FFF2-40B4-BE49-F238E27FC236}">
                <a16:creationId xmlns:a16="http://schemas.microsoft.com/office/drawing/2014/main" id="{7CBA2DA0-1C52-C8A3-8292-D45A8034F1A7}"/>
              </a:ext>
            </a:extLst>
          </p:cNvPr>
          <p:cNvSpPr/>
          <p:nvPr/>
        </p:nvSpPr>
        <p:spPr>
          <a:xfrm>
            <a:off x="5955792" y="2279904"/>
            <a:ext cx="5852160" cy="23774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buNone/>
            </a:pPr>
            <a:r>
              <a:rPr lang="ru-RU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7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Скорость сегмента</a:t>
            </a:r>
            <a:endParaRPr lang="en-US" sz="1000" dirty="0"/>
          </a:p>
        </p:txBody>
      </p:sp>
      <p:sp>
        <p:nvSpPr>
          <p:cNvPr id="121" name="Shape 46">
            <a:extLst>
              <a:ext uri="{FF2B5EF4-FFF2-40B4-BE49-F238E27FC236}">
                <a16:creationId xmlns:a16="http://schemas.microsoft.com/office/drawing/2014/main" id="{1E6912E1-24CA-8265-A20D-20147EAC5CF4}"/>
              </a:ext>
            </a:extLst>
          </p:cNvPr>
          <p:cNvSpPr/>
          <p:nvPr/>
        </p:nvSpPr>
        <p:spPr>
          <a:xfrm>
            <a:off x="5955792" y="2517647"/>
            <a:ext cx="5852160" cy="752855"/>
          </a:xfrm>
          <a:prstGeom prst="rect">
            <a:avLst/>
          </a:prstGeom>
          <a:solidFill>
            <a:srgbClr val="F4F7FB"/>
          </a:solidFill>
          <a:ln w="6350">
            <a:solidFill>
              <a:srgbClr val="CCCCCC"/>
            </a:solidFill>
            <a:prstDash val="solid"/>
          </a:ln>
        </p:spPr>
      </p:sp>
      <p:pic>
        <p:nvPicPr>
          <p:cNvPr id="122" name="Image 3" descr="preencoded.png">
            <a:extLst>
              <a:ext uri="{FF2B5EF4-FFF2-40B4-BE49-F238E27FC236}">
                <a16:creationId xmlns:a16="http://schemas.microsoft.com/office/drawing/2014/main" id="{7582756C-0121-51E6-067E-A22BC73820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7359" y="2665725"/>
            <a:ext cx="3778607" cy="384048"/>
          </a:xfrm>
          <a:prstGeom prst="rect">
            <a:avLst/>
          </a:prstGeom>
        </p:spPr>
      </p:pic>
      <p:sp>
        <p:nvSpPr>
          <p:cNvPr id="123" name="Shape 47">
            <a:extLst>
              <a:ext uri="{FF2B5EF4-FFF2-40B4-BE49-F238E27FC236}">
                <a16:creationId xmlns:a16="http://schemas.microsoft.com/office/drawing/2014/main" id="{921FA3E5-D8FA-4DD7-59FE-D688633EE6EE}"/>
              </a:ext>
            </a:extLst>
          </p:cNvPr>
          <p:cNvSpPr/>
          <p:nvPr/>
        </p:nvSpPr>
        <p:spPr>
          <a:xfrm>
            <a:off x="5955792" y="3270504"/>
            <a:ext cx="5852160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4" name="Text 48">
            <a:extLst>
              <a:ext uri="{FF2B5EF4-FFF2-40B4-BE49-F238E27FC236}">
                <a16:creationId xmlns:a16="http://schemas.microsoft.com/office/drawing/2014/main" id="{A65FC057-EEF2-6E2D-62C1-3D149D8B5BBC}"/>
              </a:ext>
            </a:extLst>
          </p:cNvPr>
          <p:cNvSpPr/>
          <p:nvPr/>
        </p:nvSpPr>
        <p:spPr>
          <a:xfrm>
            <a:off x="5955792" y="3270504"/>
            <a:ext cx="5852160" cy="23774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buNone/>
            </a:pPr>
            <a:r>
              <a:rPr lang="ru-RU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8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Вероятность ДТП</a:t>
            </a:r>
            <a:endParaRPr lang="en-US" sz="1000" dirty="0"/>
          </a:p>
        </p:txBody>
      </p:sp>
      <p:sp>
        <p:nvSpPr>
          <p:cNvPr id="125" name="Shape 49">
            <a:extLst>
              <a:ext uri="{FF2B5EF4-FFF2-40B4-BE49-F238E27FC236}">
                <a16:creationId xmlns:a16="http://schemas.microsoft.com/office/drawing/2014/main" id="{A0FF6780-A971-5E7F-EC12-C4F1A56226C8}"/>
              </a:ext>
            </a:extLst>
          </p:cNvPr>
          <p:cNvSpPr/>
          <p:nvPr/>
        </p:nvSpPr>
        <p:spPr>
          <a:xfrm>
            <a:off x="5955792" y="3508248"/>
            <a:ext cx="5852160" cy="774530"/>
          </a:xfrm>
          <a:prstGeom prst="rect">
            <a:avLst/>
          </a:prstGeom>
          <a:solidFill>
            <a:srgbClr val="F4F7FB"/>
          </a:solidFill>
          <a:ln w="6350">
            <a:solidFill>
              <a:srgbClr val="CCCCCC"/>
            </a:solidFill>
            <a:prstDash val="solid"/>
          </a:ln>
        </p:spPr>
      </p:sp>
      <p:pic>
        <p:nvPicPr>
          <p:cNvPr id="126" name="Image 4" descr="preencoded.png">
            <a:extLst>
              <a:ext uri="{FF2B5EF4-FFF2-40B4-BE49-F238E27FC236}">
                <a16:creationId xmlns:a16="http://schemas.microsoft.com/office/drawing/2014/main" id="{9D2D8533-F2A0-E38B-1C68-05EE2AE248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9882" y="3687741"/>
            <a:ext cx="4493563" cy="384048"/>
          </a:xfrm>
          <a:prstGeom prst="rect">
            <a:avLst/>
          </a:prstGeom>
        </p:spPr>
      </p:pic>
      <p:sp>
        <p:nvSpPr>
          <p:cNvPr id="127" name="Shape 50">
            <a:extLst>
              <a:ext uri="{FF2B5EF4-FFF2-40B4-BE49-F238E27FC236}">
                <a16:creationId xmlns:a16="http://schemas.microsoft.com/office/drawing/2014/main" id="{9DA8A8E1-5C0D-3944-E258-2270D096C745}"/>
              </a:ext>
            </a:extLst>
          </p:cNvPr>
          <p:cNvSpPr/>
          <p:nvPr/>
        </p:nvSpPr>
        <p:spPr>
          <a:xfrm>
            <a:off x="5955792" y="4282779"/>
            <a:ext cx="5852160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8" name="Text 51">
            <a:extLst>
              <a:ext uri="{FF2B5EF4-FFF2-40B4-BE49-F238E27FC236}">
                <a16:creationId xmlns:a16="http://schemas.microsoft.com/office/drawing/2014/main" id="{DF4C69E7-3C7E-A58F-149A-4544B4AFCABA}"/>
              </a:ext>
            </a:extLst>
          </p:cNvPr>
          <p:cNvSpPr/>
          <p:nvPr/>
        </p:nvSpPr>
        <p:spPr>
          <a:xfrm>
            <a:off x="5955792" y="4282779"/>
            <a:ext cx="5852160" cy="23774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buNone/>
            </a:pPr>
            <a:r>
              <a:rPr lang="ru-RU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9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Время устранения аварии</a:t>
            </a:r>
            <a:endParaRPr lang="en-US" sz="1000" dirty="0"/>
          </a:p>
        </p:txBody>
      </p:sp>
      <p:sp>
        <p:nvSpPr>
          <p:cNvPr id="129" name="Shape 52">
            <a:extLst>
              <a:ext uri="{FF2B5EF4-FFF2-40B4-BE49-F238E27FC236}">
                <a16:creationId xmlns:a16="http://schemas.microsoft.com/office/drawing/2014/main" id="{061B1168-56D8-B3FB-21EA-17EBA82E9523}"/>
              </a:ext>
            </a:extLst>
          </p:cNvPr>
          <p:cNvSpPr/>
          <p:nvPr/>
        </p:nvSpPr>
        <p:spPr>
          <a:xfrm>
            <a:off x="5955792" y="4520522"/>
            <a:ext cx="5852160" cy="1010168"/>
          </a:xfrm>
          <a:prstGeom prst="rect">
            <a:avLst/>
          </a:prstGeom>
          <a:solidFill>
            <a:srgbClr val="F4F7FB"/>
          </a:solidFill>
          <a:ln w="6350">
            <a:solidFill>
              <a:srgbClr val="CCCCCC"/>
            </a:solidFill>
            <a:prstDash val="solid"/>
          </a:ln>
        </p:spPr>
      </p:sp>
      <p:pic>
        <p:nvPicPr>
          <p:cNvPr id="130" name="Image 5" descr="preencoded.png">
            <a:extLst>
              <a:ext uri="{FF2B5EF4-FFF2-40B4-BE49-F238E27FC236}">
                <a16:creationId xmlns:a16="http://schemas.microsoft.com/office/drawing/2014/main" id="{8671990B-BC8F-257F-25B7-8400E2304E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9675" y="4656593"/>
            <a:ext cx="4713978" cy="565985"/>
          </a:xfrm>
          <a:prstGeom prst="rect">
            <a:avLst/>
          </a:prstGeom>
        </p:spPr>
      </p:pic>
      <p:sp>
        <p:nvSpPr>
          <p:cNvPr id="131" name="Shape 53">
            <a:extLst>
              <a:ext uri="{FF2B5EF4-FFF2-40B4-BE49-F238E27FC236}">
                <a16:creationId xmlns:a16="http://schemas.microsoft.com/office/drawing/2014/main" id="{DFA56B9B-C91E-231C-AC2C-2A2C79E59A45}"/>
              </a:ext>
            </a:extLst>
          </p:cNvPr>
          <p:cNvSpPr/>
          <p:nvPr/>
        </p:nvSpPr>
        <p:spPr>
          <a:xfrm>
            <a:off x="5955792" y="5530690"/>
            <a:ext cx="5852160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2" name="Text 54">
            <a:extLst>
              <a:ext uri="{FF2B5EF4-FFF2-40B4-BE49-F238E27FC236}">
                <a16:creationId xmlns:a16="http://schemas.microsoft.com/office/drawing/2014/main" id="{9D8AA12F-C91F-4945-3D18-09FD03B7257C}"/>
              </a:ext>
            </a:extLst>
          </p:cNvPr>
          <p:cNvSpPr/>
          <p:nvPr/>
        </p:nvSpPr>
        <p:spPr>
          <a:xfrm>
            <a:off x="5989320" y="5502994"/>
            <a:ext cx="5852160" cy="23774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buNone/>
            </a:pPr>
            <a:r>
              <a:rPr lang="ru-RU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Суммарное время маршрута</a:t>
            </a:r>
            <a:endParaRPr lang="en-US" sz="1000" dirty="0"/>
          </a:p>
        </p:txBody>
      </p:sp>
      <p:sp>
        <p:nvSpPr>
          <p:cNvPr id="133" name="Shape 55">
            <a:extLst>
              <a:ext uri="{FF2B5EF4-FFF2-40B4-BE49-F238E27FC236}">
                <a16:creationId xmlns:a16="http://schemas.microsoft.com/office/drawing/2014/main" id="{CB5589D2-DADC-0E2D-E8EF-4F370C4C6379}"/>
              </a:ext>
            </a:extLst>
          </p:cNvPr>
          <p:cNvSpPr/>
          <p:nvPr/>
        </p:nvSpPr>
        <p:spPr>
          <a:xfrm>
            <a:off x="5955792" y="5779008"/>
            <a:ext cx="5852160" cy="890016"/>
          </a:xfrm>
          <a:prstGeom prst="rect">
            <a:avLst/>
          </a:prstGeom>
          <a:solidFill>
            <a:srgbClr val="EEF4FC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134" name="Image 6" descr="preencoded.png">
            <a:extLst>
              <a:ext uri="{FF2B5EF4-FFF2-40B4-BE49-F238E27FC236}">
                <a16:creationId xmlns:a16="http://schemas.microsoft.com/office/drawing/2014/main" id="{F6953D8A-162F-1FA8-0BD1-8F81DDCF96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44274" y="5868754"/>
            <a:ext cx="4264780" cy="548640"/>
          </a:xfrm>
          <a:prstGeom prst="rect">
            <a:avLst/>
          </a:prstGeom>
        </p:spPr>
      </p:pic>
      <p:sp>
        <p:nvSpPr>
          <p:cNvPr id="135" name="TextBox 134">
            <a:extLst>
              <a:ext uri="{FF2B5EF4-FFF2-40B4-BE49-F238E27FC236}">
                <a16:creationId xmlns:a16="http://schemas.microsoft.com/office/drawing/2014/main" id="{635787FC-988D-EEF0-6162-7234370E359D}"/>
              </a:ext>
            </a:extLst>
          </p:cNvPr>
          <p:cNvSpPr txBox="1"/>
          <p:nvPr/>
        </p:nvSpPr>
        <p:spPr>
          <a:xfrm>
            <a:off x="2058700" y="-60442"/>
            <a:ext cx="7861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5260" algn="ctr">
              <a:lnSpc>
                <a:spcPct val="100000"/>
              </a:lnSpc>
              <a:spcBef>
                <a:spcPts val="1595"/>
              </a:spcBef>
            </a:pPr>
            <a:r>
              <a:rPr lang="ru-RU" sz="2800" dirty="0">
                <a:latin typeface="Times New Roman"/>
                <a:cs typeface="Times New Roman"/>
              </a:rPr>
              <a:t>Формализованное</a:t>
            </a:r>
            <a:r>
              <a:rPr lang="en-GB" sz="2800" spc="-70" dirty="0">
                <a:latin typeface="Times New Roman"/>
                <a:cs typeface="Times New Roman"/>
              </a:rPr>
              <a:t> </a:t>
            </a:r>
            <a:r>
              <a:rPr lang="ru-RU" sz="2800" dirty="0">
                <a:latin typeface="Times New Roman"/>
                <a:cs typeface="Times New Roman"/>
              </a:rPr>
              <a:t>представление</a:t>
            </a:r>
            <a:r>
              <a:rPr lang="ru-RU" sz="2800" spc="-60" dirty="0">
                <a:latin typeface="Times New Roman"/>
                <a:cs typeface="Times New Roman"/>
              </a:rPr>
              <a:t> </a:t>
            </a:r>
            <a:r>
              <a:rPr lang="ru-RU" sz="2800" spc="-10" dirty="0">
                <a:latin typeface="Times New Roman"/>
                <a:cs typeface="Times New Roman"/>
              </a:rPr>
              <a:t>задачи</a:t>
            </a:r>
            <a:endParaRPr lang="ru-RU"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01748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FF331-798A-C1C6-805B-D4F27D9B4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140" y="353060"/>
            <a:ext cx="11397615" cy="423193"/>
          </a:xfrm>
        </p:spPr>
        <p:txBody>
          <a:bodyPr/>
          <a:lstStyle/>
          <a:p>
            <a:pPr algn="ctr"/>
            <a:r>
              <a:rPr lang="ru-RU" dirty="0"/>
              <a:t>Аналитический обзор существующих методов и средств построения 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5488CCF-5671-661A-EA93-0CB80F2D1D9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74506610"/>
              </p:ext>
            </p:extLst>
          </p:nvPr>
        </p:nvGraphicFramePr>
        <p:xfrm>
          <a:off x="421322" y="914400"/>
          <a:ext cx="11349356" cy="548233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50800" dir="5400000" algn="ctr" rotWithShape="0">
                    <a:srgbClr val="000000">
                      <a:alpha val="0"/>
                    </a:srgbClr>
                  </a:outerShdw>
                </a:effectLst>
                <a:tableStyleId>{5C22544A-7EE6-4342-B048-85BDC9FD1C3A}</a:tableStyleId>
              </a:tblPr>
              <a:tblGrid>
                <a:gridCol w="569278">
                  <a:extLst>
                    <a:ext uri="{9D8B030D-6E8A-4147-A177-3AD203B41FA5}">
                      <a16:colId xmlns:a16="http://schemas.microsoft.com/office/drawing/2014/main" val="2465767889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1731659245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4106572348"/>
                    </a:ext>
                  </a:extLst>
                </a:gridCol>
                <a:gridCol w="4988878">
                  <a:extLst>
                    <a:ext uri="{9D8B030D-6E8A-4147-A177-3AD203B41FA5}">
                      <a16:colId xmlns:a16="http://schemas.microsoft.com/office/drawing/2014/main" val="3565387027"/>
                    </a:ext>
                  </a:extLst>
                </a:gridCol>
              </a:tblGrid>
              <a:tr h="540512">
                <a:tc>
                  <a:txBody>
                    <a:bodyPr/>
                    <a:lstStyle/>
                    <a:p>
                      <a:r>
                        <a:rPr lang="ru-RU" dirty="0"/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Существуюшие средства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Существующие методы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Недостатки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383011"/>
                  </a:ext>
                </a:extLst>
              </a:tr>
              <a:tr h="1698752"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Google Maps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Графовые алгоритмы и ML-модели прогнозирования 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 учитывается состояние покрытия дороги, отсутствует анализ спутниковых снимков, закрытая модель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234699"/>
                  </a:ext>
                </a:extLst>
              </a:tr>
              <a:tr h="1235456"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Waze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Краудсорсинг и динамическая маршрутизация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Зависимость от активности пользователей, слабый анализ качества дороги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301287"/>
                  </a:ext>
                </a:extLst>
              </a:tr>
              <a:tr h="1003808"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CNN / U-Net </a:t>
                      </a:r>
                      <a:r>
                        <a:rPr lang="ru-RU" dirty="0"/>
                        <a:t>сегментация дорог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Глубокое обучение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Требует большого объёма размеченных данных и GPU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453884"/>
                  </a:ext>
                </a:extLst>
              </a:tr>
              <a:tr h="1003808">
                <a:tc>
                  <a:txBody>
                    <a:bodyPr/>
                    <a:lstStyle/>
                    <a:p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HERE Technologies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HD-</a:t>
                      </a:r>
                      <a:r>
                        <a:rPr lang="ru-RU" dirty="0"/>
                        <a:t>карты и прогнозирование трафика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Недостаточный учёт погодных и инфраструктурных факторов</a:t>
                      </a:r>
                    </a:p>
                  </a:txBody>
                  <a:tcPr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2040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0809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36">
            <a:extLst>
              <a:ext uri="{FF2B5EF4-FFF2-40B4-BE49-F238E27FC236}">
                <a16:creationId xmlns:a16="http://schemas.microsoft.com/office/drawing/2014/main" id="{FDAD2226-EBC4-C3F8-BFC9-A149C0216E8B}"/>
              </a:ext>
            </a:extLst>
          </p:cNvPr>
          <p:cNvSpPr/>
          <p:nvPr/>
        </p:nvSpPr>
        <p:spPr>
          <a:xfrm>
            <a:off x="252983" y="3585394"/>
            <a:ext cx="11649456" cy="116873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5FF331-798A-C1C6-805B-D4F27D9B4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585" y="37445"/>
            <a:ext cx="11397615" cy="423193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Аналитический обзор существующих методов и средств построения </a:t>
            </a: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33AE022A-CA30-18BA-97A5-D5DB4673D490}"/>
              </a:ext>
            </a:extLst>
          </p:cNvPr>
          <p:cNvSpPr/>
          <p:nvPr/>
        </p:nvSpPr>
        <p:spPr>
          <a:xfrm>
            <a:off x="256032" y="585216"/>
            <a:ext cx="292608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FAD1ED-C294-EA8B-F99D-36B82C9F79F7}"/>
              </a:ext>
            </a:extLst>
          </p:cNvPr>
          <p:cNvSpPr/>
          <p:nvPr/>
        </p:nvSpPr>
        <p:spPr>
          <a:xfrm>
            <a:off x="283464" y="585216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№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C8EEEF28-AD43-A3C0-DE39-6C4C63423A66}"/>
              </a:ext>
            </a:extLst>
          </p:cNvPr>
          <p:cNvSpPr/>
          <p:nvPr/>
        </p:nvSpPr>
        <p:spPr>
          <a:xfrm>
            <a:off x="548640" y="585216"/>
            <a:ext cx="141732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6C2164F3-BF77-B8D5-1DF6-EBD6E9165283}"/>
              </a:ext>
            </a:extLst>
          </p:cNvPr>
          <p:cNvSpPr/>
          <p:nvPr/>
        </p:nvSpPr>
        <p:spPr>
          <a:xfrm>
            <a:off x="576072" y="585216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Средство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F2C1820A-AD85-8810-B413-7316375DD4B1}"/>
              </a:ext>
            </a:extLst>
          </p:cNvPr>
          <p:cNvSpPr/>
          <p:nvPr/>
        </p:nvSpPr>
        <p:spPr>
          <a:xfrm>
            <a:off x="1965960" y="585216"/>
            <a:ext cx="1993392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4A283ED0-CBF1-4A26-3BC5-7E3698C93E84}"/>
              </a:ext>
            </a:extLst>
          </p:cNvPr>
          <p:cNvSpPr/>
          <p:nvPr/>
        </p:nvSpPr>
        <p:spPr>
          <a:xfrm>
            <a:off x="1993392" y="585216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Методы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47BBF59F-8C5F-55D1-7DD5-88BED429A745}"/>
              </a:ext>
            </a:extLst>
          </p:cNvPr>
          <p:cNvSpPr/>
          <p:nvPr/>
        </p:nvSpPr>
        <p:spPr>
          <a:xfrm>
            <a:off x="3959352" y="585216"/>
            <a:ext cx="356616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D0CA0053-9654-33AD-89AA-AC88D66ADBDA}"/>
              </a:ext>
            </a:extLst>
          </p:cNvPr>
          <p:cNvSpPr/>
          <p:nvPr/>
        </p:nvSpPr>
        <p:spPr>
          <a:xfrm>
            <a:off x="3986784" y="585216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Формула / модель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8AE56C8F-F633-C060-324D-6AFB8271D515}"/>
              </a:ext>
            </a:extLst>
          </p:cNvPr>
          <p:cNvSpPr/>
          <p:nvPr/>
        </p:nvSpPr>
        <p:spPr>
          <a:xfrm>
            <a:off x="7525512" y="585216"/>
            <a:ext cx="4370831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A6E06A30-3CA3-B38F-48DB-942F8A230EF6}"/>
              </a:ext>
            </a:extLst>
          </p:cNvPr>
          <p:cNvSpPr/>
          <p:nvPr/>
        </p:nvSpPr>
        <p:spPr>
          <a:xfrm>
            <a:off x="7552944" y="585216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Недостатки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A55BFBE4-D73A-4A7D-6EFD-7FA71ED59A0E}"/>
              </a:ext>
            </a:extLst>
          </p:cNvPr>
          <p:cNvSpPr/>
          <p:nvPr/>
        </p:nvSpPr>
        <p:spPr>
          <a:xfrm>
            <a:off x="256030" y="859536"/>
            <a:ext cx="11649456" cy="1425274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09A46D3B-FFD7-8C66-E62E-A85460EC1ABB}"/>
              </a:ext>
            </a:extLst>
          </p:cNvPr>
          <p:cNvSpPr/>
          <p:nvPr/>
        </p:nvSpPr>
        <p:spPr>
          <a:xfrm flipH="1">
            <a:off x="530350" y="859535"/>
            <a:ext cx="18290" cy="1442587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6A6E07BB-8F77-9B66-012C-69C2575AFF58}"/>
              </a:ext>
            </a:extLst>
          </p:cNvPr>
          <p:cNvSpPr/>
          <p:nvPr/>
        </p:nvSpPr>
        <p:spPr>
          <a:xfrm flipH="1">
            <a:off x="1947671" y="859535"/>
            <a:ext cx="18289" cy="1498403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469A0BCD-30A8-0E23-A76B-3EBFB2C12319}"/>
              </a:ext>
            </a:extLst>
          </p:cNvPr>
          <p:cNvSpPr/>
          <p:nvPr/>
        </p:nvSpPr>
        <p:spPr>
          <a:xfrm flipH="1">
            <a:off x="3922775" y="859535"/>
            <a:ext cx="36577" cy="1498405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1CEDE1BD-E7FF-0A45-2FD7-DEF31FD4DBB2}"/>
              </a:ext>
            </a:extLst>
          </p:cNvPr>
          <p:cNvSpPr/>
          <p:nvPr/>
        </p:nvSpPr>
        <p:spPr>
          <a:xfrm>
            <a:off x="7498080" y="859535"/>
            <a:ext cx="9144" cy="1461852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757C16A8-396D-F38F-2D4A-1D3325E67CE8}"/>
              </a:ext>
            </a:extLst>
          </p:cNvPr>
          <p:cNvSpPr/>
          <p:nvPr/>
        </p:nvSpPr>
        <p:spPr>
          <a:xfrm>
            <a:off x="252982" y="2282235"/>
            <a:ext cx="11634217" cy="2576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B9FEA518-9330-07AC-9CF7-087009FFAF39}"/>
              </a:ext>
            </a:extLst>
          </p:cNvPr>
          <p:cNvSpPr/>
          <p:nvPr/>
        </p:nvSpPr>
        <p:spPr>
          <a:xfrm>
            <a:off x="274320" y="859536"/>
            <a:ext cx="2560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51A67D32-DD18-0FB7-BB6F-BB773D99E28F}"/>
              </a:ext>
            </a:extLst>
          </p:cNvPr>
          <p:cNvSpPr/>
          <p:nvPr/>
        </p:nvSpPr>
        <p:spPr>
          <a:xfrm>
            <a:off x="585216" y="896112"/>
            <a:ext cx="13441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3A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Google Maps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79975F7A-5608-61FD-57A7-19D9E60F9B80}"/>
              </a:ext>
            </a:extLst>
          </p:cNvPr>
          <p:cNvSpPr/>
          <p:nvPr/>
        </p:nvSpPr>
        <p:spPr>
          <a:xfrm>
            <a:off x="2011680" y="896112"/>
            <a:ext cx="1901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Алгоритмы Дейкстры / A*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ML-модели прогноза ETA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(DeepMind GNN)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Image 0" descr="preencoded.png">
            <a:extLst>
              <a:ext uri="{FF2B5EF4-FFF2-40B4-BE49-F238E27FC236}">
                <a16:creationId xmlns:a16="http://schemas.microsoft.com/office/drawing/2014/main" id="{C3BC321E-DC0E-30A0-A3F3-F5CADAF16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0" y="939177"/>
            <a:ext cx="2721863" cy="604237"/>
          </a:xfrm>
          <a:prstGeom prst="rect">
            <a:avLst/>
          </a:prstGeom>
        </p:spPr>
      </p:pic>
      <p:sp>
        <p:nvSpPr>
          <p:cNvPr id="28" name="Text 21">
            <a:extLst>
              <a:ext uri="{FF2B5EF4-FFF2-40B4-BE49-F238E27FC236}">
                <a16:creationId xmlns:a16="http://schemas.microsoft.com/office/drawing/2014/main" id="{1D01A983-60B3-3C5C-0BE1-7A9484C43F60}"/>
              </a:ext>
            </a:extLst>
          </p:cNvPr>
          <p:cNvSpPr/>
          <p:nvPr/>
        </p:nvSpPr>
        <p:spPr>
          <a:xfrm>
            <a:off x="4032504" y="1553772"/>
            <a:ext cx="3474720" cy="147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маршрут: минимум суммы весов рёбер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Image 1" descr="preencoded.png">
            <a:extLst>
              <a:ext uri="{FF2B5EF4-FFF2-40B4-BE49-F238E27FC236}">
                <a16:creationId xmlns:a16="http://schemas.microsoft.com/office/drawing/2014/main" id="{C6D45286-14EE-55B5-B3AF-07C3E5F09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0914" y="1755671"/>
            <a:ext cx="2630470" cy="216242"/>
          </a:xfrm>
          <a:prstGeom prst="rect">
            <a:avLst/>
          </a:prstGeom>
        </p:spPr>
      </p:pic>
      <p:sp>
        <p:nvSpPr>
          <p:cNvPr id="30" name="Text 22">
            <a:extLst>
              <a:ext uri="{FF2B5EF4-FFF2-40B4-BE49-F238E27FC236}">
                <a16:creationId xmlns:a16="http://schemas.microsoft.com/office/drawing/2014/main" id="{C97A568B-CB2C-F894-5204-35623599C122}"/>
              </a:ext>
            </a:extLst>
          </p:cNvPr>
          <p:cNvSpPr/>
          <p:nvPr/>
        </p:nvSpPr>
        <p:spPr>
          <a:xfrm>
            <a:off x="4005072" y="1973183"/>
            <a:ext cx="3474720" cy="147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ETA: ML-предсказание по вектору признаков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3">
            <a:extLst>
              <a:ext uri="{FF2B5EF4-FFF2-40B4-BE49-F238E27FC236}">
                <a16:creationId xmlns:a16="http://schemas.microsoft.com/office/drawing/2014/main" id="{9FBC6654-410B-22BF-6F9A-D40684FFAEE8}"/>
              </a:ext>
            </a:extLst>
          </p:cNvPr>
          <p:cNvSpPr/>
          <p:nvPr/>
        </p:nvSpPr>
        <p:spPr>
          <a:xfrm>
            <a:off x="7589520" y="905256"/>
            <a:ext cx="4251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Не учитывается состояние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покрытия дороги.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Отсутствует анализ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спутниковых снимков.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Закрытая модель.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4">
            <a:extLst>
              <a:ext uri="{FF2B5EF4-FFF2-40B4-BE49-F238E27FC236}">
                <a16:creationId xmlns:a16="http://schemas.microsoft.com/office/drawing/2014/main" id="{67E2030B-51FE-D4E3-EE13-816687DC02A1}"/>
              </a:ext>
            </a:extLst>
          </p:cNvPr>
          <p:cNvSpPr/>
          <p:nvPr/>
        </p:nvSpPr>
        <p:spPr>
          <a:xfrm>
            <a:off x="256030" y="2284809"/>
            <a:ext cx="11646409" cy="1298933"/>
          </a:xfrm>
          <a:prstGeom prst="rect">
            <a:avLst/>
          </a:prstGeom>
          <a:solidFill>
            <a:srgbClr val="EEF4FC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80A5AF43-A0E1-B206-8FA3-12EDCAD05F44}"/>
              </a:ext>
            </a:extLst>
          </p:cNvPr>
          <p:cNvSpPr/>
          <p:nvPr/>
        </p:nvSpPr>
        <p:spPr>
          <a:xfrm>
            <a:off x="530352" y="2284811"/>
            <a:ext cx="0" cy="969264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34" name="Shape 26">
            <a:extLst>
              <a:ext uri="{FF2B5EF4-FFF2-40B4-BE49-F238E27FC236}">
                <a16:creationId xmlns:a16="http://schemas.microsoft.com/office/drawing/2014/main" id="{C9CCBAA8-5CB2-F7A6-0506-2B52F6F21AB2}"/>
              </a:ext>
            </a:extLst>
          </p:cNvPr>
          <p:cNvSpPr/>
          <p:nvPr/>
        </p:nvSpPr>
        <p:spPr>
          <a:xfrm>
            <a:off x="1947672" y="2284811"/>
            <a:ext cx="0" cy="969264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35" name="Shape 27">
            <a:extLst>
              <a:ext uri="{FF2B5EF4-FFF2-40B4-BE49-F238E27FC236}">
                <a16:creationId xmlns:a16="http://schemas.microsoft.com/office/drawing/2014/main" id="{9D536F00-2312-72BC-8E2A-934ACBB58A81}"/>
              </a:ext>
            </a:extLst>
          </p:cNvPr>
          <p:cNvSpPr/>
          <p:nvPr/>
        </p:nvSpPr>
        <p:spPr>
          <a:xfrm>
            <a:off x="3941064" y="2284811"/>
            <a:ext cx="0" cy="969264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36" name="Shape 28">
            <a:extLst>
              <a:ext uri="{FF2B5EF4-FFF2-40B4-BE49-F238E27FC236}">
                <a16:creationId xmlns:a16="http://schemas.microsoft.com/office/drawing/2014/main" id="{04D8D2D2-9B1F-46BF-7D92-B1C97D593821}"/>
              </a:ext>
            </a:extLst>
          </p:cNvPr>
          <p:cNvSpPr/>
          <p:nvPr/>
        </p:nvSpPr>
        <p:spPr>
          <a:xfrm>
            <a:off x="7507224" y="2284811"/>
            <a:ext cx="0" cy="969264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38" name="Text 30">
            <a:extLst>
              <a:ext uri="{FF2B5EF4-FFF2-40B4-BE49-F238E27FC236}">
                <a16:creationId xmlns:a16="http://schemas.microsoft.com/office/drawing/2014/main" id="{67D5CD11-7010-E5A3-3461-681641616256}"/>
              </a:ext>
            </a:extLst>
          </p:cNvPr>
          <p:cNvSpPr/>
          <p:nvPr/>
        </p:nvSpPr>
        <p:spPr>
          <a:xfrm>
            <a:off x="256032" y="2284811"/>
            <a:ext cx="2560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1">
            <a:extLst>
              <a:ext uri="{FF2B5EF4-FFF2-40B4-BE49-F238E27FC236}">
                <a16:creationId xmlns:a16="http://schemas.microsoft.com/office/drawing/2014/main" id="{04AC68F1-9772-9617-F4EC-1FEB7B04BB4E}"/>
              </a:ext>
            </a:extLst>
          </p:cNvPr>
          <p:cNvSpPr/>
          <p:nvPr/>
        </p:nvSpPr>
        <p:spPr>
          <a:xfrm>
            <a:off x="566928" y="2321387"/>
            <a:ext cx="13441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3A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Waze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2">
            <a:extLst>
              <a:ext uri="{FF2B5EF4-FFF2-40B4-BE49-F238E27FC236}">
                <a16:creationId xmlns:a16="http://schemas.microsoft.com/office/drawing/2014/main" id="{1FC325F3-7961-41A6-719C-4823DDB18F6B}"/>
              </a:ext>
            </a:extLst>
          </p:cNvPr>
          <p:cNvSpPr/>
          <p:nvPr/>
        </p:nvSpPr>
        <p:spPr>
          <a:xfrm>
            <a:off x="1993392" y="2321387"/>
            <a:ext cx="1901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Краудсорсинг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Динамическая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маршрутизация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" name="Image 2" descr="preencoded.png">
            <a:extLst>
              <a:ext uri="{FF2B5EF4-FFF2-40B4-BE49-F238E27FC236}">
                <a16:creationId xmlns:a16="http://schemas.microsoft.com/office/drawing/2014/main" id="{5CA4C155-174D-A364-3D6D-21F17389B2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6404" y="2302127"/>
            <a:ext cx="2575555" cy="489255"/>
          </a:xfrm>
          <a:prstGeom prst="rect">
            <a:avLst/>
          </a:prstGeom>
        </p:spPr>
      </p:pic>
      <p:sp>
        <p:nvSpPr>
          <p:cNvPr id="42" name="Text 33">
            <a:extLst>
              <a:ext uri="{FF2B5EF4-FFF2-40B4-BE49-F238E27FC236}">
                <a16:creationId xmlns:a16="http://schemas.microsoft.com/office/drawing/2014/main" id="{D8644468-0586-3A38-CF94-3EC1CE77221C}"/>
              </a:ext>
            </a:extLst>
          </p:cNvPr>
          <p:cNvSpPr/>
          <p:nvPr/>
        </p:nvSpPr>
        <p:spPr>
          <a:xfrm>
            <a:off x="4032504" y="2775937"/>
            <a:ext cx="3474720" cy="147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время: длина / средняя скорость толпы + задержка события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3" name="Image 3" descr="preencoded.png">
            <a:extLst>
              <a:ext uri="{FF2B5EF4-FFF2-40B4-BE49-F238E27FC236}">
                <a16:creationId xmlns:a16="http://schemas.microsoft.com/office/drawing/2014/main" id="{4225239A-EF72-0BEC-3BBB-CF61214542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718" y="2898156"/>
            <a:ext cx="1688286" cy="515097"/>
          </a:xfrm>
          <a:prstGeom prst="rect">
            <a:avLst/>
          </a:prstGeom>
        </p:spPr>
      </p:pic>
      <p:sp>
        <p:nvSpPr>
          <p:cNvPr id="44" name="Text 34">
            <a:extLst>
              <a:ext uri="{FF2B5EF4-FFF2-40B4-BE49-F238E27FC236}">
                <a16:creationId xmlns:a16="http://schemas.microsoft.com/office/drawing/2014/main" id="{9E9F38F5-160C-1DEE-0A68-D1E17976FE5B}"/>
              </a:ext>
            </a:extLst>
          </p:cNvPr>
          <p:cNvSpPr/>
          <p:nvPr/>
        </p:nvSpPr>
        <p:spPr>
          <a:xfrm>
            <a:off x="3985515" y="3378022"/>
            <a:ext cx="3474720" cy="147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скорость: среднее по N репортам пользователей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35">
            <a:extLst>
              <a:ext uri="{FF2B5EF4-FFF2-40B4-BE49-F238E27FC236}">
                <a16:creationId xmlns:a16="http://schemas.microsoft.com/office/drawing/2014/main" id="{BD67F49B-EFA5-0BCA-6863-CDFB0ED8C3A1}"/>
              </a:ext>
            </a:extLst>
          </p:cNvPr>
          <p:cNvSpPr/>
          <p:nvPr/>
        </p:nvSpPr>
        <p:spPr>
          <a:xfrm>
            <a:off x="7571232" y="2330531"/>
            <a:ext cx="4251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Зависимость от активности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пользователей.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Слабый анализ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качества дороги.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37">
            <a:extLst>
              <a:ext uri="{FF2B5EF4-FFF2-40B4-BE49-F238E27FC236}">
                <a16:creationId xmlns:a16="http://schemas.microsoft.com/office/drawing/2014/main" id="{6160584D-83B5-EF7E-B3A3-E7DE43EEB64C}"/>
              </a:ext>
            </a:extLst>
          </p:cNvPr>
          <p:cNvSpPr/>
          <p:nvPr/>
        </p:nvSpPr>
        <p:spPr>
          <a:xfrm>
            <a:off x="530352" y="3254074"/>
            <a:ext cx="21336" cy="1498403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48" name="Shape 38">
            <a:extLst>
              <a:ext uri="{FF2B5EF4-FFF2-40B4-BE49-F238E27FC236}">
                <a16:creationId xmlns:a16="http://schemas.microsoft.com/office/drawing/2014/main" id="{1E262FE1-324D-E983-17BF-096159765F08}"/>
              </a:ext>
            </a:extLst>
          </p:cNvPr>
          <p:cNvSpPr/>
          <p:nvPr/>
        </p:nvSpPr>
        <p:spPr>
          <a:xfrm>
            <a:off x="1947672" y="3254074"/>
            <a:ext cx="12034" cy="1528237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49" name="Shape 39">
            <a:extLst>
              <a:ext uri="{FF2B5EF4-FFF2-40B4-BE49-F238E27FC236}">
                <a16:creationId xmlns:a16="http://schemas.microsoft.com/office/drawing/2014/main" id="{6109C054-A00C-0944-4DB9-CA7465302FB4}"/>
              </a:ext>
            </a:extLst>
          </p:cNvPr>
          <p:cNvSpPr/>
          <p:nvPr/>
        </p:nvSpPr>
        <p:spPr>
          <a:xfrm>
            <a:off x="3941063" y="3254074"/>
            <a:ext cx="12443" cy="1498405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50" name="Shape 40">
            <a:extLst>
              <a:ext uri="{FF2B5EF4-FFF2-40B4-BE49-F238E27FC236}">
                <a16:creationId xmlns:a16="http://schemas.microsoft.com/office/drawing/2014/main" id="{AA9CF99D-881A-513D-AAB1-AC1B8B129E55}"/>
              </a:ext>
            </a:extLst>
          </p:cNvPr>
          <p:cNvSpPr/>
          <p:nvPr/>
        </p:nvSpPr>
        <p:spPr>
          <a:xfrm>
            <a:off x="7507223" y="3254075"/>
            <a:ext cx="12035" cy="1517056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52" name="Text 42">
            <a:extLst>
              <a:ext uri="{FF2B5EF4-FFF2-40B4-BE49-F238E27FC236}">
                <a16:creationId xmlns:a16="http://schemas.microsoft.com/office/drawing/2014/main" id="{C7486C08-EBF8-9C72-6D95-5F8DFDDF16DE}"/>
              </a:ext>
            </a:extLst>
          </p:cNvPr>
          <p:cNvSpPr/>
          <p:nvPr/>
        </p:nvSpPr>
        <p:spPr>
          <a:xfrm>
            <a:off x="256032" y="3254075"/>
            <a:ext cx="2560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43">
            <a:extLst>
              <a:ext uri="{FF2B5EF4-FFF2-40B4-BE49-F238E27FC236}">
                <a16:creationId xmlns:a16="http://schemas.microsoft.com/office/drawing/2014/main" id="{5F91D1C8-48BB-2FA3-F6DA-E2AA1D99FE19}"/>
              </a:ext>
            </a:extLst>
          </p:cNvPr>
          <p:cNvSpPr/>
          <p:nvPr/>
        </p:nvSpPr>
        <p:spPr>
          <a:xfrm>
            <a:off x="563880" y="3564588"/>
            <a:ext cx="13441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3A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CNN / U-Net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950" dirty="0">
                <a:solidFill>
                  <a:srgbClr val="1A3A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сегментация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950" dirty="0">
                <a:solidFill>
                  <a:srgbClr val="1A3A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дорог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44">
            <a:extLst>
              <a:ext uri="{FF2B5EF4-FFF2-40B4-BE49-F238E27FC236}">
                <a16:creationId xmlns:a16="http://schemas.microsoft.com/office/drawing/2014/main" id="{C13CFC2B-F8D0-F2B1-83F3-382CEB485F57}"/>
              </a:ext>
            </a:extLst>
          </p:cNvPr>
          <p:cNvSpPr/>
          <p:nvPr/>
        </p:nvSpPr>
        <p:spPr>
          <a:xfrm>
            <a:off x="1992116" y="3525058"/>
            <a:ext cx="1901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Глубокое обучение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Семантическая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сегментация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5" name="Image 4" descr="preencoded.png">
            <a:extLst>
              <a:ext uri="{FF2B5EF4-FFF2-40B4-BE49-F238E27FC236}">
                <a16:creationId xmlns:a16="http://schemas.microsoft.com/office/drawing/2014/main" id="{9F1FF34F-7172-4DA5-59C1-0D8FE50132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0940" y="3629564"/>
            <a:ext cx="2646409" cy="347268"/>
          </a:xfrm>
          <a:prstGeom prst="rect">
            <a:avLst/>
          </a:prstGeom>
        </p:spPr>
      </p:pic>
      <p:sp>
        <p:nvSpPr>
          <p:cNvPr id="56" name="Text 45">
            <a:extLst>
              <a:ext uri="{FF2B5EF4-FFF2-40B4-BE49-F238E27FC236}">
                <a16:creationId xmlns:a16="http://schemas.microsoft.com/office/drawing/2014/main" id="{066868AD-6204-B2E7-EF43-4E0AC843CB73}"/>
              </a:ext>
            </a:extLst>
          </p:cNvPr>
          <p:cNvSpPr/>
          <p:nvPr/>
        </p:nvSpPr>
        <p:spPr>
          <a:xfrm>
            <a:off x="4000501" y="4043775"/>
            <a:ext cx="3474720" cy="147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предсказание класса пикселя (softmax)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7" name="Image 5" descr="preencoded.png">
            <a:extLst>
              <a:ext uri="{FF2B5EF4-FFF2-40B4-BE49-F238E27FC236}">
                <a16:creationId xmlns:a16="http://schemas.microsoft.com/office/drawing/2014/main" id="{1CD27AFC-BA17-B9F3-89F4-E43A5C991F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7090" y="4210703"/>
            <a:ext cx="1849517" cy="361296"/>
          </a:xfrm>
          <a:prstGeom prst="rect">
            <a:avLst/>
          </a:prstGeom>
        </p:spPr>
      </p:pic>
      <p:sp>
        <p:nvSpPr>
          <p:cNvPr id="58" name="Text 46">
            <a:extLst>
              <a:ext uri="{FF2B5EF4-FFF2-40B4-BE49-F238E27FC236}">
                <a16:creationId xmlns:a16="http://schemas.microsoft.com/office/drawing/2014/main" id="{6630BE8C-FC14-838C-CA98-45264A632FDA}"/>
              </a:ext>
            </a:extLst>
          </p:cNvPr>
          <p:cNvSpPr/>
          <p:nvPr/>
        </p:nvSpPr>
        <p:spPr>
          <a:xfrm>
            <a:off x="3953256" y="4532772"/>
            <a:ext cx="3474720" cy="147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функция потерь: кросс-энтропия по классам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 47">
            <a:extLst>
              <a:ext uri="{FF2B5EF4-FFF2-40B4-BE49-F238E27FC236}">
                <a16:creationId xmlns:a16="http://schemas.microsoft.com/office/drawing/2014/main" id="{64E97208-D492-462E-4D48-DB7AFD9AABB0}"/>
              </a:ext>
            </a:extLst>
          </p:cNvPr>
          <p:cNvSpPr/>
          <p:nvPr/>
        </p:nvSpPr>
        <p:spPr>
          <a:xfrm>
            <a:off x="7589520" y="3559418"/>
            <a:ext cx="348386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Требует большого объёма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размеченных данных.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Необходима GPU.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Нет модуля расчёта ETA.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Shape 53">
            <a:extLst>
              <a:ext uri="{FF2B5EF4-FFF2-40B4-BE49-F238E27FC236}">
                <a16:creationId xmlns:a16="http://schemas.microsoft.com/office/drawing/2014/main" id="{764052BA-EC56-C9B5-F640-2E60110BCD99}"/>
              </a:ext>
            </a:extLst>
          </p:cNvPr>
          <p:cNvSpPr/>
          <p:nvPr/>
        </p:nvSpPr>
        <p:spPr>
          <a:xfrm>
            <a:off x="256032" y="4736592"/>
            <a:ext cx="11649456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72" name="Shape 59">
            <a:extLst>
              <a:ext uri="{FF2B5EF4-FFF2-40B4-BE49-F238E27FC236}">
                <a16:creationId xmlns:a16="http://schemas.microsoft.com/office/drawing/2014/main" id="{F8636A62-4A16-BD1F-FD49-C01F794F8EA9}"/>
              </a:ext>
            </a:extLst>
          </p:cNvPr>
          <p:cNvSpPr/>
          <p:nvPr/>
        </p:nvSpPr>
        <p:spPr>
          <a:xfrm>
            <a:off x="256032" y="4736592"/>
            <a:ext cx="11649456" cy="969264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73" name="Shape 60">
            <a:extLst>
              <a:ext uri="{FF2B5EF4-FFF2-40B4-BE49-F238E27FC236}">
                <a16:creationId xmlns:a16="http://schemas.microsoft.com/office/drawing/2014/main" id="{1B671DAF-83CC-1DD8-FB61-F1BEF9E3885D}"/>
              </a:ext>
            </a:extLst>
          </p:cNvPr>
          <p:cNvSpPr/>
          <p:nvPr/>
        </p:nvSpPr>
        <p:spPr>
          <a:xfrm>
            <a:off x="548640" y="4736592"/>
            <a:ext cx="0" cy="969264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74" name="Shape 61">
            <a:extLst>
              <a:ext uri="{FF2B5EF4-FFF2-40B4-BE49-F238E27FC236}">
                <a16:creationId xmlns:a16="http://schemas.microsoft.com/office/drawing/2014/main" id="{37872DF1-131D-3704-159B-447BC2A6D5E7}"/>
              </a:ext>
            </a:extLst>
          </p:cNvPr>
          <p:cNvSpPr/>
          <p:nvPr/>
        </p:nvSpPr>
        <p:spPr>
          <a:xfrm>
            <a:off x="1965960" y="4736592"/>
            <a:ext cx="0" cy="969264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75" name="Shape 62">
            <a:extLst>
              <a:ext uri="{FF2B5EF4-FFF2-40B4-BE49-F238E27FC236}">
                <a16:creationId xmlns:a16="http://schemas.microsoft.com/office/drawing/2014/main" id="{C130AC34-97F5-AC12-8F9F-8939EFF40B1C}"/>
              </a:ext>
            </a:extLst>
          </p:cNvPr>
          <p:cNvSpPr/>
          <p:nvPr/>
        </p:nvSpPr>
        <p:spPr>
          <a:xfrm>
            <a:off x="3959352" y="4736592"/>
            <a:ext cx="0" cy="969264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76" name="Shape 63">
            <a:extLst>
              <a:ext uri="{FF2B5EF4-FFF2-40B4-BE49-F238E27FC236}">
                <a16:creationId xmlns:a16="http://schemas.microsoft.com/office/drawing/2014/main" id="{E24EE87B-DD36-9E11-BE9C-AAA585272D8B}"/>
              </a:ext>
            </a:extLst>
          </p:cNvPr>
          <p:cNvSpPr/>
          <p:nvPr/>
        </p:nvSpPr>
        <p:spPr>
          <a:xfrm>
            <a:off x="7525512" y="4736592"/>
            <a:ext cx="0" cy="969264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77" name="Shape 64">
            <a:extLst>
              <a:ext uri="{FF2B5EF4-FFF2-40B4-BE49-F238E27FC236}">
                <a16:creationId xmlns:a16="http://schemas.microsoft.com/office/drawing/2014/main" id="{37B8104A-60A5-93C6-A005-5FBDBF36F9AF}"/>
              </a:ext>
            </a:extLst>
          </p:cNvPr>
          <p:cNvSpPr/>
          <p:nvPr/>
        </p:nvSpPr>
        <p:spPr>
          <a:xfrm>
            <a:off x="256032" y="5705856"/>
            <a:ext cx="11649456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78" name="Text 65">
            <a:extLst>
              <a:ext uri="{FF2B5EF4-FFF2-40B4-BE49-F238E27FC236}">
                <a16:creationId xmlns:a16="http://schemas.microsoft.com/office/drawing/2014/main" id="{0E6FE97D-762A-D498-E902-44BCE61AD8B1}"/>
              </a:ext>
            </a:extLst>
          </p:cNvPr>
          <p:cNvSpPr/>
          <p:nvPr/>
        </p:nvSpPr>
        <p:spPr>
          <a:xfrm>
            <a:off x="274320" y="4736592"/>
            <a:ext cx="2560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 66">
            <a:extLst>
              <a:ext uri="{FF2B5EF4-FFF2-40B4-BE49-F238E27FC236}">
                <a16:creationId xmlns:a16="http://schemas.microsoft.com/office/drawing/2014/main" id="{D4147D9B-51C9-7335-8DF8-987EE8BF095C}"/>
              </a:ext>
            </a:extLst>
          </p:cNvPr>
          <p:cNvSpPr/>
          <p:nvPr/>
        </p:nvSpPr>
        <p:spPr>
          <a:xfrm>
            <a:off x="585216" y="4773168"/>
            <a:ext cx="13441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3A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Яндекс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950" dirty="0">
                <a:solidFill>
                  <a:srgbClr val="1A3A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Карты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 67">
            <a:extLst>
              <a:ext uri="{FF2B5EF4-FFF2-40B4-BE49-F238E27FC236}">
                <a16:creationId xmlns:a16="http://schemas.microsoft.com/office/drawing/2014/main" id="{5C21C2F8-0ED5-584E-4F46-110787EF3578}"/>
              </a:ext>
            </a:extLst>
          </p:cNvPr>
          <p:cNvSpPr/>
          <p:nvPr/>
        </p:nvSpPr>
        <p:spPr>
          <a:xfrm>
            <a:off x="2005425" y="4676135"/>
            <a:ext cx="1901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CatBoost + краудсорс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Исторические данные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сенсоров РФ/СНГ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" name="Image 7" descr="preencoded.png">
            <a:extLst>
              <a:ext uri="{FF2B5EF4-FFF2-40B4-BE49-F238E27FC236}">
                <a16:creationId xmlns:a16="http://schemas.microsoft.com/office/drawing/2014/main" id="{770028B6-1931-B807-1B2B-5A3A0A7763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18788" y="4923414"/>
            <a:ext cx="3447289" cy="474025"/>
          </a:xfrm>
          <a:prstGeom prst="rect">
            <a:avLst/>
          </a:prstGeom>
        </p:spPr>
      </p:pic>
      <p:sp>
        <p:nvSpPr>
          <p:cNvPr id="82" name="Text 68">
            <a:extLst>
              <a:ext uri="{FF2B5EF4-FFF2-40B4-BE49-F238E27FC236}">
                <a16:creationId xmlns:a16="http://schemas.microsoft.com/office/drawing/2014/main" id="{71A04B4A-4064-B51B-3290-B67A98C467E1}"/>
              </a:ext>
            </a:extLst>
          </p:cNvPr>
          <p:cNvSpPr/>
          <p:nvPr/>
        </p:nvSpPr>
        <p:spPr>
          <a:xfrm>
            <a:off x="4005072" y="5410498"/>
            <a:ext cx="3474720" cy="348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ETA: градиентный бустинг по расстоянию, часу, погоде, истории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Text 69">
            <a:extLst>
              <a:ext uri="{FF2B5EF4-FFF2-40B4-BE49-F238E27FC236}">
                <a16:creationId xmlns:a16="http://schemas.microsoft.com/office/drawing/2014/main" id="{50020865-B87E-2CA5-BACA-7EA4B2F01551}"/>
              </a:ext>
            </a:extLst>
          </p:cNvPr>
          <p:cNvSpPr/>
          <p:nvPr/>
        </p:nvSpPr>
        <p:spPr>
          <a:xfrm>
            <a:off x="7589520" y="4782312"/>
            <a:ext cx="4251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Ограниченная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география (РФ/СНГ).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Закрытый стек.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Нет анализа покрытия.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Shape 70">
            <a:extLst>
              <a:ext uri="{FF2B5EF4-FFF2-40B4-BE49-F238E27FC236}">
                <a16:creationId xmlns:a16="http://schemas.microsoft.com/office/drawing/2014/main" id="{022A736F-C4A7-02EC-C1F8-948484CE0AD6}"/>
              </a:ext>
            </a:extLst>
          </p:cNvPr>
          <p:cNvSpPr/>
          <p:nvPr/>
        </p:nvSpPr>
        <p:spPr>
          <a:xfrm>
            <a:off x="256032" y="5705856"/>
            <a:ext cx="11649456" cy="969264"/>
          </a:xfrm>
          <a:prstGeom prst="rect">
            <a:avLst/>
          </a:prstGeom>
          <a:solidFill>
            <a:srgbClr val="E8F5E9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85" name="Shape 71">
            <a:extLst>
              <a:ext uri="{FF2B5EF4-FFF2-40B4-BE49-F238E27FC236}">
                <a16:creationId xmlns:a16="http://schemas.microsoft.com/office/drawing/2014/main" id="{BA53305E-DA09-71FA-BB50-B53F81AEE82B}"/>
              </a:ext>
            </a:extLst>
          </p:cNvPr>
          <p:cNvSpPr/>
          <p:nvPr/>
        </p:nvSpPr>
        <p:spPr>
          <a:xfrm>
            <a:off x="548640" y="5705856"/>
            <a:ext cx="0" cy="969264"/>
          </a:xfrm>
          <a:prstGeom prst="line">
            <a:avLst/>
          </a:prstGeom>
          <a:noFill/>
          <a:ln w="5080">
            <a:solidFill>
              <a:srgbClr val="1A6B3C"/>
            </a:solidFill>
            <a:prstDash val="solid"/>
          </a:ln>
        </p:spPr>
      </p:sp>
      <p:sp>
        <p:nvSpPr>
          <p:cNvPr id="86" name="Shape 72">
            <a:extLst>
              <a:ext uri="{FF2B5EF4-FFF2-40B4-BE49-F238E27FC236}">
                <a16:creationId xmlns:a16="http://schemas.microsoft.com/office/drawing/2014/main" id="{16D7E1F6-A9AC-D6DC-64D4-A22638CF4712}"/>
              </a:ext>
            </a:extLst>
          </p:cNvPr>
          <p:cNvSpPr/>
          <p:nvPr/>
        </p:nvSpPr>
        <p:spPr>
          <a:xfrm>
            <a:off x="1965960" y="5705856"/>
            <a:ext cx="0" cy="969264"/>
          </a:xfrm>
          <a:prstGeom prst="line">
            <a:avLst/>
          </a:prstGeom>
          <a:noFill/>
          <a:ln w="5080">
            <a:solidFill>
              <a:srgbClr val="1A6B3C"/>
            </a:solidFill>
            <a:prstDash val="solid"/>
          </a:ln>
        </p:spPr>
      </p:sp>
      <p:sp>
        <p:nvSpPr>
          <p:cNvPr id="87" name="Shape 73">
            <a:extLst>
              <a:ext uri="{FF2B5EF4-FFF2-40B4-BE49-F238E27FC236}">
                <a16:creationId xmlns:a16="http://schemas.microsoft.com/office/drawing/2014/main" id="{038D287B-D8DA-7080-FB8C-CD19867751C6}"/>
              </a:ext>
            </a:extLst>
          </p:cNvPr>
          <p:cNvSpPr/>
          <p:nvPr/>
        </p:nvSpPr>
        <p:spPr>
          <a:xfrm>
            <a:off x="3959352" y="5705856"/>
            <a:ext cx="0" cy="969264"/>
          </a:xfrm>
          <a:prstGeom prst="line">
            <a:avLst/>
          </a:prstGeom>
          <a:noFill/>
          <a:ln w="5080">
            <a:solidFill>
              <a:srgbClr val="1A6B3C"/>
            </a:solidFill>
            <a:prstDash val="solid"/>
          </a:ln>
        </p:spPr>
      </p:sp>
      <p:sp>
        <p:nvSpPr>
          <p:cNvPr id="88" name="Shape 74">
            <a:extLst>
              <a:ext uri="{FF2B5EF4-FFF2-40B4-BE49-F238E27FC236}">
                <a16:creationId xmlns:a16="http://schemas.microsoft.com/office/drawing/2014/main" id="{CDD71075-2027-BE81-DE24-0425CBBBEF73}"/>
              </a:ext>
            </a:extLst>
          </p:cNvPr>
          <p:cNvSpPr/>
          <p:nvPr/>
        </p:nvSpPr>
        <p:spPr>
          <a:xfrm>
            <a:off x="7525512" y="5705856"/>
            <a:ext cx="0" cy="969264"/>
          </a:xfrm>
          <a:prstGeom prst="line">
            <a:avLst/>
          </a:prstGeom>
          <a:noFill/>
          <a:ln w="5080">
            <a:solidFill>
              <a:srgbClr val="1A6B3C"/>
            </a:solidFill>
            <a:prstDash val="solid"/>
          </a:ln>
        </p:spPr>
      </p:sp>
      <p:sp>
        <p:nvSpPr>
          <p:cNvPr id="89" name="Shape 75">
            <a:extLst>
              <a:ext uri="{FF2B5EF4-FFF2-40B4-BE49-F238E27FC236}">
                <a16:creationId xmlns:a16="http://schemas.microsoft.com/office/drawing/2014/main" id="{33DFAC03-557C-700E-B43D-43D02A772FD2}"/>
              </a:ext>
            </a:extLst>
          </p:cNvPr>
          <p:cNvSpPr/>
          <p:nvPr/>
        </p:nvSpPr>
        <p:spPr>
          <a:xfrm>
            <a:off x="256032" y="6675120"/>
            <a:ext cx="11649456" cy="0"/>
          </a:xfrm>
          <a:prstGeom prst="line">
            <a:avLst/>
          </a:prstGeom>
          <a:noFill/>
          <a:ln w="5080">
            <a:solidFill>
              <a:srgbClr val="1A6B3C"/>
            </a:solidFill>
            <a:prstDash val="solid"/>
          </a:ln>
        </p:spPr>
      </p:sp>
      <p:sp>
        <p:nvSpPr>
          <p:cNvPr id="90" name="Text 76">
            <a:extLst>
              <a:ext uri="{FF2B5EF4-FFF2-40B4-BE49-F238E27FC236}">
                <a16:creationId xmlns:a16="http://schemas.microsoft.com/office/drawing/2014/main" id="{C7BA7E4D-41FB-87EA-9E2D-E4408C7E08E9}"/>
              </a:ext>
            </a:extLst>
          </p:cNvPr>
          <p:cNvSpPr/>
          <p:nvPr/>
        </p:nvSpPr>
        <p:spPr>
          <a:xfrm>
            <a:off x="274320" y="5705856"/>
            <a:ext cx="2560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6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★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Text 77">
            <a:extLst>
              <a:ext uri="{FF2B5EF4-FFF2-40B4-BE49-F238E27FC236}">
                <a16:creationId xmlns:a16="http://schemas.microsoft.com/office/drawing/2014/main" id="{6018F841-FFE3-0DB2-5F8B-43089A95A19F}"/>
              </a:ext>
            </a:extLst>
          </p:cNvPr>
          <p:cNvSpPr/>
          <p:nvPr/>
        </p:nvSpPr>
        <p:spPr>
          <a:xfrm>
            <a:off x="585216" y="5742432"/>
            <a:ext cx="13441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6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RoadSense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950" b="1" dirty="0">
                <a:solidFill>
                  <a:srgbClr val="1A6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(данная работа)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Text 78">
            <a:extLst>
              <a:ext uri="{FF2B5EF4-FFF2-40B4-BE49-F238E27FC236}">
                <a16:creationId xmlns:a16="http://schemas.microsoft.com/office/drawing/2014/main" id="{3904560F-70AE-7454-D3DE-35F09C91BACC}"/>
              </a:ext>
            </a:extLst>
          </p:cNvPr>
          <p:cNvSpPr/>
          <p:nvPr/>
        </p:nvSpPr>
        <p:spPr>
          <a:xfrm>
            <a:off x="2011680" y="5742432"/>
            <a:ext cx="1901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XGBoost + FCN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Вероятностная модель ДТП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2-opt + архив НЗТА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3" name="Image 8" descr="preencoded.png">
            <a:extLst>
              <a:ext uri="{FF2B5EF4-FFF2-40B4-BE49-F238E27FC236}">
                <a16:creationId xmlns:a16="http://schemas.microsoft.com/office/drawing/2014/main" id="{07990A26-C8CB-DAC3-E679-BF7588CD3E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96512" y="5880116"/>
            <a:ext cx="3291840" cy="474025"/>
          </a:xfrm>
          <a:prstGeom prst="rect">
            <a:avLst/>
          </a:prstGeom>
        </p:spPr>
      </p:pic>
      <p:sp>
        <p:nvSpPr>
          <p:cNvPr id="94" name="Text 79">
            <a:extLst>
              <a:ext uri="{FF2B5EF4-FFF2-40B4-BE49-F238E27FC236}">
                <a16:creationId xmlns:a16="http://schemas.microsoft.com/office/drawing/2014/main" id="{6BD6CC62-6B1C-A341-B0CC-EFEF3671587A}"/>
              </a:ext>
            </a:extLst>
          </p:cNvPr>
          <p:cNvSpPr/>
          <p:nvPr/>
        </p:nvSpPr>
        <p:spPr>
          <a:xfrm>
            <a:off x="4005072" y="6427499"/>
            <a:ext cx="3474720" cy="348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полная формула: чистое время + пробка + ДТП-риск + архив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Text 80">
            <a:extLst>
              <a:ext uri="{FF2B5EF4-FFF2-40B4-BE49-F238E27FC236}">
                <a16:creationId xmlns:a16="http://schemas.microsoft.com/office/drawing/2014/main" id="{50938E58-4A09-78AF-73DC-DBFF8D538E7E}"/>
              </a:ext>
            </a:extLst>
          </p:cNvPr>
          <p:cNvSpPr/>
          <p:nvPr/>
        </p:nvSpPr>
        <p:spPr>
          <a:xfrm>
            <a:off x="7589520" y="5751576"/>
            <a:ext cx="4251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6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Open source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000" b="1" dirty="0" err="1">
                <a:solidFill>
                  <a:srgbClr val="1A6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Анализ</a:t>
            </a:r>
            <a:r>
              <a:rPr lang="en-US" sz="1000" b="1" dirty="0">
                <a:solidFill>
                  <a:srgbClr val="1A6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покрытия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000" b="1" dirty="0" err="1">
                <a:solidFill>
                  <a:srgbClr val="1A6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Спутниковые</a:t>
            </a:r>
            <a:r>
              <a:rPr lang="en-US" sz="1000" b="1" dirty="0">
                <a:solidFill>
                  <a:srgbClr val="1A6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снимки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000" b="1" dirty="0" err="1">
                <a:solidFill>
                  <a:srgbClr val="1A6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Вер</a:t>
            </a:r>
            <a:r>
              <a:rPr lang="ru-RU" sz="1000" b="1" dirty="0">
                <a:solidFill>
                  <a:srgbClr val="1A6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оятнос</a:t>
            </a:r>
            <a:r>
              <a:rPr lang="en-US" sz="1000" b="1" dirty="0" err="1">
                <a:solidFill>
                  <a:srgbClr val="1A6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ть</a:t>
            </a:r>
            <a:r>
              <a:rPr lang="en-US" sz="1000" b="1" dirty="0">
                <a:solidFill>
                  <a:srgbClr val="1A6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ДТП + архив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Text 81">
            <a:extLst>
              <a:ext uri="{FF2B5EF4-FFF2-40B4-BE49-F238E27FC236}">
                <a16:creationId xmlns:a16="http://schemas.microsoft.com/office/drawing/2014/main" id="{89091517-7111-FD05-64FC-75C35625083A}"/>
              </a:ext>
            </a:extLst>
          </p:cNvPr>
          <p:cNvSpPr/>
          <p:nvPr/>
        </p:nvSpPr>
        <p:spPr>
          <a:xfrm>
            <a:off x="274320" y="6748272"/>
            <a:ext cx="1161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AAAA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★ — предлагаемое решение  |  RoadSense  |  Аналитический обзор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6246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AABD53-A75F-6CCC-CD98-1F6037EFB030}"/>
              </a:ext>
            </a:extLst>
          </p:cNvPr>
          <p:cNvSpPr txBox="1"/>
          <p:nvPr/>
        </p:nvSpPr>
        <p:spPr>
          <a:xfrm>
            <a:off x="3047198" y="152400"/>
            <a:ext cx="60976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ru-RU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Разработка алгоритма логистической системы перевозки</a:t>
            </a:r>
            <a:endParaRPr lang="ru-RU" b="0" dirty="0">
              <a:effectLst/>
            </a:endParaRPr>
          </a:p>
          <a:p>
            <a:br>
              <a:rPr lang="ru-RU" dirty="0"/>
            </a:br>
            <a:endParaRPr lang="ru-RU" dirty="0"/>
          </a:p>
        </p:txBody>
      </p:sp>
      <p:pic>
        <p:nvPicPr>
          <p:cNvPr id="17" name="Picture 1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3A36E6D-A071-B511-28D7-8CD8F7B9EB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0" y="621815"/>
            <a:ext cx="8636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328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AABD53-A75F-6CCC-CD98-1F6037EFB030}"/>
              </a:ext>
            </a:extLst>
          </p:cNvPr>
          <p:cNvSpPr txBox="1"/>
          <p:nvPr/>
        </p:nvSpPr>
        <p:spPr>
          <a:xfrm>
            <a:off x="3047198" y="152400"/>
            <a:ext cx="60976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ru-RU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Программная реализация алгоритма логистической системы перевозки</a:t>
            </a:r>
            <a:endParaRPr lang="ru-RU" b="0" dirty="0">
              <a:effectLst/>
            </a:endParaRPr>
          </a:p>
          <a:p>
            <a:br>
              <a:rPr lang="ru-RU" dirty="0"/>
            </a:br>
            <a:endParaRPr lang="ru-RU" dirty="0"/>
          </a:p>
        </p:txBody>
      </p:sp>
      <p:pic>
        <p:nvPicPr>
          <p:cNvPr id="12" name="Picture 11" descr="A group of rectangular white rectangles&#10;&#10;AI-generated content may be incorrect.">
            <a:extLst>
              <a:ext uri="{FF2B5EF4-FFF2-40B4-BE49-F238E27FC236}">
                <a16:creationId xmlns:a16="http://schemas.microsoft.com/office/drawing/2014/main" id="{FB9600A3-7ACE-F63D-1B26-66226534AC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444" y="901775"/>
            <a:ext cx="11801111" cy="580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249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4DE7D9-D54B-4844-55A7-0F9695F86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839" y="965478"/>
            <a:ext cx="4839362" cy="2880573"/>
          </a:xfrm>
          <a:prstGeom prst="rect">
            <a:avLst/>
          </a:prstGeom>
        </p:spPr>
      </p:pic>
      <p:pic>
        <p:nvPicPr>
          <p:cNvPr id="8" name="Picture 7" descr="An aerial view of a city&#10;&#10;AI-generated content may be incorrect.">
            <a:extLst>
              <a:ext uri="{FF2B5EF4-FFF2-40B4-BE49-F238E27FC236}">
                <a16:creationId xmlns:a16="http://schemas.microsoft.com/office/drawing/2014/main" id="{8F250685-1072-6CA2-AF73-DE2D61561A0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5371" y="3698068"/>
            <a:ext cx="4341257" cy="2602074"/>
          </a:xfrm>
          <a:prstGeom prst="rect">
            <a:avLst/>
          </a:prstGeom>
        </p:spPr>
      </p:pic>
      <p:pic>
        <p:nvPicPr>
          <p:cNvPr id="10" name="Picture 9" descr="An aerial view of a city&#10;&#10;AI-generated content may be incorrect.">
            <a:extLst>
              <a:ext uri="{FF2B5EF4-FFF2-40B4-BE49-F238E27FC236}">
                <a16:creationId xmlns:a16="http://schemas.microsoft.com/office/drawing/2014/main" id="{BDBBA3EC-CB39-A613-C8D6-69B4D966BD3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858" y="1168770"/>
            <a:ext cx="3657600" cy="2194560"/>
          </a:xfrm>
          <a:prstGeom prst="rect">
            <a:avLst/>
          </a:prstGeom>
        </p:spPr>
      </p:pic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53548820-09A6-C697-154D-0158DE03D37C}"/>
              </a:ext>
            </a:extLst>
          </p:cNvPr>
          <p:cNvCxnSpPr>
            <a:cxnSpLocks/>
          </p:cNvCxnSpPr>
          <p:nvPr/>
        </p:nvCxnSpPr>
        <p:spPr>
          <a:xfrm flipV="1">
            <a:off x="4819048" y="1973892"/>
            <a:ext cx="1970791" cy="67604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3ED99BA6-1E1E-F2D1-FD1B-ED3D19D121DA}"/>
              </a:ext>
            </a:extLst>
          </p:cNvPr>
          <p:cNvCxnSpPr>
            <a:cxnSpLocks/>
          </p:cNvCxnSpPr>
          <p:nvPr/>
        </p:nvCxnSpPr>
        <p:spPr>
          <a:xfrm rot="10800000" flipV="1">
            <a:off x="8458202" y="3918954"/>
            <a:ext cx="1828798" cy="1643646"/>
          </a:xfrm>
          <a:prstGeom prst="curvedConnector3">
            <a:avLst>
              <a:gd name="adj1" fmla="val -1053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760B06D-C3BD-8A8D-D893-8EF5BABDC560}"/>
              </a:ext>
            </a:extLst>
          </p:cNvPr>
          <p:cNvSpPr txBox="1"/>
          <p:nvPr/>
        </p:nvSpPr>
        <p:spPr>
          <a:xfrm>
            <a:off x="757663" y="3330433"/>
            <a:ext cx="3818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/>
              <a:t>Снимок участка дороги со спутника </a:t>
            </a:r>
            <a:r>
              <a:rPr lang="en-GB" sz="1400" dirty="0"/>
              <a:t>Google</a:t>
            </a:r>
            <a:endParaRPr lang="ru-RU" sz="1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E38CD51-2308-5A92-653A-99AC3C877B96}"/>
              </a:ext>
            </a:extLst>
          </p:cNvPr>
          <p:cNvSpPr txBox="1"/>
          <p:nvPr/>
        </p:nvSpPr>
        <p:spPr>
          <a:xfrm>
            <a:off x="3414816" y="6311182"/>
            <a:ext cx="53623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/>
              <a:t>Сегментация снимка на различные типы дорожного покрытия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FD297F4-1912-1511-74D8-99FCD704027F}"/>
              </a:ext>
            </a:extLst>
          </p:cNvPr>
          <p:cNvSpPr txBox="1"/>
          <p:nvPr/>
        </p:nvSpPr>
        <p:spPr>
          <a:xfrm>
            <a:off x="1670916" y="-54282"/>
            <a:ext cx="8850164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latin typeface="Times New Roman"/>
                <a:cs typeface="Times New Roman"/>
              </a:rPr>
              <a:t>Результаты работы программного модуля по сегментации дорожного покрытия </a:t>
            </a:r>
          </a:p>
          <a:p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1737151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C3253D8-E36A-A5D5-696C-A209100B0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640" y="1066800"/>
            <a:ext cx="8696717" cy="5257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BCA1B21-77EC-AA59-A816-FA37879E5195}"/>
              </a:ext>
            </a:extLst>
          </p:cNvPr>
          <p:cNvSpPr txBox="1"/>
          <p:nvPr/>
        </p:nvSpPr>
        <p:spPr>
          <a:xfrm>
            <a:off x="160721" y="152400"/>
            <a:ext cx="1187055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Оценка эффективности разработанной модели и алгоритма</a:t>
            </a:r>
            <a:endParaRPr lang="ru-RU" sz="3600" b="0" dirty="0"/>
          </a:p>
          <a:p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325279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BBFD27-7FB4-102D-F2F3-955990B86EAB}"/>
              </a:ext>
            </a:extLst>
          </p:cNvPr>
          <p:cNvSpPr txBox="1"/>
          <p:nvPr/>
        </p:nvSpPr>
        <p:spPr>
          <a:xfrm>
            <a:off x="160721" y="152400"/>
            <a:ext cx="1187055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Оценка эффективности разработанной модели и алгоритма</a:t>
            </a:r>
            <a:endParaRPr lang="ru-RU" sz="3600" b="0" dirty="0"/>
          </a:p>
          <a:p>
            <a:endParaRPr lang="ru-RU" sz="3600" dirty="0"/>
          </a:p>
        </p:txBody>
      </p:sp>
      <p:pic>
        <p:nvPicPr>
          <p:cNvPr id="5" name="Picture 4" descr="A graph with numbers and a line&#10;&#10;AI-generated content may be incorrect.">
            <a:extLst>
              <a:ext uri="{FF2B5EF4-FFF2-40B4-BE49-F238E27FC236}">
                <a16:creationId xmlns:a16="http://schemas.microsoft.com/office/drawing/2014/main" id="{C5D789C1-E6C7-19CA-CC15-89026032C6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914400"/>
            <a:ext cx="6096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7287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BBFD27-7FB4-102D-F2F3-955990B86EAB}"/>
              </a:ext>
            </a:extLst>
          </p:cNvPr>
          <p:cNvSpPr txBox="1"/>
          <p:nvPr/>
        </p:nvSpPr>
        <p:spPr>
          <a:xfrm>
            <a:off x="925670" y="0"/>
            <a:ext cx="1032846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Оценка эффективности разработанной модели и алгоритма</a:t>
            </a:r>
            <a:endParaRPr lang="ru-RU" sz="2800" b="0" dirty="0"/>
          </a:p>
          <a:p>
            <a:endParaRPr lang="ru-RU" sz="2800" dirty="0"/>
          </a:p>
        </p:txBody>
      </p:sp>
      <p:sp>
        <p:nvSpPr>
          <p:cNvPr id="41" name="Shape 2">
            <a:extLst>
              <a:ext uri="{FF2B5EF4-FFF2-40B4-BE49-F238E27FC236}">
                <a16:creationId xmlns:a16="http://schemas.microsoft.com/office/drawing/2014/main" id="{1DE09BFE-0802-5499-936B-A9295C0D2703}"/>
              </a:ext>
            </a:extLst>
          </p:cNvPr>
          <p:cNvSpPr/>
          <p:nvPr/>
        </p:nvSpPr>
        <p:spPr>
          <a:xfrm>
            <a:off x="283464" y="558461"/>
            <a:ext cx="2148840" cy="1261872"/>
          </a:xfrm>
          <a:prstGeom prst="rect">
            <a:avLst/>
          </a:prstGeom>
          <a:solidFill>
            <a:srgbClr val="EEF4FC"/>
          </a:solidFill>
          <a:ln w="12700">
            <a:solidFill>
              <a:srgbClr val="1A3A5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Text 3">
            <a:extLst>
              <a:ext uri="{FF2B5EF4-FFF2-40B4-BE49-F238E27FC236}">
                <a16:creationId xmlns:a16="http://schemas.microsoft.com/office/drawing/2014/main" id="{0E5BD005-1116-8881-0277-D1511A4508C9}"/>
              </a:ext>
            </a:extLst>
          </p:cNvPr>
          <p:cNvSpPr/>
          <p:nvPr/>
        </p:nvSpPr>
        <p:spPr>
          <a:xfrm>
            <a:off x="283464" y="631613"/>
            <a:ext cx="2148840" cy="694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12.4%</a:t>
            </a:r>
            <a:endParaRPr lang="en-US" sz="3400" dirty="0"/>
          </a:p>
        </p:txBody>
      </p:sp>
      <p:sp>
        <p:nvSpPr>
          <p:cNvPr id="43" name="Text 4">
            <a:extLst>
              <a:ext uri="{FF2B5EF4-FFF2-40B4-BE49-F238E27FC236}">
                <a16:creationId xmlns:a16="http://schemas.microsoft.com/office/drawing/2014/main" id="{E18C6621-59B0-ED76-B9F9-6E53CB8D22F4}"/>
              </a:ext>
            </a:extLst>
          </p:cNvPr>
          <p:cNvSpPr/>
          <p:nvPr/>
        </p:nvSpPr>
        <p:spPr>
          <a:xfrm>
            <a:off x="283464" y="1214634"/>
            <a:ext cx="2148840" cy="27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7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1100" dirty="0"/>
          </a:p>
        </p:txBody>
      </p:sp>
      <p:sp>
        <p:nvSpPr>
          <p:cNvPr id="44" name="Text 5">
            <a:extLst>
              <a:ext uri="{FF2B5EF4-FFF2-40B4-BE49-F238E27FC236}">
                <a16:creationId xmlns:a16="http://schemas.microsoft.com/office/drawing/2014/main" id="{D3733D27-51D0-18D8-3891-632BF86841AE}"/>
              </a:ext>
            </a:extLst>
          </p:cNvPr>
          <p:cNvSpPr/>
          <p:nvPr/>
        </p:nvSpPr>
        <p:spPr>
          <a:xfrm>
            <a:off x="283464" y="1467009"/>
            <a:ext cx="214884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RoadSense ETA</a:t>
            </a:r>
            <a:endParaRPr lang="en-US" sz="850" dirty="0"/>
          </a:p>
        </p:txBody>
      </p:sp>
      <p:sp>
        <p:nvSpPr>
          <p:cNvPr id="45" name="Shape 6">
            <a:extLst>
              <a:ext uri="{FF2B5EF4-FFF2-40B4-BE49-F238E27FC236}">
                <a16:creationId xmlns:a16="http://schemas.microsoft.com/office/drawing/2014/main" id="{6BB80947-63B3-E231-108B-2C808FE6B964}"/>
              </a:ext>
            </a:extLst>
          </p:cNvPr>
          <p:cNvSpPr/>
          <p:nvPr/>
        </p:nvSpPr>
        <p:spPr>
          <a:xfrm>
            <a:off x="2551176" y="558461"/>
            <a:ext cx="2148840" cy="1261872"/>
          </a:xfrm>
          <a:prstGeom prst="rect">
            <a:avLst/>
          </a:prstGeom>
          <a:solidFill>
            <a:srgbClr val="EEF4FC"/>
          </a:solidFill>
          <a:ln w="12700">
            <a:solidFill>
              <a:srgbClr val="1A3A5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6" name="Text 7">
            <a:extLst>
              <a:ext uri="{FF2B5EF4-FFF2-40B4-BE49-F238E27FC236}">
                <a16:creationId xmlns:a16="http://schemas.microsoft.com/office/drawing/2014/main" id="{582F79AB-82AA-A727-941C-19ADBE788E04}"/>
              </a:ext>
            </a:extLst>
          </p:cNvPr>
          <p:cNvSpPr/>
          <p:nvPr/>
        </p:nvSpPr>
        <p:spPr>
          <a:xfrm>
            <a:off x="2551176" y="631613"/>
            <a:ext cx="2148840" cy="694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+7%</a:t>
            </a:r>
            <a:endParaRPr lang="en-US" sz="3400" dirty="0"/>
          </a:p>
        </p:txBody>
      </p:sp>
      <p:sp>
        <p:nvSpPr>
          <p:cNvPr id="47" name="Text 8">
            <a:extLst>
              <a:ext uri="{FF2B5EF4-FFF2-40B4-BE49-F238E27FC236}">
                <a16:creationId xmlns:a16="http://schemas.microsoft.com/office/drawing/2014/main" id="{8F14A7F4-61F0-52AB-D692-4099F375D4CB}"/>
              </a:ext>
            </a:extLst>
          </p:cNvPr>
          <p:cNvSpPr/>
          <p:nvPr/>
        </p:nvSpPr>
        <p:spPr>
          <a:xfrm>
            <a:off x="2551176" y="1214634"/>
            <a:ext cx="2148840" cy="27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7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Google</a:t>
            </a:r>
            <a:endParaRPr lang="en-US" sz="1100" dirty="0"/>
          </a:p>
        </p:txBody>
      </p:sp>
      <p:sp>
        <p:nvSpPr>
          <p:cNvPr id="48" name="Text 9">
            <a:extLst>
              <a:ext uri="{FF2B5EF4-FFF2-40B4-BE49-F238E27FC236}">
                <a16:creationId xmlns:a16="http://schemas.microsoft.com/office/drawing/2014/main" id="{FD399733-9CDE-6E64-1252-1C6067FFD10E}"/>
              </a:ext>
            </a:extLst>
          </p:cNvPr>
          <p:cNvSpPr/>
          <p:nvPr/>
        </p:nvSpPr>
        <p:spPr>
          <a:xfrm>
            <a:off x="2551176" y="1467009"/>
            <a:ext cx="214884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точнее по MAPE</a:t>
            </a:r>
            <a:endParaRPr lang="en-US" sz="850" dirty="0"/>
          </a:p>
        </p:txBody>
      </p:sp>
      <p:sp>
        <p:nvSpPr>
          <p:cNvPr id="49" name="Shape 10">
            <a:extLst>
              <a:ext uri="{FF2B5EF4-FFF2-40B4-BE49-F238E27FC236}">
                <a16:creationId xmlns:a16="http://schemas.microsoft.com/office/drawing/2014/main" id="{0EAED344-5244-3047-E675-6465041FC25E}"/>
              </a:ext>
            </a:extLst>
          </p:cNvPr>
          <p:cNvSpPr/>
          <p:nvPr/>
        </p:nvSpPr>
        <p:spPr>
          <a:xfrm>
            <a:off x="4818888" y="558461"/>
            <a:ext cx="2148840" cy="1261872"/>
          </a:xfrm>
          <a:prstGeom prst="rect">
            <a:avLst/>
          </a:prstGeom>
          <a:solidFill>
            <a:srgbClr val="EEF4FC"/>
          </a:solidFill>
          <a:ln w="12700">
            <a:solidFill>
              <a:srgbClr val="1A3A5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0" name="Text 11">
            <a:extLst>
              <a:ext uri="{FF2B5EF4-FFF2-40B4-BE49-F238E27FC236}">
                <a16:creationId xmlns:a16="http://schemas.microsoft.com/office/drawing/2014/main" id="{407BE729-A6B1-1743-E5FC-5FDF97DD4627}"/>
              </a:ext>
            </a:extLst>
          </p:cNvPr>
          <p:cNvSpPr/>
          <p:nvPr/>
        </p:nvSpPr>
        <p:spPr>
          <a:xfrm>
            <a:off x="4818888" y="631613"/>
            <a:ext cx="2148840" cy="694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87.6%</a:t>
            </a:r>
            <a:endParaRPr lang="en-US" sz="3400" dirty="0"/>
          </a:p>
        </p:txBody>
      </p:sp>
      <p:sp>
        <p:nvSpPr>
          <p:cNvPr id="51" name="Text 12">
            <a:extLst>
              <a:ext uri="{FF2B5EF4-FFF2-40B4-BE49-F238E27FC236}">
                <a16:creationId xmlns:a16="http://schemas.microsoft.com/office/drawing/2014/main" id="{D447C2C9-5ACB-CD12-1DA8-60AA2F913A9B}"/>
              </a:ext>
            </a:extLst>
          </p:cNvPr>
          <p:cNvSpPr/>
          <p:nvPr/>
        </p:nvSpPr>
        <p:spPr>
          <a:xfrm>
            <a:off x="4818888" y="1214634"/>
            <a:ext cx="2148840" cy="27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7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52" name="Text 13">
            <a:extLst>
              <a:ext uri="{FF2B5EF4-FFF2-40B4-BE49-F238E27FC236}">
                <a16:creationId xmlns:a16="http://schemas.microsoft.com/office/drawing/2014/main" id="{AD63E2C2-5FED-730E-263F-63BF2D156695}"/>
              </a:ext>
            </a:extLst>
          </p:cNvPr>
          <p:cNvSpPr/>
          <p:nvPr/>
        </p:nvSpPr>
        <p:spPr>
          <a:xfrm>
            <a:off x="4818888" y="1467009"/>
            <a:ext cx="214884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покрытие</a:t>
            </a:r>
            <a:endParaRPr lang="en-US" sz="850" dirty="0"/>
          </a:p>
        </p:txBody>
      </p:sp>
      <p:sp>
        <p:nvSpPr>
          <p:cNvPr id="53" name="Shape 14">
            <a:extLst>
              <a:ext uri="{FF2B5EF4-FFF2-40B4-BE49-F238E27FC236}">
                <a16:creationId xmlns:a16="http://schemas.microsoft.com/office/drawing/2014/main" id="{7ABCFAEE-E46A-F8D2-C344-351EECF02E58}"/>
              </a:ext>
            </a:extLst>
          </p:cNvPr>
          <p:cNvSpPr/>
          <p:nvPr/>
        </p:nvSpPr>
        <p:spPr>
          <a:xfrm>
            <a:off x="7086600" y="558461"/>
            <a:ext cx="2148840" cy="1261872"/>
          </a:xfrm>
          <a:prstGeom prst="rect">
            <a:avLst/>
          </a:prstGeom>
          <a:solidFill>
            <a:srgbClr val="EEF4FC"/>
          </a:solidFill>
          <a:ln w="12700">
            <a:solidFill>
              <a:srgbClr val="1A3A5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4" name="Text 15">
            <a:extLst>
              <a:ext uri="{FF2B5EF4-FFF2-40B4-BE49-F238E27FC236}">
                <a16:creationId xmlns:a16="http://schemas.microsoft.com/office/drawing/2014/main" id="{601A3E53-663E-429C-DEA4-946ECD5855A8}"/>
              </a:ext>
            </a:extLst>
          </p:cNvPr>
          <p:cNvSpPr/>
          <p:nvPr/>
        </p:nvSpPr>
        <p:spPr>
          <a:xfrm>
            <a:off x="7086600" y="631613"/>
            <a:ext cx="2148840" cy="694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0.86</a:t>
            </a:r>
            <a:endParaRPr lang="en-US" sz="3400" dirty="0"/>
          </a:p>
        </p:txBody>
      </p:sp>
      <p:sp>
        <p:nvSpPr>
          <p:cNvPr id="55" name="Text 16">
            <a:extLst>
              <a:ext uri="{FF2B5EF4-FFF2-40B4-BE49-F238E27FC236}">
                <a16:creationId xmlns:a16="http://schemas.microsoft.com/office/drawing/2014/main" id="{E2A2FA50-EFF0-8BE9-619E-AFF54AED34B6}"/>
              </a:ext>
            </a:extLst>
          </p:cNvPr>
          <p:cNvSpPr/>
          <p:nvPr/>
        </p:nvSpPr>
        <p:spPr>
          <a:xfrm>
            <a:off x="7086600" y="1214634"/>
            <a:ext cx="2148840" cy="27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7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macro</a:t>
            </a:r>
            <a:endParaRPr lang="en-US" sz="1100" dirty="0"/>
          </a:p>
        </p:txBody>
      </p:sp>
      <p:sp>
        <p:nvSpPr>
          <p:cNvPr id="56" name="Text 17">
            <a:extLst>
              <a:ext uri="{FF2B5EF4-FFF2-40B4-BE49-F238E27FC236}">
                <a16:creationId xmlns:a16="http://schemas.microsoft.com/office/drawing/2014/main" id="{055A0753-33BC-B5CF-00F8-B91E3A74E411}"/>
              </a:ext>
            </a:extLst>
          </p:cNvPr>
          <p:cNvSpPr/>
          <p:nvPr/>
        </p:nvSpPr>
        <p:spPr>
          <a:xfrm>
            <a:off x="7086600" y="1467009"/>
            <a:ext cx="214884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 по 6 классам</a:t>
            </a:r>
            <a:endParaRPr lang="en-US" sz="850" dirty="0"/>
          </a:p>
        </p:txBody>
      </p:sp>
      <p:sp>
        <p:nvSpPr>
          <p:cNvPr id="57" name="Shape 18">
            <a:extLst>
              <a:ext uri="{FF2B5EF4-FFF2-40B4-BE49-F238E27FC236}">
                <a16:creationId xmlns:a16="http://schemas.microsoft.com/office/drawing/2014/main" id="{AEC0328A-7F72-3840-4260-F5D7DB2CC92A}"/>
              </a:ext>
            </a:extLst>
          </p:cNvPr>
          <p:cNvSpPr/>
          <p:nvPr/>
        </p:nvSpPr>
        <p:spPr>
          <a:xfrm>
            <a:off x="9354312" y="558461"/>
            <a:ext cx="2148840" cy="1261872"/>
          </a:xfrm>
          <a:prstGeom prst="rect">
            <a:avLst/>
          </a:prstGeom>
          <a:solidFill>
            <a:srgbClr val="EEF4FC"/>
          </a:solidFill>
          <a:ln w="12700">
            <a:solidFill>
              <a:srgbClr val="1A3A5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A9529EC1-9165-C021-3358-BDD21ACD2088}"/>
              </a:ext>
            </a:extLst>
          </p:cNvPr>
          <p:cNvSpPr/>
          <p:nvPr/>
        </p:nvSpPr>
        <p:spPr>
          <a:xfrm>
            <a:off x="9354312" y="631613"/>
            <a:ext cx="2148840" cy="694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−13%</a:t>
            </a:r>
            <a:endParaRPr lang="en-US" sz="3400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5EF34917-DA53-374A-1AAA-342B857D1803}"/>
              </a:ext>
            </a:extLst>
          </p:cNvPr>
          <p:cNvSpPr/>
          <p:nvPr/>
        </p:nvSpPr>
        <p:spPr>
          <a:xfrm>
            <a:off x="9354312" y="1214634"/>
            <a:ext cx="2148840" cy="27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7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2-opt</a:t>
            </a:r>
            <a:endParaRPr lang="en-US" sz="1100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FFE778AC-E2B9-8847-6146-3E7CD729642F}"/>
              </a:ext>
            </a:extLst>
          </p:cNvPr>
          <p:cNvSpPr/>
          <p:nvPr/>
        </p:nvSpPr>
        <p:spPr>
          <a:xfrm>
            <a:off x="9354312" y="1467009"/>
            <a:ext cx="214884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улучшение маршрута</a:t>
            </a:r>
            <a:endParaRPr lang="en-US" sz="850" dirty="0"/>
          </a:p>
        </p:txBody>
      </p:sp>
      <p:sp>
        <p:nvSpPr>
          <p:cNvPr id="61" name="Shape 22">
            <a:extLst>
              <a:ext uri="{FF2B5EF4-FFF2-40B4-BE49-F238E27FC236}">
                <a16:creationId xmlns:a16="http://schemas.microsoft.com/office/drawing/2014/main" id="{473B5707-CD77-D442-4BFE-43BF5FEE4F39}"/>
              </a:ext>
            </a:extLst>
          </p:cNvPr>
          <p:cNvSpPr/>
          <p:nvPr/>
        </p:nvSpPr>
        <p:spPr>
          <a:xfrm>
            <a:off x="283464" y="1911773"/>
            <a:ext cx="5577840" cy="2468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2" name="Text 23">
            <a:extLst>
              <a:ext uri="{FF2B5EF4-FFF2-40B4-BE49-F238E27FC236}">
                <a16:creationId xmlns:a16="http://schemas.microsoft.com/office/drawing/2014/main" id="{965CCEE4-3FFC-2829-776F-F67B009D2F52}"/>
              </a:ext>
            </a:extLst>
          </p:cNvPr>
          <p:cNvSpPr/>
          <p:nvPr/>
        </p:nvSpPr>
        <p:spPr>
          <a:xfrm>
            <a:off x="283464" y="1911773"/>
            <a:ext cx="5577840" cy="246888"/>
          </a:xfrm>
          <a:prstGeom prst="rect">
            <a:avLst/>
          </a:prstGeom>
          <a:noFill/>
          <a:ln/>
        </p:spPr>
        <p:txBody>
          <a:bodyPr wrap="square" lIns="0" tIns="88900" rIns="0" bIns="0" rtlCol="0" anchor="ctr"/>
          <a:lstStyle/>
          <a:p>
            <a:pPr marL="0" indent="0">
              <a:buNone/>
            </a:pPr>
            <a:r>
              <a:rPr lang="ru-RU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точности ETA (MAPE) с аналогами</a:t>
            </a:r>
            <a:endParaRPr lang="en-US" sz="1000" dirty="0"/>
          </a:p>
        </p:txBody>
      </p:sp>
      <p:pic>
        <p:nvPicPr>
          <p:cNvPr id="63" name="Image 0" descr="preencoded.png">
            <a:extLst>
              <a:ext uri="{FF2B5EF4-FFF2-40B4-BE49-F238E27FC236}">
                <a16:creationId xmlns:a16="http://schemas.microsoft.com/office/drawing/2014/main" id="{40F0EB11-2AA8-3E0F-7FC8-D45941FD4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16" y="2195043"/>
            <a:ext cx="4821936" cy="2249424"/>
          </a:xfrm>
          <a:prstGeom prst="rect">
            <a:avLst/>
          </a:prstGeom>
        </p:spPr>
      </p:pic>
      <p:sp>
        <p:nvSpPr>
          <p:cNvPr id="64" name="Shape 24">
            <a:extLst>
              <a:ext uri="{FF2B5EF4-FFF2-40B4-BE49-F238E27FC236}">
                <a16:creationId xmlns:a16="http://schemas.microsoft.com/office/drawing/2014/main" id="{9B7E1F37-A1BC-9CC2-F469-988BEF08CE76}"/>
              </a:ext>
            </a:extLst>
          </p:cNvPr>
          <p:cNvSpPr/>
          <p:nvPr/>
        </p:nvSpPr>
        <p:spPr>
          <a:xfrm>
            <a:off x="6089904" y="1911773"/>
            <a:ext cx="5760720" cy="2468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5" name="Text 25">
            <a:extLst>
              <a:ext uri="{FF2B5EF4-FFF2-40B4-BE49-F238E27FC236}">
                <a16:creationId xmlns:a16="http://schemas.microsoft.com/office/drawing/2014/main" id="{A2606A26-8739-2220-651C-840B03482019}"/>
              </a:ext>
            </a:extLst>
          </p:cNvPr>
          <p:cNvSpPr/>
          <p:nvPr/>
        </p:nvSpPr>
        <p:spPr>
          <a:xfrm>
            <a:off x="6089904" y="1911773"/>
            <a:ext cx="5760720" cy="246888"/>
          </a:xfrm>
          <a:prstGeom prst="rect">
            <a:avLst/>
          </a:prstGeom>
          <a:noFill/>
          <a:ln/>
        </p:spPr>
        <p:txBody>
          <a:bodyPr wrap="square" lIns="0" tIns="88900" rIns="0" bIns="0" rtlCol="0" anchor="ctr"/>
          <a:lstStyle/>
          <a:p>
            <a:pPr marL="0" indent="0">
              <a:buNone/>
            </a:pPr>
            <a:r>
              <a:rPr lang="ru-RU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классификации покрытия XGBoost (F1-score)</a:t>
            </a:r>
            <a:endParaRPr lang="en-US" sz="1000" dirty="0"/>
          </a:p>
        </p:txBody>
      </p:sp>
      <p:pic>
        <p:nvPicPr>
          <p:cNvPr id="66" name="Image 1" descr="preencoded.png">
            <a:extLst>
              <a:ext uri="{FF2B5EF4-FFF2-40B4-BE49-F238E27FC236}">
                <a16:creationId xmlns:a16="http://schemas.microsoft.com/office/drawing/2014/main" id="{BB0742D9-FD86-80AD-06CA-33625AEEB5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3452" y="2192189"/>
            <a:ext cx="5373624" cy="2249424"/>
          </a:xfrm>
          <a:prstGeom prst="rect">
            <a:avLst/>
          </a:prstGeom>
        </p:spPr>
      </p:pic>
      <p:sp>
        <p:nvSpPr>
          <p:cNvPr id="67" name="Shape 26">
            <a:extLst>
              <a:ext uri="{FF2B5EF4-FFF2-40B4-BE49-F238E27FC236}">
                <a16:creationId xmlns:a16="http://schemas.microsoft.com/office/drawing/2014/main" id="{5AED3545-9FFB-75B5-775F-BC75B1CDFD6B}"/>
              </a:ext>
            </a:extLst>
          </p:cNvPr>
          <p:cNvSpPr/>
          <p:nvPr/>
        </p:nvSpPr>
        <p:spPr>
          <a:xfrm>
            <a:off x="283464" y="4508669"/>
            <a:ext cx="5577840" cy="2468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8" name="Text 27">
            <a:extLst>
              <a:ext uri="{FF2B5EF4-FFF2-40B4-BE49-F238E27FC236}">
                <a16:creationId xmlns:a16="http://schemas.microsoft.com/office/drawing/2014/main" id="{0469171A-E71E-35A4-FF16-6315C391DE93}"/>
              </a:ext>
            </a:extLst>
          </p:cNvPr>
          <p:cNvSpPr/>
          <p:nvPr/>
        </p:nvSpPr>
        <p:spPr>
          <a:xfrm>
            <a:off x="283464" y="4508669"/>
            <a:ext cx="5577840" cy="246888"/>
          </a:xfrm>
          <a:prstGeom prst="rect">
            <a:avLst/>
          </a:prstGeom>
          <a:noFill/>
          <a:ln/>
        </p:spPr>
        <p:txBody>
          <a:bodyPr wrap="square" lIns="0" tIns="88900" rIns="0" bIns="0" rtlCol="0" anchor="ctr"/>
          <a:lstStyle/>
          <a:p>
            <a:pPr marL="0" indent="0">
              <a:buNone/>
            </a:pPr>
            <a:r>
              <a:rPr lang="ru-RU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Корреляционный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анализ факторов задержки (Пирсон)</a:t>
            </a:r>
            <a:endParaRPr lang="en-US" sz="1000" dirty="0"/>
          </a:p>
        </p:txBody>
      </p:sp>
      <p:pic>
        <p:nvPicPr>
          <p:cNvPr id="69" name="Image 2" descr="preencoded.png">
            <a:extLst>
              <a:ext uri="{FF2B5EF4-FFF2-40B4-BE49-F238E27FC236}">
                <a16:creationId xmlns:a16="http://schemas.microsoft.com/office/drawing/2014/main" id="{779A112C-4C6D-304F-8B58-650535FAAE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516" y="4794165"/>
            <a:ext cx="3983736" cy="1938528"/>
          </a:xfrm>
          <a:prstGeom prst="rect">
            <a:avLst/>
          </a:prstGeom>
        </p:spPr>
      </p:pic>
      <p:sp>
        <p:nvSpPr>
          <p:cNvPr id="70" name="Shape 28">
            <a:extLst>
              <a:ext uri="{FF2B5EF4-FFF2-40B4-BE49-F238E27FC236}">
                <a16:creationId xmlns:a16="http://schemas.microsoft.com/office/drawing/2014/main" id="{DF838455-180E-1840-7220-06BD49E4996E}"/>
              </a:ext>
            </a:extLst>
          </p:cNvPr>
          <p:cNvSpPr/>
          <p:nvPr/>
        </p:nvSpPr>
        <p:spPr>
          <a:xfrm>
            <a:off x="6096000" y="4495800"/>
            <a:ext cx="5760720" cy="2468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1" name="Text 29">
            <a:extLst>
              <a:ext uri="{FF2B5EF4-FFF2-40B4-BE49-F238E27FC236}">
                <a16:creationId xmlns:a16="http://schemas.microsoft.com/office/drawing/2014/main" id="{B9C1EA30-13D6-D1AF-864C-2A3616BD6B6D}"/>
              </a:ext>
            </a:extLst>
          </p:cNvPr>
          <p:cNvSpPr/>
          <p:nvPr/>
        </p:nvSpPr>
        <p:spPr>
          <a:xfrm>
            <a:off x="6089904" y="4508669"/>
            <a:ext cx="5760720" cy="246888"/>
          </a:xfrm>
          <a:prstGeom prst="rect">
            <a:avLst/>
          </a:prstGeom>
          <a:noFill/>
          <a:ln/>
        </p:spPr>
        <p:txBody>
          <a:bodyPr wrap="square" lIns="0" tIns="88900" rIns="0" bIns="0" rtlCol="0" anchor="ctr"/>
          <a:lstStyle/>
          <a:p>
            <a:pPr marL="0" indent="0">
              <a:buNone/>
            </a:pPr>
            <a:r>
              <a:rPr lang="ru-RU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Сводная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таблица метрик модели</a:t>
            </a:r>
            <a:endParaRPr lang="en-US" sz="1000" dirty="0"/>
          </a:p>
        </p:txBody>
      </p:sp>
      <p:graphicFrame>
        <p:nvGraphicFramePr>
          <p:cNvPr id="72" name="Table 0">
            <a:extLst>
              <a:ext uri="{FF2B5EF4-FFF2-40B4-BE49-F238E27FC236}">
                <a16:creationId xmlns:a16="http://schemas.microsoft.com/office/drawing/2014/main" id="{0BCB3CA0-BCCC-64AE-BC9B-0CC5523111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219418"/>
              </p:ext>
            </p:extLst>
          </p:nvPr>
        </p:nvGraphicFramePr>
        <p:xfrm>
          <a:off x="6089904" y="4755557"/>
          <a:ext cx="5760720" cy="192024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Метрика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RoadSense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Maps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Целевое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 (ETA)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(мин)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 мин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(мин)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0.85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macro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0.82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 ДТП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0.75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28436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BBFD27-7FB4-102D-F2F3-955990B86EAB}"/>
              </a:ext>
            </a:extLst>
          </p:cNvPr>
          <p:cNvSpPr txBox="1"/>
          <p:nvPr/>
        </p:nvSpPr>
        <p:spPr>
          <a:xfrm>
            <a:off x="931766" y="15157"/>
            <a:ext cx="1032846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Оценка эффективности разработанной модели и алгоритма</a:t>
            </a:r>
            <a:endParaRPr lang="ru-RU" sz="2800" b="0" dirty="0"/>
          </a:p>
          <a:p>
            <a:endParaRPr lang="ru-RU" sz="28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FE02D2C3-0CF5-01B3-D07B-A71E8E26A07E}"/>
              </a:ext>
            </a:extLst>
          </p:cNvPr>
          <p:cNvSpPr/>
          <p:nvPr/>
        </p:nvSpPr>
        <p:spPr>
          <a:xfrm>
            <a:off x="274320" y="566928"/>
            <a:ext cx="2148840" cy="1207008"/>
          </a:xfrm>
          <a:prstGeom prst="rect">
            <a:avLst/>
          </a:prstGeom>
          <a:solidFill>
            <a:srgbClr val="EEF4FC"/>
          </a:solidFill>
          <a:ln w="12700">
            <a:solidFill>
              <a:srgbClr val="1A3A5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B8896733-D579-DD36-A822-D00C834D5843}"/>
              </a:ext>
            </a:extLst>
          </p:cNvPr>
          <p:cNvSpPr/>
          <p:nvPr/>
        </p:nvSpPr>
        <p:spPr>
          <a:xfrm>
            <a:off x="274320" y="640080"/>
            <a:ext cx="2148840" cy="663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76.0</a:t>
            </a:r>
            <a:endParaRPr lang="en-US" sz="34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0B76A0EA-7AA7-3592-0AA2-6AE7B66ADCE8}"/>
              </a:ext>
            </a:extLst>
          </p:cNvPr>
          <p:cNvSpPr/>
          <p:nvPr/>
        </p:nvSpPr>
        <p:spPr>
          <a:xfrm>
            <a:off x="274320" y="1194572"/>
            <a:ext cx="2148840" cy="265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7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</a:t>
            </a:r>
            <a:endParaRPr lang="en-US" sz="11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6E066880-0C0F-F878-0AC5-28F60C55FEE3}"/>
              </a:ext>
            </a:extLst>
          </p:cNvPr>
          <p:cNvSpPr/>
          <p:nvPr/>
        </p:nvSpPr>
        <p:spPr>
          <a:xfrm>
            <a:off x="274320" y="1435974"/>
            <a:ext cx="2148840" cy="337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 после 2-opt</a:t>
            </a:r>
            <a:endParaRPr lang="en-US" sz="85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9DCE6A5C-F88C-CBCB-59D3-67E2E4519281}"/>
              </a:ext>
            </a:extLst>
          </p:cNvPr>
          <p:cNvSpPr/>
          <p:nvPr/>
        </p:nvSpPr>
        <p:spPr>
          <a:xfrm>
            <a:off x="2542032" y="566928"/>
            <a:ext cx="2148840" cy="1207008"/>
          </a:xfrm>
          <a:prstGeom prst="rect">
            <a:avLst/>
          </a:prstGeom>
          <a:solidFill>
            <a:srgbClr val="EEF4FC"/>
          </a:solidFill>
          <a:ln w="12700">
            <a:solidFill>
              <a:srgbClr val="1A3A5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DA5DCF6B-50D9-5778-2218-1031F4F1CF50}"/>
              </a:ext>
            </a:extLst>
          </p:cNvPr>
          <p:cNvSpPr/>
          <p:nvPr/>
        </p:nvSpPr>
        <p:spPr>
          <a:xfrm>
            <a:off x="2542032" y="640080"/>
            <a:ext cx="2148840" cy="663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87.4</a:t>
            </a:r>
            <a:endParaRPr lang="en-US" sz="34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F86D927-1707-CC36-DAC3-E8296D3C5827}"/>
              </a:ext>
            </a:extLst>
          </p:cNvPr>
          <p:cNvSpPr/>
          <p:nvPr/>
        </p:nvSpPr>
        <p:spPr>
          <a:xfrm>
            <a:off x="2542032" y="1194572"/>
            <a:ext cx="2148840" cy="265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7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</a:t>
            </a:r>
            <a:endParaRPr lang="en-US" sz="11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F74E3561-B51C-8AB1-E415-6599F667AE1E}"/>
              </a:ext>
            </a:extLst>
          </p:cNvPr>
          <p:cNvSpPr/>
          <p:nvPr/>
        </p:nvSpPr>
        <p:spPr>
          <a:xfrm>
            <a:off x="2542032" y="1435974"/>
            <a:ext cx="2148840" cy="337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оптимизации</a:t>
            </a:r>
            <a:endParaRPr lang="en-US" sz="85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ACE94639-AF4B-D799-6C9D-EFA3F8AF143E}"/>
              </a:ext>
            </a:extLst>
          </p:cNvPr>
          <p:cNvSpPr/>
          <p:nvPr/>
        </p:nvSpPr>
        <p:spPr>
          <a:xfrm>
            <a:off x="4809744" y="566928"/>
            <a:ext cx="2148840" cy="1207008"/>
          </a:xfrm>
          <a:prstGeom prst="rect">
            <a:avLst/>
          </a:prstGeom>
          <a:solidFill>
            <a:srgbClr val="EEF4FC"/>
          </a:solidFill>
          <a:ln w="12700">
            <a:solidFill>
              <a:srgbClr val="1A3A5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E2E04E60-C89A-951F-0D97-34E2902C83D6}"/>
              </a:ext>
            </a:extLst>
          </p:cNvPr>
          <p:cNvSpPr/>
          <p:nvPr/>
        </p:nvSpPr>
        <p:spPr>
          <a:xfrm>
            <a:off x="4809744" y="640080"/>
            <a:ext cx="2148840" cy="663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ит.</a:t>
            </a:r>
            <a:endParaRPr lang="en-US" sz="34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8828D369-769F-7102-EC5F-3A29ABD1307A}"/>
              </a:ext>
            </a:extLst>
          </p:cNvPr>
          <p:cNvSpPr/>
          <p:nvPr/>
        </p:nvSpPr>
        <p:spPr>
          <a:xfrm>
            <a:off x="4809744" y="1194572"/>
            <a:ext cx="2148840" cy="265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7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итераций</a:t>
            </a:r>
            <a:endParaRPr lang="en-US" sz="11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D09E2F57-3642-C08E-C6DF-A26E836E806E}"/>
              </a:ext>
            </a:extLst>
          </p:cNvPr>
          <p:cNvSpPr/>
          <p:nvPr/>
        </p:nvSpPr>
        <p:spPr>
          <a:xfrm>
            <a:off x="4809744" y="1435974"/>
            <a:ext cx="2148840" cy="337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сходимости 2-opt</a:t>
            </a:r>
            <a:endParaRPr lang="en-US" sz="850" dirty="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E8EDFB4D-697F-A8BC-091D-F1BB7A03D542}"/>
              </a:ext>
            </a:extLst>
          </p:cNvPr>
          <p:cNvSpPr/>
          <p:nvPr/>
        </p:nvSpPr>
        <p:spPr>
          <a:xfrm>
            <a:off x="7077456" y="566928"/>
            <a:ext cx="2148840" cy="1207008"/>
          </a:xfrm>
          <a:prstGeom prst="rect">
            <a:avLst/>
          </a:prstGeom>
          <a:solidFill>
            <a:srgbClr val="EEF4FC"/>
          </a:solidFill>
          <a:ln w="12700">
            <a:solidFill>
              <a:srgbClr val="1A3A5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7B8365BF-3294-FA40-A3ED-4FAE4501118F}"/>
              </a:ext>
            </a:extLst>
          </p:cNvPr>
          <p:cNvSpPr/>
          <p:nvPr/>
        </p:nvSpPr>
        <p:spPr>
          <a:xfrm>
            <a:off x="7077456" y="640080"/>
            <a:ext cx="2148840" cy="663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</a:t>
            </a:r>
            <a:endParaRPr lang="en-US" sz="340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6D3E4533-0E16-98BC-333F-8609A950DBDD}"/>
              </a:ext>
            </a:extLst>
          </p:cNvPr>
          <p:cNvSpPr/>
          <p:nvPr/>
        </p:nvSpPr>
        <p:spPr>
          <a:xfrm>
            <a:off x="7077456" y="1194572"/>
            <a:ext cx="2148840" cy="265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7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</a:t>
            </a:r>
            <a:endParaRPr lang="en-US" sz="110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AA591673-A8DB-0F20-3ED4-EB41DFA489D7}"/>
              </a:ext>
            </a:extLst>
          </p:cNvPr>
          <p:cNvSpPr/>
          <p:nvPr/>
        </p:nvSpPr>
        <p:spPr>
          <a:xfrm>
            <a:off x="7077456" y="1435974"/>
            <a:ext cx="2148840" cy="337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 архива НЗТА</a:t>
            </a:r>
            <a:endParaRPr lang="en-US" sz="850" dirty="0"/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CD3DA5B7-F0F6-5CA5-09C4-08CE974D972D}"/>
              </a:ext>
            </a:extLst>
          </p:cNvPr>
          <p:cNvSpPr/>
          <p:nvPr/>
        </p:nvSpPr>
        <p:spPr>
          <a:xfrm>
            <a:off x="9345168" y="566928"/>
            <a:ext cx="2148840" cy="1207008"/>
          </a:xfrm>
          <a:prstGeom prst="rect">
            <a:avLst/>
          </a:prstGeom>
          <a:solidFill>
            <a:srgbClr val="EEF4FC"/>
          </a:solidFill>
          <a:ln w="12700">
            <a:solidFill>
              <a:srgbClr val="1A3A5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6722B75D-491D-480C-03E4-C55D933DEE85}"/>
              </a:ext>
            </a:extLst>
          </p:cNvPr>
          <p:cNvSpPr/>
          <p:nvPr/>
        </p:nvSpPr>
        <p:spPr>
          <a:xfrm>
            <a:off x="9345168" y="640080"/>
            <a:ext cx="2148840" cy="663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2042</a:t>
            </a:r>
            <a:endParaRPr lang="en-US" sz="3400" dirty="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AB8E5211-4573-FAF5-F911-8457EF05A9C7}"/>
              </a:ext>
            </a:extLst>
          </p:cNvPr>
          <p:cNvSpPr/>
          <p:nvPr/>
        </p:nvSpPr>
        <p:spPr>
          <a:xfrm>
            <a:off x="9345168" y="1194572"/>
            <a:ext cx="2148840" cy="265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7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датчика</a:t>
            </a:r>
            <a:endParaRPr lang="en-US" sz="1100" dirty="0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8FD31365-F0BB-B3EA-C7A0-F7F3B46B8352}"/>
              </a:ext>
            </a:extLst>
          </p:cNvPr>
          <p:cNvSpPr/>
          <p:nvPr/>
        </p:nvSpPr>
        <p:spPr>
          <a:xfrm>
            <a:off x="9345168" y="1435974"/>
            <a:ext cx="2148840" cy="337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НЗТА, 2013–2022</a:t>
            </a:r>
            <a:endParaRPr lang="en-US" sz="850" dirty="0"/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9F2B8F05-2807-9274-9E50-96D59356E2DD}"/>
              </a:ext>
            </a:extLst>
          </p:cNvPr>
          <p:cNvSpPr/>
          <p:nvPr/>
        </p:nvSpPr>
        <p:spPr>
          <a:xfrm>
            <a:off x="274320" y="1865376"/>
            <a:ext cx="5577840" cy="2468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8EEEECC5-59BE-C808-A748-C66B226D7EDB}"/>
              </a:ext>
            </a:extLst>
          </p:cNvPr>
          <p:cNvSpPr/>
          <p:nvPr/>
        </p:nvSpPr>
        <p:spPr>
          <a:xfrm>
            <a:off x="274320" y="1865376"/>
            <a:ext cx="5577840" cy="246888"/>
          </a:xfrm>
          <a:prstGeom prst="rect">
            <a:avLst/>
          </a:prstGeom>
          <a:noFill/>
          <a:ln/>
        </p:spPr>
        <p:txBody>
          <a:bodyPr wrap="square" lIns="0" tIns="88900" rIns="0" bIns="0" rtlCol="0" anchor="ctr"/>
          <a:lstStyle/>
          <a:p>
            <a:pPr marL="0" indent="0">
              <a:buNone/>
            </a:pPr>
            <a:r>
              <a:rPr lang="ru-RU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Сходимость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алгоритма 2-opt оптимизации маршрута</a:t>
            </a:r>
            <a:endParaRPr lang="en-US" sz="1000" dirty="0"/>
          </a:p>
        </p:txBody>
      </p:sp>
      <p:pic>
        <p:nvPicPr>
          <p:cNvPr id="28" name="Image 0" descr="preencoded.png">
            <a:extLst>
              <a:ext uri="{FF2B5EF4-FFF2-40B4-BE49-F238E27FC236}">
                <a16:creationId xmlns:a16="http://schemas.microsoft.com/office/drawing/2014/main" id="{A735A645-47BD-63A0-E402-4BE6451ED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160" y="2139952"/>
            <a:ext cx="4328160" cy="2304288"/>
          </a:xfrm>
          <a:prstGeom prst="rect">
            <a:avLst/>
          </a:prstGeom>
        </p:spPr>
      </p:pic>
      <p:sp>
        <p:nvSpPr>
          <p:cNvPr id="29" name="Shape 24">
            <a:extLst>
              <a:ext uri="{FF2B5EF4-FFF2-40B4-BE49-F238E27FC236}">
                <a16:creationId xmlns:a16="http://schemas.microsoft.com/office/drawing/2014/main" id="{6691E5C2-CD91-FC13-62D8-A0A28504F55E}"/>
              </a:ext>
            </a:extLst>
          </p:cNvPr>
          <p:cNvSpPr/>
          <p:nvPr/>
        </p:nvSpPr>
        <p:spPr>
          <a:xfrm>
            <a:off x="6355080" y="1865376"/>
            <a:ext cx="5303520" cy="27457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Text 25">
            <a:extLst>
              <a:ext uri="{FF2B5EF4-FFF2-40B4-BE49-F238E27FC236}">
                <a16:creationId xmlns:a16="http://schemas.microsoft.com/office/drawing/2014/main" id="{7035D29B-F464-2858-0966-0869C9547980}"/>
              </a:ext>
            </a:extLst>
          </p:cNvPr>
          <p:cNvSpPr/>
          <p:nvPr/>
        </p:nvSpPr>
        <p:spPr>
          <a:xfrm>
            <a:off x="6355080" y="1865376"/>
            <a:ext cx="5760720" cy="246888"/>
          </a:xfrm>
          <a:prstGeom prst="rect">
            <a:avLst/>
          </a:prstGeom>
          <a:noFill/>
          <a:ln/>
        </p:spPr>
        <p:txBody>
          <a:bodyPr wrap="square" lIns="0" tIns="88900" rIns="0" bIns="0" rtlCol="0" anchor="ctr"/>
          <a:lstStyle/>
          <a:p>
            <a:pPr marL="0" indent="0">
              <a:buNone/>
            </a:pPr>
            <a:r>
              <a:rPr lang="ru-RU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Разбивка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времени по сегментам (пример маршрута, 38 км)</a:t>
            </a:r>
            <a:endParaRPr lang="en-US" sz="1000" dirty="0"/>
          </a:p>
        </p:txBody>
      </p:sp>
      <p:pic>
        <p:nvPicPr>
          <p:cNvPr id="31" name="Image 1" descr="preencoded.png">
            <a:extLst>
              <a:ext uri="{FF2B5EF4-FFF2-40B4-BE49-F238E27FC236}">
                <a16:creationId xmlns:a16="http://schemas.microsoft.com/office/drawing/2014/main" id="{AD2B4C36-A305-C1A2-1B07-380D76548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2178812"/>
            <a:ext cx="4450080" cy="2304288"/>
          </a:xfrm>
          <a:prstGeom prst="rect">
            <a:avLst/>
          </a:prstGeom>
        </p:spPr>
      </p:pic>
      <p:sp>
        <p:nvSpPr>
          <p:cNvPr id="32" name="Shape 26">
            <a:extLst>
              <a:ext uri="{FF2B5EF4-FFF2-40B4-BE49-F238E27FC236}">
                <a16:creationId xmlns:a16="http://schemas.microsoft.com/office/drawing/2014/main" id="{72E12838-8E3F-AC31-31F1-CF3D0D030506}"/>
              </a:ext>
            </a:extLst>
          </p:cNvPr>
          <p:cNvSpPr/>
          <p:nvPr/>
        </p:nvSpPr>
        <p:spPr>
          <a:xfrm>
            <a:off x="274320" y="4517136"/>
            <a:ext cx="5577840" cy="2468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FB111CEA-B85D-276E-4F4A-F11182C58229}"/>
              </a:ext>
            </a:extLst>
          </p:cNvPr>
          <p:cNvSpPr/>
          <p:nvPr/>
        </p:nvSpPr>
        <p:spPr>
          <a:xfrm>
            <a:off x="274320" y="4517136"/>
            <a:ext cx="5577840" cy="246888"/>
          </a:xfrm>
          <a:prstGeom prst="rect">
            <a:avLst/>
          </a:prstGeom>
          <a:noFill/>
          <a:ln/>
        </p:spPr>
        <p:txBody>
          <a:bodyPr wrap="square" lIns="0" tIns="88900" rIns="0" bIns="0" rtlCol="0" anchor="ctr"/>
          <a:lstStyle/>
          <a:p>
            <a:pPr marL="0" indent="0">
              <a:buNone/>
            </a:pPr>
            <a:r>
              <a:rPr lang="ru-RU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выводы</a:t>
            </a:r>
            <a:endParaRPr lang="en-US" sz="1000" dirty="0"/>
          </a:p>
        </p:txBody>
      </p:sp>
      <p:sp>
        <p:nvSpPr>
          <p:cNvPr id="34" name="Shape 28">
            <a:extLst>
              <a:ext uri="{FF2B5EF4-FFF2-40B4-BE49-F238E27FC236}">
                <a16:creationId xmlns:a16="http://schemas.microsoft.com/office/drawing/2014/main" id="{10AFD1CE-5A8A-227C-5F42-A26151451226}"/>
              </a:ext>
            </a:extLst>
          </p:cNvPr>
          <p:cNvSpPr/>
          <p:nvPr/>
        </p:nvSpPr>
        <p:spPr>
          <a:xfrm>
            <a:off x="274320" y="4764024"/>
            <a:ext cx="5577840" cy="1938528"/>
          </a:xfrm>
          <a:prstGeom prst="rect">
            <a:avLst/>
          </a:prstGeom>
          <a:solidFill>
            <a:srgbClr val="F4F7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Shape 29">
            <a:extLst>
              <a:ext uri="{FF2B5EF4-FFF2-40B4-BE49-F238E27FC236}">
                <a16:creationId xmlns:a16="http://schemas.microsoft.com/office/drawing/2014/main" id="{3A08AF37-E487-061D-6401-1BECCC0F89E1}"/>
              </a:ext>
            </a:extLst>
          </p:cNvPr>
          <p:cNvSpPr/>
          <p:nvPr/>
        </p:nvSpPr>
        <p:spPr>
          <a:xfrm>
            <a:off x="347472" y="4837176"/>
            <a:ext cx="256032" cy="256032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A04ECF89-A224-C5D7-1EC2-A6B478A93CDB}"/>
              </a:ext>
            </a:extLst>
          </p:cNvPr>
          <p:cNvSpPr/>
          <p:nvPr/>
        </p:nvSpPr>
        <p:spPr>
          <a:xfrm>
            <a:off x="347472" y="4837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①</a:t>
            </a:r>
            <a:endParaRPr lang="en-US" sz="850" dirty="0"/>
          </a:p>
        </p:txBody>
      </p:sp>
      <p:sp>
        <p:nvSpPr>
          <p:cNvPr id="37" name="Text 31">
            <a:extLst>
              <a:ext uri="{FF2B5EF4-FFF2-40B4-BE49-F238E27FC236}">
                <a16:creationId xmlns:a16="http://schemas.microsoft.com/office/drawing/2014/main" id="{9690ACFD-ECB3-2F4D-E980-1E1D32AE7759}"/>
              </a:ext>
            </a:extLst>
          </p:cNvPr>
          <p:cNvSpPr/>
          <p:nvPr/>
        </p:nvSpPr>
        <p:spPr>
          <a:xfrm>
            <a:off x="658368" y="4800600"/>
            <a:ext cx="5074920" cy="329184"/>
          </a:xfrm>
          <a:prstGeom prst="rect">
            <a:avLst/>
          </a:prstGeom>
          <a:noFill/>
          <a:ln/>
        </p:spPr>
        <p:txBody>
          <a:bodyPr wrap="square" lIns="1270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покрытия (XGBoost) даёт +3% точности vs Google Maps</a:t>
            </a:r>
            <a:endParaRPr lang="en-US" sz="950" dirty="0"/>
          </a:p>
        </p:txBody>
      </p:sp>
      <p:sp>
        <p:nvSpPr>
          <p:cNvPr id="38" name="Shape 32">
            <a:extLst>
              <a:ext uri="{FF2B5EF4-FFF2-40B4-BE49-F238E27FC236}">
                <a16:creationId xmlns:a16="http://schemas.microsoft.com/office/drawing/2014/main" id="{8C164846-66C9-3E07-019F-289E393F521E}"/>
              </a:ext>
            </a:extLst>
          </p:cNvPr>
          <p:cNvSpPr/>
          <p:nvPr/>
        </p:nvSpPr>
        <p:spPr>
          <a:xfrm>
            <a:off x="347472" y="5193792"/>
            <a:ext cx="256032" cy="256032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9" name="Text 33">
            <a:extLst>
              <a:ext uri="{FF2B5EF4-FFF2-40B4-BE49-F238E27FC236}">
                <a16:creationId xmlns:a16="http://schemas.microsoft.com/office/drawing/2014/main" id="{A0EC0DA0-63BA-BED1-F0E9-8B6731F00BA7}"/>
              </a:ext>
            </a:extLst>
          </p:cNvPr>
          <p:cNvSpPr/>
          <p:nvPr/>
        </p:nvSpPr>
        <p:spPr>
          <a:xfrm>
            <a:off x="347472" y="51937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②</a:t>
            </a:r>
            <a:endParaRPr lang="en-US" sz="850" dirty="0"/>
          </a:p>
        </p:txBody>
      </p:sp>
      <p:sp>
        <p:nvSpPr>
          <p:cNvPr id="40" name="Text 34">
            <a:extLst>
              <a:ext uri="{FF2B5EF4-FFF2-40B4-BE49-F238E27FC236}">
                <a16:creationId xmlns:a16="http://schemas.microsoft.com/office/drawing/2014/main" id="{A40F5CC9-DE68-075F-CD3F-C4319E9EC5AE}"/>
              </a:ext>
            </a:extLst>
          </p:cNvPr>
          <p:cNvSpPr/>
          <p:nvPr/>
        </p:nvSpPr>
        <p:spPr>
          <a:xfrm>
            <a:off x="658368" y="5157216"/>
            <a:ext cx="5074920" cy="329184"/>
          </a:xfrm>
          <a:prstGeom prst="rect">
            <a:avLst/>
          </a:prstGeom>
          <a:noFill/>
          <a:ln/>
        </p:spPr>
        <p:txBody>
          <a:bodyPr wrap="square" lIns="1270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Вероятностная модель ДТП даёт +4% точности ETA</a:t>
            </a:r>
            <a:endParaRPr lang="en-US" sz="950" dirty="0"/>
          </a:p>
        </p:txBody>
      </p:sp>
      <p:sp>
        <p:nvSpPr>
          <p:cNvPr id="41" name="Shape 35">
            <a:extLst>
              <a:ext uri="{FF2B5EF4-FFF2-40B4-BE49-F238E27FC236}">
                <a16:creationId xmlns:a16="http://schemas.microsoft.com/office/drawing/2014/main" id="{C13FB007-0413-98E9-7DE6-46EF6092C3C4}"/>
              </a:ext>
            </a:extLst>
          </p:cNvPr>
          <p:cNvSpPr/>
          <p:nvPr/>
        </p:nvSpPr>
        <p:spPr>
          <a:xfrm>
            <a:off x="347472" y="5550408"/>
            <a:ext cx="256032" cy="256032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2" name="Text 36">
            <a:extLst>
              <a:ext uri="{FF2B5EF4-FFF2-40B4-BE49-F238E27FC236}">
                <a16:creationId xmlns:a16="http://schemas.microsoft.com/office/drawing/2014/main" id="{9402EAF9-B8EA-319D-0049-050F8B9E7D5E}"/>
              </a:ext>
            </a:extLst>
          </p:cNvPr>
          <p:cNvSpPr/>
          <p:nvPr/>
        </p:nvSpPr>
        <p:spPr>
          <a:xfrm>
            <a:off x="347472" y="5550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③</a:t>
            </a:r>
            <a:endParaRPr lang="en-US" sz="850" dirty="0"/>
          </a:p>
        </p:txBody>
      </p:sp>
      <p:sp>
        <p:nvSpPr>
          <p:cNvPr id="43" name="Text 37">
            <a:extLst>
              <a:ext uri="{FF2B5EF4-FFF2-40B4-BE49-F238E27FC236}">
                <a16:creationId xmlns:a16="http://schemas.microsoft.com/office/drawing/2014/main" id="{A842D048-AACA-493E-43F9-2D036EC1BF23}"/>
              </a:ext>
            </a:extLst>
          </p:cNvPr>
          <p:cNvSpPr/>
          <p:nvPr/>
        </p:nvSpPr>
        <p:spPr>
          <a:xfrm>
            <a:off x="658368" y="5513832"/>
            <a:ext cx="5074920" cy="329184"/>
          </a:xfrm>
          <a:prstGeom prst="rect">
            <a:avLst/>
          </a:prstGeom>
          <a:noFill/>
          <a:ln/>
        </p:spPr>
        <p:txBody>
          <a:bodyPr wrap="square" lIns="1270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Архив НЗТА (α·T_арх) снижает MAE с 4.8 до 3.2 мин</a:t>
            </a:r>
            <a:endParaRPr lang="en-US" sz="950" dirty="0"/>
          </a:p>
        </p:txBody>
      </p:sp>
      <p:sp>
        <p:nvSpPr>
          <p:cNvPr id="44" name="Shape 38">
            <a:extLst>
              <a:ext uri="{FF2B5EF4-FFF2-40B4-BE49-F238E27FC236}">
                <a16:creationId xmlns:a16="http://schemas.microsoft.com/office/drawing/2014/main" id="{13200E56-4230-2B86-D9BE-CE894A43E487}"/>
              </a:ext>
            </a:extLst>
          </p:cNvPr>
          <p:cNvSpPr/>
          <p:nvPr/>
        </p:nvSpPr>
        <p:spPr>
          <a:xfrm>
            <a:off x="347472" y="5907024"/>
            <a:ext cx="256032" cy="256032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5" name="Text 39">
            <a:extLst>
              <a:ext uri="{FF2B5EF4-FFF2-40B4-BE49-F238E27FC236}">
                <a16:creationId xmlns:a16="http://schemas.microsoft.com/office/drawing/2014/main" id="{E1EA208F-4AB0-B223-9393-25B3350CA7D2}"/>
              </a:ext>
            </a:extLst>
          </p:cNvPr>
          <p:cNvSpPr/>
          <p:nvPr/>
        </p:nvSpPr>
        <p:spPr>
          <a:xfrm>
            <a:off x="347472" y="59070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④</a:t>
            </a:r>
            <a:endParaRPr lang="en-US" sz="850" dirty="0"/>
          </a:p>
        </p:txBody>
      </p:sp>
      <p:sp>
        <p:nvSpPr>
          <p:cNvPr id="46" name="Text 40">
            <a:extLst>
              <a:ext uri="{FF2B5EF4-FFF2-40B4-BE49-F238E27FC236}">
                <a16:creationId xmlns:a16="http://schemas.microsoft.com/office/drawing/2014/main" id="{CCFC5EA6-70CC-B046-C6E0-CF4135618679}"/>
              </a:ext>
            </a:extLst>
          </p:cNvPr>
          <p:cNvSpPr/>
          <p:nvPr/>
        </p:nvSpPr>
        <p:spPr>
          <a:xfrm>
            <a:off x="658368" y="5870448"/>
            <a:ext cx="5074920" cy="329184"/>
          </a:xfrm>
          <a:prstGeom prst="rect">
            <a:avLst/>
          </a:prstGeom>
          <a:noFill/>
          <a:ln/>
        </p:spPr>
        <p:txBody>
          <a:bodyPr wrap="square" lIns="1270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2-opt сокращает время маршрута в среднем на 13%</a:t>
            </a:r>
            <a:endParaRPr lang="en-US" sz="950" dirty="0"/>
          </a:p>
        </p:txBody>
      </p:sp>
      <p:sp>
        <p:nvSpPr>
          <p:cNvPr id="47" name="Shape 41">
            <a:extLst>
              <a:ext uri="{FF2B5EF4-FFF2-40B4-BE49-F238E27FC236}">
                <a16:creationId xmlns:a16="http://schemas.microsoft.com/office/drawing/2014/main" id="{6566A1DE-066E-C8E5-F722-4E200ED54D3A}"/>
              </a:ext>
            </a:extLst>
          </p:cNvPr>
          <p:cNvSpPr/>
          <p:nvPr/>
        </p:nvSpPr>
        <p:spPr>
          <a:xfrm>
            <a:off x="347472" y="6263640"/>
            <a:ext cx="256032" cy="256032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8" name="Text 42">
            <a:extLst>
              <a:ext uri="{FF2B5EF4-FFF2-40B4-BE49-F238E27FC236}">
                <a16:creationId xmlns:a16="http://schemas.microsoft.com/office/drawing/2014/main" id="{5AA73B60-1DC7-1B3E-ACAF-24593294C41A}"/>
              </a:ext>
            </a:extLst>
          </p:cNvPr>
          <p:cNvSpPr/>
          <p:nvPr/>
        </p:nvSpPr>
        <p:spPr>
          <a:xfrm>
            <a:off x="347472" y="6263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⑤</a:t>
            </a:r>
            <a:endParaRPr lang="en-US" sz="850" dirty="0"/>
          </a:p>
        </p:txBody>
      </p:sp>
      <p:sp>
        <p:nvSpPr>
          <p:cNvPr id="49" name="Text 43">
            <a:extLst>
              <a:ext uri="{FF2B5EF4-FFF2-40B4-BE49-F238E27FC236}">
                <a16:creationId xmlns:a16="http://schemas.microsoft.com/office/drawing/2014/main" id="{0EFA0C34-1B96-5888-AF11-E78F8EC0D75D}"/>
              </a:ext>
            </a:extLst>
          </p:cNvPr>
          <p:cNvSpPr/>
          <p:nvPr/>
        </p:nvSpPr>
        <p:spPr>
          <a:xfrm>
            <a:off x="658368" y="6227064"/>
            <a:ext cx="5074920" cy="329184"/>
          </a:xfrm>
          <a:prstGeom prst="rect">
            <a:avLst/>
          </a:prstGeom>
          <a:noFill/>
          <a:ln/>
        </p:spPr>
        <p:txBody>
          <a:bodyPr wrap="square" lIns="1270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Сходимость 2-opt: 7 итераций при n=20 сегментах</a:t>
            </a:r>
            <a:endParaRPr lang="en-US" sz="950" dirty="0"/>
          </a:p>
        </p:txBody>
      </p:sp>
      <p:sp>
        <p:nvSpPr>
          <p:cNvPr id="50" name="Shape 44">
            <a:extLst>
              <a:ext uri="{FF2B5EF4-FFF2-40B4-BE49-F238E27FC236}">
                <a16:creationId xmlns:a16="http://schemas.microsoft.com/office/drawing/2014/main" id="{6A1F8B9A-4454-9DCE-F17A-5278B7560684}"/>
              </a:ext>
            </a:extLst>
          </p:cNvPr>
          <p:cNvSpPr/>
          <p:nvPr/>
        </p:nvSpPr>
        <p:spPr>
          <a:xfrm>
            <a:off x="6355080" y="4517136"/>
            <a:ext cx="5303520" cy="2468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1" name="Text 45">
            <a:extLst>
              <a:ext uri="{FF2B5EF4-FFF2-40B4-BE49-F238E27FC236}">
                <a16:creationId xmlns:a16="http://schemas.microsoft.com/office/drawing/2014/main" id="{96AD134E-ED9E-4300-4649-3E2888004BEA}"/>
              </a:ext>
            </a:extLst>
          </p:cNvPr>
          <p:cNvSpPr/>
          <p:nvPr/>
        </p:nvSpPr>
        <p:spPr>
          <a:xfrm>
            <a:off x="6355080" y="4517136"/>
            <a:ext cx="5760720" cy="246888"/>
          </a:xfrm>
          <a:prstGeom prst="rect">
            <a:avLst/>
          </a:prstGeom>
          <a:noFill/>
          <a:ln/>
        </p:spPr>
        <p:txBody>
          <a:bodyPr wrap="square" lIns="0" tIns="88900" rIns="0" bIns="0" rtlCol="0" anchor="ctr"/>
          <a:lstStyle/>
          <a:p>
            <a:pPr marL="0" indent="0">
              <a:buNone/>
            </a:pPr>
            <a:r>
              <a:rPr lang="ru-RU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 аналогами по функциональности</a:t>
            </a:r>
            <a:endParaRPr lang="en-US" sz="1000" dirty="0"/>
          </a:p>
        </p:txBody>
      </p:sp>
      <p:graphicFrame>
        <p:nvGraphicFramePr>
          <p:cNvPr id="52" name="Table 0">
            <a:extLst>
              <a:ext uri="{FF2B5EF4-FFF2-40B4-BE49-F238E27FC236}">
                <a16:creationId xmlns:a16="http://schemas.microsoft.com/office/drawing/2014/main" id="{B03171E2-23AB-123F-50E4-59214A8F91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7673665"/>
              </p:ext>
            </p:extLst>
          </p:nvPr>
        </p:nvGraphicFramePr>
        <p:xfrm>
          <a:off x="6355080" y="4764024"/>
          <a:ext cx="5303520" cy="192024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Функция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RoadSense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Waze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Яндекс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Анализ покрытия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</a:t>
                      </a:r>
                      <a:r>
                        <a:rPr lang="en-US" sz="9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Спутн. снимки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LINZ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вид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Вер</a:t>
                      </a:r>
                      <a:r>
                        <a:rPr lang="ru-RU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оятнос</a:t>
                      </a:r>
                      <a:r>
                        <a:rPr lang="en-US" sz="9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ть</a:t>
                      </a: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ДТП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модель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архив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crowd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crowd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Архив трафика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НЗТА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2-opt маршрут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66027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9F77A3-859E-FDF4-9117-AFB75792C3CF}"/>
              </a:ext>
            </a:extLst>
          </p:cNvPr>
          <p:cNvSpPr txBox="1"/>
          <p:nvPr/>
        </p:nvSpPr>
        <p:spPr>
          <a:xfrm>
            <a:off x="1302860" y="304800"/>
            <a:ext cx="958627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Основные результаты диссертационной работы</a:t>
            </a:r>
            <a:endParaRPr lang="ru-RU" sz="3600" b="0" dirty="0"/>
          </a:p>
          <a:p>
            <a:endParaRPr lang="ru-RU" sz="3600" u="sng" dirty="0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64F50A44-E53D-D44A-A47A-20E835586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399" y="904964"/>
            <a:ext cx="1112520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Разработана 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математическая модель логистической системы маршрутизации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учитывающая динамические и стохастические факторы (трафик, погода, покрытие, ДТП). </a:t>
            </a:r>
          </a:p>
          <a:p>
            <a:pPr lvl="1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Произведен обзор 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существующих решений 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 рынке. </a:t>
            </a:r>
          </a:p>
          <a:p>
            <a:pPr lvl="1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Формализована 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вероятностная модель возникновения ДТП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с учётом дорожных и внешних факторов. </a:t>
            </a:r>
          </a:p>
          <a:p>
            <a:pPr lvl="1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Разработан 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гибридный алгоритм оптимизации маршрутов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сочетающий предиктивное моделирование и стохастическую оптимизацию. </a:t>
            </a:r>
          </a:p>
          <a:p>
            <a:pPr lvl="1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Проведены 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экспериментальные исследования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показавшие: </a:t>
            </a:r>
          </a:p>
          <a:p>
            <a:pPr marL="457200" lvl="3" indent="-457200" algn="l" rt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снижение ошибки прогнозирования времени в пути </a:t>
            </a:r>
          </a:p>
          <a:p>
            <a:pPr marL="457200" lvl="3" indent="-457200" algn="l" rt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повышение эффективности маршрутизации </a:t>
            </a:r>
          </a:p>
          <a:p>
            <a:pPr marL="457200" lvl="3" indent="-457200" algn="l" rt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устойчивость модели к изменению внешних условий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D209FF-2AB9-37BC-11FC-753E543937A2}"/>
              </a:ext>
            </a:extLst>
          </p:cNvPr>
          <p:cNvSpPr txBox="1"/>
          <p:nvPr/>
        </p:nvSpPr>
        <p:spPr>
          <a:xfrm>
            <a:off x="12039600" y="-533400"/>
            <a:ext cx="6097604" cy="5122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7060" marR="69215" lvl="7" indent="-342265">
              <a:lnSpc>
                <a:spcPts val="2850"/>
              </a:lnSpc>
              <a:spcBef>
                <a:spcPts val="170"/>
              </a:spcBef>
              <a:buAutoNum type="arabicPeriod"/>
              <a:tabLst>
                <a:tab pos="608330" algn="l"/>
              </a:tabLst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Аналитический</a:t>
            </a:r>
            <a:r>
              <a:rPr lang="ru-RU" sz="1800" spc="3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обзор</a:t>
            </a:r>
            <a:r>
              <a:rPr lang="ru-RU" sz="1800" spc="3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существующих</a:t>
            </a:r>
            <a:r>
              <a:rPr lang="ru-RU" sz="1800" spc="3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моделей,</a:t>
            </a:r>
            <a:r>
              <a:rPr lang="ru-RU" sz="1800" spc="3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ru-RU" sz="1800" spc="3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методов,</a:t>
            </a:r>
            <a:r>
              <a:rPr lang="ru-RU" sz="1800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ru-RU" sz="1800" spc="3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специализированного 	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lang="ru-RU" sz="1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lang="ru-RU" sz="1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построения</a:t>
            </a:r>
            <a:r>
              <a:rPr lang="ru-RU" sz="1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маршрута.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7060" lvl="7" indent="-342265">
              <a:lnSpc>
                <a:spcPts val="2770"/>
              </a:lnSpc>
              <a:buAutoNum type="arabicPeriod"/>
              <a:tabLst>
                <a:tab pos="607060" algn="l"/>
                <a:tab pos="2701290" algn="l"/>
                <a:tab pos="3744595" algn="l"/>
                <a:tab pos="5426075" algn="l"/>
                <a:tab pos="6777990" algn="l"/>
                <a:tab pos="8260715" algn="l"/>
                <a:tab pos="8603615" algn="l"/>
                <a:tab pos="9970770" algn="l"/>
              </a:tabLst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Формализовать транспортную сеть в виде графовой модели</a:t>
            </a:r>
          </a:p>
          <a:p>
            <a:pPr marL="607060" lvl="7" indent="-342265">
              <a:lnSpc>
                <a:spcPts val="2770"/>
              </a:lnSpc>
              <a:buAutoNum type="arabicPeriod"/>
              <a:tabLst>
                <a:tab pos="607060" algn="l"/>
                <a:tab pos="2701290" algn="l"/>
                <a:tab pos="3744595" algn="l"/>
                <a:tab pos="5426075" algn="l"/>
                <a:tab pos="6777990" algn="l"/>
                <a:tab pos="8260715" algn="l"/>
                <a:tab pos="8603615" algn="l"/>
                <a:tab pos="9970770" algn="l"/>
              </a:tabLst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Учесть влияние погоды, трафика и типа покрытия </a:t>
            </a:r>
          </a:p>
          <a:p>
            <a:pPr marL="607060" lvl="7" indent="-342265">
              <a:lnSpc>
                <a:spcPts val="2770"/>
              </a:lnSpc>
              <a:buAutoNum type="arabicPeriod"/>
              <a:tabLst>
                <a:tab pos="607060" algn="l"/>
                <a:tab pos="2701290" algn="l"/>
                <a:tab pos="3744595" algn="l"/>
                <a:tab pos="5426075" algn="l"/>
                <a:tab pos="6777990" algn="l"/>
                <a:tab pos="8260715" algn="l"/>
                <a:tab pos="8603615" algn="l"/>
                <a:tab pos="9970770" algn="l"/>
              </a:tabLst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Смоделировать вероятность ДТП и время их устранения </a:t>
            </a:r>
          </a:p>
          <a:p>
            <a:pPr marL="607060" lvl="7" indent="-342265">
              <a:lnSpc>
                <a:spcPts val="2770"/>
              </a:lnSpc>
              <a:buAutoNum type="arabicPeriod"/>
              <a:tabLst>
                <a:tab pos="607060" algn="l"/>
                <a:tab pos="2701290" algn="l"/>
                <a:tab pos="3744595" algn="l"/>
                <a:tab pos="5426075" algn="l"/>
                <a:tab pos="6777990" algn="l"/>
                <a:tab pos="8260715" algn="l"/>
                <a:tab pos="8603615" algn="l"/>
                <a:tab pos="9970770" algn="l"/>
              </a:tabLst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Интегрировать ML-модель в задачу оптимизации маршрутов </a:t>
            </a:r>
          </a:p>
          <a:p>
            <a:pPr marL="607060" lvl="7" indent="-342265">
              <a:lnSpc>
                <a:spcPts val="2770"/>
              </a:lnSpc>
              <a:buAutoNum type="arabicPeriod"/>
              <a:tabLst>
                <a:tab pos="607060" algn="l"/>
                <a:tab pos="2701290" algn="l"/>
                <a:tab pos="3744595" algn="l"/>
                <a:tab pos="5426075" algn="l"/>
                <a:tab pos="6777990" algn="l"/>
                <a:tab pos="8260715" algn="l"/>
                <a:tab pos="8603615" algn="l"/>
                <a:tab pos="9970770" algn="l"/>
              </a:tabLst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алгоритм OPT-2 для вычисления наилучшего маршрута, при помощи полученной модели </a:t>
            </a:r>
          </a:p>
          <a:p>
            <a:pPr marL="607060" lvl="7" indent="-342265">
              <a:lnSpc>
                <a:spcPts val="2770"/>
              </a:lnSpc>
              <a:buAutoNum type="arabicPeriod"/>
              <a:tabLst>
                <a:tab pos="607060" algn="l"/>
                <a:tab pos="2701290" algn="l"/>
                <a:tab pos="3744595" algn="l"/>
                <a:tab pos="5426075" algn="l"/>
                <a:tab pos="6777990" algn="l"/>
                <a:tab pos="8260715" algn="l"/>
                <a:tab pos="8603615" algn="l"/>
                <a:tab pos="9970770" algn="l"/>
              </a:tabLst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оценку точности и эффективности модели</a:t>
            </a:r>
          </a:p>
        </p:txBody>
      </p:sp>
    </p:spTree>
    <p:extLst>
      <p:ext uri="{BB962C8B-B14F-4D97-AF65-F5344CB8AC3E}">
        <p14:creationId xmlns:p14="http://schemas.microsoft.com/office/powerpoint/2010/main" val="522538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1A475E-2AAB-DE9A-B797-3D04EFDB7D9B}"/>
              </a:ext>
            </a:extLst>
          </p:cNvPr>
          <p:cNvSpPr txBox="1"/>
          <p:nvPr/>
        </p:nvSpPr>
        <p:spPr>
          <a:xfrm>
            <a:off x="2819400" y="3075057"/>
            <a:ext cx="6553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544170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10819</TotalTime>
  <Words>1391</Words>
  <Application>Microsoft Office PowerPoint</Application>
  <PresentationFormat>Widescreen</PresentationFormat>
  <Paragraphs>294</Paragraphs>
  <Slides>17</Slides>
  <Notes>0</Notes>
  <HiddenSlides>4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Cambria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Аналитический обзор существующих методов и средств построения </vt:lpstr>
      <vt:lpstr>Аналитический обзор существующих методов и средств построения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Arthur</dc:creator>
  <cp:lastModifiedBy>Артур Артюшенков</cp:lastModifiedBy>
  <cp:revision>69</cp:revision>
  <dcterms:created xsi:type="dcterms:W3CDTF">2026-04-21T21:45:20Z</dcterms:created>
  <dcterms:modified xsi:type="dcterms:W3CDTF">2026-05-20T08:21:03Z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2025-06-11T00:00:00Z</vt:filetime>
  </property>
  <property fmtid="{D5CDD505-2E9C-101B-9397-08002B2CF9AE}" pid="3" name="LastSaved">
    <vt:filetime>2026-04-21T00:00:00Z</vt:filetime>
  </property>
</Properties>
</file>