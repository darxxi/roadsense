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8" r:id="rId11"/>
    <p:sldId id="266" r:id="rId12"/>
    <p:sldId id="267" r:id="rId13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1" d="100"/>
          <a:sy n="91" d="100"/>
        </p:scale>
        <p:origin x="1528" y="4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5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9538969" y="6131890"/>
            <a:ext cx="0" cy="586740"/>
          </a:xfrm>
          <a:custGeom>
            <a:avLst/>
            <a:gdLst/>
            <a:ahLst/>
            <a:cxnLst/>
            <a:rect l="l" t="t" r="r" b="b"/>
            <a:pathLst>
              <a:path h="586740">
                <a:moveTo>
                  <a:pt x="0" y="0"/>
                </a:moveTo>
                <a:lnTo>
                  <a:pt x="0" y="586409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318115" y="6131890"/>
            <a:ext cx="0" cy="586740"/>
          </a:xfrm>
          <a:custGeom>
            <a:avLst/>
            <a:gdLst/>
            <a:ahLst/>
            <a:cxnLst/>
            <a:rect l="l" t="t" r="r" b="b"/>
            <a:pathLst>
              <a:path h="586740">
                <a:moveTo>
                  <a:pt x="0" y="0"/>
                </a:moveTo>
                <a:lnTo>
                  <a:pt x="0" y="586409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1158855" y="6131890"/>
            <a:ext cx="0" cy="586740"/>
          </a:xfrm>
          <a:custGeom>
            <a:avLst/>
            <a:gdLst/>
            <a:ahLst/>
            <a:cxnLst/>
            <a:rect l="l" t="t" r="r" b="b"/>
            <a:pathLst>
              <a:path h="586740">
                <a:moveTo>
                  <a:pt x="0" y="0"/>
                </a:moveTo>
                <a:lnTo>
                  <a:pt x="0" y="586409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9532619" y="6131890"/>
            <a:ext cx="2466975" cy="586740"/>
          </a:xfrm>
          <a:custGeom>
            <a:avLst/>
            <a:gdLst/>
            <a:ahLst/>
            <a:cxnLst/>
            <a:rect l="l" t="t" r="r" b="b"/>
            <a:pathLst>
              <a:path w="2466975" h="586740">
                <a:moveTo>
                  <a:pt x="2212339" y="0"/>
                </a:moveTo>
                <a:lnTo>
                  <a:pt x="2212339" y="586409"/>
                </a:lnTo>
              </a:path>
              <a:path w="2466975" h="586740">
                <a:moveTo>
                  <a:pt x="0" y="6349"/>
                </a:moveTo>
                <a:lnTo>
                  <a:pt x="2466975" y="6349"/>
                </a:lnTo>
              </a:path>
              <a:path w="2466975" h="586740">
                <a:moveTo>
                  <a:pt x="0" y="303517"/>
                </a:moveTo>
                <a:lnTo>
                  <a:pt x="2466975" y="303517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98754" y="147701"/>
            <a:ext cx="0" cy="6562725"/>
          </a:xfrm>
          <a:custGeom>
            <a:avLst/>
            <a:gdLst/>
            <a:ahLst/>
            <a:cxnLst/>
            <a:rect l="l" t="t" r="r" b="b"/>
            <a:pathLst>
              <a:path h="6562725">
                <a:moveTo>
                  <a:pt x="0" y="0"/>
                </a:moveTo>
                <a:lnTo>
                  <a:pt x="0" y="6562661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192404" y="147701"/>
            <a:ext cx="11807190" cy="6570980"/>
          </a:xfrm>
          <a:custGeom>
            <a:avLst/>
            <a:gdLst/>
            <a:ahLst/>
            <a:cxnLst/>
            <a:rect l="l" t="t" r="r" b="b"/>
            <a:pathLst>
              <a:path w="11807190" h="6570980">
                <a:moveTo>
                  <a:pt x="11800840" y="0"/>
                </a:moveTo>
                <a:lnTo>
                  <a:pt x="11800840" y="6570599"/>
                </a:lnTo>
              </a:path>
              <a:path w="11807190" h="6570980">
                <a:moveTo>
                  <a:pt x="0" y="6350"/>
                </a:moveTo>
                <a:lnTo>
                  <a:pt x="11807190" y="6350"/>
                </a:lnTo>
              </a:path>
              <a:path w="11807190" h="6570980">
                <a:moveTo>
                  <a:pt x="0" y="6556311"/>
                </a:moveTo>
                <a:lnTo>
                  <a:pt x="9340215" y="6556311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9532620" y="6704012"/>
            <a:ext cx="2466975" cy="0"/>
          </a:xfrm>
          <a:custGeom>
            <a:avLst/>
            <a:gdLst/>
            <a:ahLst/>
            <a:cxnLst/>
            <a:rect l="l" t="t" r="r" b="b"/>
            <a:pathLst>
              <a:path w="2466975">
                <a:moveTo>
                  <a:pt x="0" y="0"/>
                </a:moveTo>
                <a:lnTo>
                  <a:pt x="2466975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3" name="bg 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5300" y="1181100"/>
            <a:ext cx="4581525" cy="470535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5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5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5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85140" y="353060"/>
            <a:ext cx="11397615" cy="449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5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810377" y="1209547"/>
            <a:ext cx="5495290" cy="46551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F6C2291-7009-CBF9-4361-FC080284AE5A}"/>
              </a:ext>
            </a:extLst>
          </p:cNvPr>
          <p:cNvSpPr txBox="1"/>
          <p:nvPr/>
        </p:nvSpPr>
        <p:spPr>
          <a:xfrm>
            <a:off x="34922" y="721290"/>
            <a:ext cx="12122150" cy="17391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72639" marR="2058035" algn="ctr">
              <a:lnSpc>
                <a:spcPct val="101400"/>
              </a:lnSpc>
              <a:spcBef>
                <a:spcPts val="1705"/>
              </a:spcBef>
              <a:tabLst>
                <a:tab pos="5383530" algn="l"/>
              </a:tabLst>
            </a:pPr>
            <a:r>
              <a:rPr lang="ru-RU" sz="3600" dirty="0">
                <a:latin typeface="Times New Roman"/>
                <a:cs typeface="Times New Roman"/>
              </a:rPr>
              <a:t>Исследование</a:t>
            </a:r>
            <a:r>
              <a:rPr lang="ru-RU" sz="3600" spc="60" dirty="0">
                <a:latin typeface="Times New Roman"/>
                <a:cs typeface="Times New Roman"/>
              </a:rPr>
              <a:t> </a:t>
            </a:r>
            <a:r>
              <a:rPr lang="ru-RU" sz="3600" dirty="0">
                <a:latin typeface="Times New Roman"/>
                <a:cs typeface="Times New Roman"/>
              </a:rPr>
              <a:t>и</a:t>
            </a:r>
            <a:r>
              <a:rPr lang="ru-RU" sz="3600" spc="80" dirty="0">
                <a:latin typeface="Times New Roman"/>
                <a:cs typeface="Times New Roman"/>
              </a:rPr>
              <a:t> </a:t>
            </a:r>
            <a:r>
              <a:rPr lang="ru-RU" sz="3600" spc="-10" dirty="0">
                <a:latin typeface="Times New Roman"/>
                <a:cs typeface="Times New Roman"/>
              </a:rPr>
              <a:t>разработка предиктивной </a:t>
            </a:r>
            <a:r>
              <a:rPr lang="ru-RU" sz="3600" dirty="0">
                <a:latin typeface="Times New Roman"/>
                <a:cs typeface="Times New Roman"/>
              </a:rPr>
              <a:t>модели</a:t>
            </a:r>
            <a:r>
              <a:rPr lang="ru-RU" sz="3600" spc="45" dirty="0">
                <a:latin typeface="Times New Roman"/>
                <a:cs typeface="Times New Roman"/>
              </a:rPr>
              <a:t> </a:t>
            </a:r>
            <a:r>
              <a:rPr lang="ru-RU" sz="3600" dirty="0">
                <a:latin typeface="Times New Roman"/>
                <a:cs typeface="Times New Roman"/>
              </a:rPr>
              <a:t>и</a:t>
            </a:r>
            <a:r>
              <a:rPr lang="ru-RU" sz="3600" spc="-25" dirty="0">
                <a:latin typeface="Times New Roman"/>
                <a:cs typeface="Times New Roman"/>
              </a:rPr>
              <a:t> </a:t>
            </a:r>
            <a:r>
              <a:rPr lang="ru-RU" sz="3600" spc="-10" dirty="0">
                <a:latin typeface="Times New Roman"/>
                <a:cs typeface="Times New Roman"/>
              </a:rPr>
              <a:t>алгоритма </a:t>
            </a:r>
            <a:r>
              <a:rPr lang="ru-RU" sz="3600" dirty="0">
                <a:latin typeface="Times New Roman"/>
                <a:cs typeface="Times New Roman"/>
              </a:rPr>
              <a:t>логистической</a:t>
            </a:r>
            <a:r>
              <a:rPr lang="ru-RU" sz="3600" spc="40" dirty="0">
                <a:latin typeface="Times New Roman"/>
                <a:cs typeface="Times New Roman"/>
              </a:rPr>
              <a:t> </a:t>
            </a:r>
            <a:r>
              <a:rPr lang="ru-RU" sz="3600" dirty="0">
                <a:latin typeface="Times New Roman"/>
                <a:cs typeface="Times New Roman"/>
              </a:rPr>
              <a:t>системы</a:t>
            </a:r>
            <a:r>
              <a:rPr lang="ru-RU" sz="3600" spc="100" dirty="0">
                <a:latin typeface="Times New Roman"/>
                <a:cs typeface="Times New Roman"/>
              </a:rPr>
              <a:t> </a:t>
            </a:r>
            <a:r>
              <a:rPr lang="ru-RU" sz="3600" spc="-10" dirty="0">
                <a:latin typeface="Times New Roman"/>
                <a:cs typeface="Times New Roman"/>
              </a:rPr>
              <a:t>перевозки</a:t>
            </a:r>
            <a:endParaRPr lang="ru-RU" sz="3600" dirty="0">
              <a:latin typeface="Times New Roman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C32E67-A765-EF13-CFB4-EC98925BF854}"/>
              </a:ext>
            </a:extLst>
          </p:cNvPr>
          <p:cNvSpPr txBox="1"/>
          <p:nvPr/>
        </p:nvSpPr>
        <p:spPr>
          <a:xfrm>
            <a:off x="682623" y="2971800"/>
            <a:ext cx="10826750" cy="3152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55" algn="ctr">
              <a:lnSpc>
                <a:spcPts val="2865"/>
              </a:lnSpc>
              <a:spcBef>
                <a:spcPts val="2445"/>
              </a:spcBef>
            </a:pPr>
            <a:r>
              <a:rPr lang="ru-RU" sz="2000" dirty="0">
                <a:latin typeface="Times New Roman"/>
                <a:cs typeface="Times New Roman"/>
              </a:rPr>
              <a:t>Диссертация</a:t>
            </a:r>
            <a:r>
              <a:rPr lang="ru-RU" sz="2000" spc="-5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на</a:t>
            </a:r>
            <a:r>
              <a:rPr lang="ru-RU" sz="2000" spc="-80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соискание</a:t>
            </a:r>
            <a:r>
              <a:rPr lang="ru-RU" sz="2000" spc="-8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квалификации</a:t>
            </a:r>
            <a:r>
              <a:rPr lang="ru-RU" sz="2000" spc="-7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магистра</a:t>
            </a:r>
            <a:r>
              <a:rPr lang="ru-RU" sz="2000" spc="-80" dirty="0">
                <a:latin typeface="Times New Roman"/>
                <a:cs typeface="Times New Roman"/>
              </a:rPr>
              <a:t> </a:t>
            </a:r>
            <a:r>
              <a:rPr lang="ru-RU" sz="2000" spc="-10" dirty="0">
                <a:latin typeface="Times New Roman"/>
                <a:cs typeface="Times New Roman"/>
              </a:rPr>
              <a:t>техники </a:t>
            </a:r>
            <a:r>
              <a:rPr lang="ru-RU" sz="2000" dirty="0">
                <a:latin typeface="Times New Roman"/>
                <a:cs typeface="Times New Roman"/>
              </a:rPr>
              <a:t>и</a:t>
            </a:r>
            <a:r>
              <a:rPr lang="ru-RU" sz="2000" spc="-30" dirty="0">
                <a:latin typeface="Times New Roman"/>
                <a:cs typeface="Times New Roman"/>
              </a:rPr>
              <a:t> </a:t>
            </a:r>
            <a:r>
              <a:rPr lang="ru-RU" sz="2000" spc="-10" dirty="0">
                <a:latin typeface="Times New Roman"/>
                <a:cs typeface="Times New Roman"/>
              </a:rPr>
              <a:t>технологий</a:t>
            </a:r>
          </a:p>
          <a:p>
            <a:pPr marL="8255" algn="ctr">
              <a:lnSpc>
                <a:spcPts val="2865"/>
              </a:lnSpc>
              <a:spcBef>
                <a:spcPts val="2445"/>
              </a:spcBef>
            </a:pPr>
            <a:endParaRPr lang="ru-RU" sz="2000" dirty="0">
              <a:latin typeface="Times New Roman"/>
              <a:cs typeface="Times New Roman"/>
            </a:endParaRPr>
          </a:p>
          <a:p>
            <a:pPr marL="5191125" marR="2594610" indent="-2566035" algn="ctr">
              <a:lnSpc>
                <a:spcPct val="133000"/>
              </a:lnSpc>
            </a:pPr>
            <a:endParaRPr lang="ru-RU" sz="2000" dirty="0">
              <a:latin typeface="Times New Roman"/>
              <a:cs typeface="Times New Roman"/>
            </a:endParaRPr>
          </a:p>
          <a:p>
            <a:pPr marL="1609090" marR="1958339" indent="498475" algn="ctr">
              <a:lnSpc>
                <a:spcPct val="130400"/>
              </a:lnSpc>
              <a:spcBef>
                <a:spcPts val="75"/>
              </a:spcBef>
            </a:pPr>
            <a:r>
              <a:rPr lang="ru-RU" sz="2000" dirty="0">
                <a:latin typeface="Times New Roman"/>
                <a:cs typeface="Times New Roman"/>
              </a:rPr>
              <a:t>Соискатель:</a:t>
            </a:r>
            <a:r>
              <a:rPr lang="ru-RU" sz="2000" spc="-70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магистрант</a:t>
            </a:r>
            <a:r>
              <a:rPr lang="ru-RU" sz="2000" spc="-3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Артюшенков</a:t>
            </a:r>
            <a:r>
              <a:rPr lang="ru-RU" sz="2000" spc="-7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Артур</a:t>
            </a:r>
            <a:r>
              <a:rPr lang="ru-RU" sz="2000" spc="-70" dirty="0">
                <a:latin typeface="Times New Roman"/>
                <a:cs typeface="Times New Roman"/>
              </a:rPr>
              <a:t> </a:t>
            </a:r>
            <a:r>
              <a:rPr lang="ru-RU" sz="2000" spc="-10" dirty="0">
                <a:latin typeface="Times New Roman"/>
                <a:cs typeface="Times New Roman"/>
              </a:rPr>
              <a:t>Сергеевич </a:t>
            </a:r>
            <a:endParaRPr lang="en-GB" sz="2000" spc="-10" dirty="0">
              <a:latin typeface="Times New Roman"/>
              <a:cs typeface="Times New Roman"/>
            </a:endParaRPr>
          </a:p>
          <a:p>
            <a:pPr marL="1609090" marR="1958339" indent="498475" algn="ctr">
              <a:lnSpc>
                <a:spcPct val="130400"/>
              </a:lnSpc>
              <a:spcBef>
                <a:spcPts val="75"/>
              </a:spcBef>
            </a:pPr>
            <a:r>
              <a:rPr lang="ru-RU" sz="2000" dirty="0">
                <a:latin typeface="Times New Roman"/>
                <a:cs typeface="Times New Roman"/>
              </a:rPr>
              <a:t>Научный</a:t>
            </a:r>
            <a:r>
              <a:rPr lang="ru-RU" sz="2000" spc="-80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руководитель:</a:t>
            </a:r>
            <a:r>
              <a:rPr lang="ru-RU" sz="2000" spc="-6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д.т.н.,</a:t>
            </a:r>
            <a:r>
              <a:rPr lang="ru-RU" sz="2000" spc="-6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профессор</a:t>
            </a:r>
            <a:r>
              <a:rPr lang="ru-RU" sz="2000" spc="-70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института</a:t>
            </a:r>
            <a:r>
              <a:rPr lang="ru-RU" sz="2000" spc="-85" dirty="0">
                <a:latin typeface="Times New Roman"/>
                <a:cs typeface="Times New Roman"/>
              </a:rPr>
              <a:t> </a:t>
            </a:r>
            <a:r>
              <a:rPr lang="ru-RU" sz="2000" spc="-10" dirty="0">
                <a:latin typeface="Times New Roman"/>
                <a:cs typeface="Times New Roman"/>
              </a:rPr>
              <a:t>СПИНТех</a:t>
            </a:r>
            <a:r>
              <a:rPr lang="en-GB" sz="2000" spc="-10" dirty="0">
                <a:latin typeface="Times New Roman"/>
                <a:cs typeface="Times New Roman"/>
              </a:rPr>
              <a:t> </a:t>
            </a:r>
          </a:p>
          <a:p>
            <a:pPr marL="1609090" marR="1958339" indent="498475" algn="ctr">
              <a:lnSpc>
                <a:spcPct val="130400"/>
              </a:lnSpc>
              <a:spcBef>
                <a:spcPts val="75"/>
              </a:spcBef>
            </a:pPr>
            <a:r>
              <a:rPr lang="ru-RU" sz="2000" dirty="0">
                <a:latin typeface="Times New Roman"/>
                <a:cs typeface="Times New Roman"/>
              </a:rPr>
              <a:t>Гагарина</a:t>
            </a:r>
            <a:r>
              <a:rPr lang="ru-RU" sz="2000" spc="-20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Лариса</a:t>
            </a:r>
            <a:r>
              <a:rPr lang="ru-RU" sz="2000" spc="-80" dirty="0">
                <a:latin typeface="Times New Roman"/>
                <a:cs typeface="Times New Roman"/>
              </a:rPr>
              <a:t> </a:t>
            </a:r>
            <a:r>
              <a:rPr lang="ru-RU" sz="2000" spc="-10" dirty="0">
                <a:latin typeface="Times New Roman"/>
                <a:cs typeface="Times New Roman"/>
              </a:rPr>
              <a:t>Геннадьевна</a:t>
            </a:r>
            <a:endParaRPr lang="ru-RU" sz="2000" dirty="0">
              <a:latin typeface="Times New Roman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19F9F9-A3B1-D268-E576-6C02FBC07A0C}"/>
              </a:ext>
            </a:extLst>
          </p:cNvPr>
          <p:cNvSpPr txBox="1"/>
          <p:nvPr/>
        </p:nvSpPr>
        <p:spPr>
          <a:xfrm>
            <a:off x="346827" y="3429000"/>
            <a:ext cx="11498341" cy="1106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91125" marR="2594610" indent="-2566035" algn="ctr">
              <a:lnSpc>
                <a:spcPct val="133000"/>
              </a:lnSpc>
            </a:pPr>
            <a:endParaRPr lang="en-GB" sz="1800" dirty="0">
              <a:latin typeface="Times New Roman"/>
              <a:cs typeface="Times New Roman"/>
            </a:endParaRPr>
          </a:p>
          <a:p>
            <a:pPr marL="5191125" marR="2594610" indent="-2566035" algn="ctr">
              <a:lnSpc>
                <a:spcPct val="133000"/>
              </a:lnSpc>
            </a:pPr>
            <a:r>
              <a:rPr lang="ru-RU" sz="1800" dirty="0">
                <a:latin typeface="Times New Roman"/>
                <a:cs typeface="Times New Roman"/>
              </a:rPr>
              <a:t>Направление</a:t>
            </a:r>
            <a:r>
              <a:rPr lang="ru-RU" sz="1800" spc="5" dirty="0">
                <a:latin typeface="Times New Roman"/>
                <a:cs typeface="Times New Roman"/>
              </a:rPr>
              <a:t> </a:t>
            </a:r>
            <a:r>
              <a:rPr lang="ru-RU" sz="1800" spc="-10" dirty="0">
                <a:latin typeface="Times New Roman"/>
                <a:cs typeface="Times New Roman"/>
              </a:rPr>
              <a:t>подготовки</a:t>
            </a:r>
            <a:r>
              <a:rPr lang="ru-RU" sz="1800" spc="-50" dirty="0">
                <a:latin typeface="Times New Roman"/>
                <a:cs typeface="Times New Roman"/>
              </a:rPr>
              <a:t> </a:t>
            </a:r>
            <a:r>
              <a:rPr lang="ru-RU" sz="1800" dirty="0">
                <a:latin typeface="Times New Roman"/>
                <a:cs typeface="Times New Roman"/>
              </a:rPr>
              <a:t>09.04.04.</a:t>
            </a:r>
            <a:r>
              <a:rPr lang="ru-RU" sz="1800" spc="-15" dirty="0">
                <a:latin typeface="Times New Roman"/>
                <a:cs typeface="Times New Roman"/>
              </a:rPr>
              <a:t> </a:t>
            </a:r>
            <a:r>
              <a:rPr lang="ru-RU" sz="1800" dirty="0">
                <a:latin typeface="Times New Roman"/>
                <a:cs typeface="Times New Roman"/>
              </a:rPr>
              <a:t>–</a:t>
            </a:r>
            <a:r>
              <a:rPr lang="ru-RU" sz="1800" spc="-45" dirty="0">
                <a:latin typeface="Times New Roman"/>
                <a:cs typeface="Times New Roman"/>
              </a:rPr>
              <a:t> </a:t>
            </a:r>
            <a:r>
              <a:rPr lang="ru-RU" sz="1800" spc="-10" dirty="0">
                <a:latin typeface="Times New Roman"/>
                <a:cs typeface="Times New Roman"/>
              </a:rPr>
              <a:t>Программная</a:t>
            </a:r>
            <a:r>
              <a:rPr lang="en-GB" sz="1800" spc="-10" dirty="0">
                <a:latin typeface="Times New Roman"/>
                <a:cs typeface="Times New Roman"/>
              </a:rPr>
              <a:t> </a:t>
            </a:r>
            <a:r>
              <a:rPr lang="ru-RU" sz="1800" spc="-10" dirty="0">
                <a:latin typeface="Times New Roman"/>
                <a:cs typeface="Times New Roman"/>
              </a:rPr>
              <a:t>инженерия</a:t>
            </a:r>
            <a:endParaRPr lang="en-GB" sz="1800" spc="-10" dirty="0">
              <a:latin typeface="Times New Roman"/>
              <a:cs typeface="Times New Roman"/>
            </a:endParaRPr>
          </a:p>
          <a:p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6BA3BD3-3401-5CE9-DA7F-C5355EED6487}"/>
              </a:ext>
            </a:extLst>
          </p:cNvPr>
          <p:cNvSpPr txBox="1"/>
          <p:nvPr/>
        </p:nvSpPr>
        <p:spPr>
          <a:xfrm>
            <a:off x="2713182" y="381000"/>
            <a:ext cx="67656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dirty="0">
                <a:latin typeface="Times New Roman"/>
                <a:cs typeface="Times New Roman"/>
              </a:rPr>
              <a:t>Проблемная</a:t>
            </a:r>
            <a:r>
              <a:rPr lang="ru-RU" sz="3600" spc="95" dirty="0">
                <a:latin typeface="Times New Roman"/>
                <a:cs typeface="Times New Roman"/>
              </a:rPr>
              <a:t> </a:t>
            </a:r>
            <a:r>
              <a:rPr lang="ru-RU" sz="3600" dirty="0">
                <a:latin typeface="Times New Roman"/>
                <a:cs typeface="Times New Roman"/>
              </a:rPr>
              <a:t>ситуация</a:t>
            </a:r>
            <a:r>
              <a:rPr lang="ru-RU" sz="3600" spc="100" dirty="0">
                <a:latin typeface="Times New Roman"/>
                <a:cs typeface="Times New Roman"/>
              </a:rPr>
              <a:t> </a:t>
            </a:r>
            <a:r>
              <a:rPr lang="ru-RU" sz="3600" dirty="0">
                <a:latin typeface="Times New Roman"/>
                <a:cs typeface="Times New Roman"/>
              </a:rPr>
              <a:t>в</a:t>
            </a:r>
            <a:r>
              <a:rPr lang="ru-RU" sz="3600" spc="50" dirty="0">
                <a:latin typeface="Times New Roman"/>
                <a:cs typeface="Times New Roman"/>
              </a:rPr>
              <a:t> </a:t>
            </a:r>
            <a:r>
              <a:rPr lang="ru-RU" sz="3600" spc="-10" dirty="0">
                <a:latin typeface="Times New Roman"/>
                <a:cs typeface="Times New Roman"/>
              </a:rPr>
              <a:t>области </a:t>
            </a:r>
            <a:r>
              <a:rPr lang="ru-RU" sz="3600" dirty="0">
                <a:latin typeface="Times New Roman"/>
                <a:cs typeface="Times New Roman"/>
              </a:rPr>
              <a:t>объекта</a:t>
            </a:r>
            <a:r>
              <a:rPr lang="en-GB" sz="3600" spc="60" dirty="0">
                <a:latin typeface="Times New Roman"/>
                <a:cs typeface="Times New Roman"/>
              </a:rPr>
              <a:t> </a:t>
            </a:r>
            <a:r>
              <a:rPr lang="ru-RU" sz="3600" spc="-10" dirty="0">
                <a:latin typeface="Times New Roman"/>
                <a:cs typeface="Times New Roman"/>
              </a:rPr>
              <a:t>исследования</a:t>
            </a:r>
            <a:endParaRPr lang="ru-RU" sz="3600" dirty="0">
              <a:latin typeface="Times New Roman"/>
              <a:cs typeface="Times New Roman"/>
            </a:endParaRPr>
          </a:p>
          <a:p>
            <a:endParaRPr lang="ru-RU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553A7A-879F-7902-43D0-7B26B13EE976}"/>
              </a:ext>
            </a:extLst>
          </p:cNvPr>
          <p:cNvSpPr txBox="1"/>
          <p:nvPr/>
        </p:nvSpPr>
        <p:spPr>
          <a:xfrm>
            <a:off x="228600" y="1970226"/>
            <a:ext cx="14129132" cy="4297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64795" marR="1993264">
              <a:lnSpc>
                <a:spcPct val="101699"/>
              </a:lnSpc>
              <a:spcBef>
                <a:spcPts val="1645"/>
              </a:spcBef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Существующие модели маршрутизации не обеспечивают достаточную точность прогнозирования времени в пути в условиях стохастической и многопараметрической дорожной среды.</a:t>
            </a:r>
          </a:p>
          <a:p>
            <a:pPr marL="264795" marR="1993264">
              <a:lnSpc>
                <a:spcPct val="101699"/>
              </a:lnSpc>
              <a:spcBef>
                <a:spcPts val="1645"/>
              </a:spcBef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64795">
              <a:lnSpc>
                <a:spcPct val="100000"/>
              </a:lnSpc>
              <a:spcBef>
                <a:spcPts val="5"/>
              </a:spcBef>
            </a:pPr>
            <a:r>
              <a:rPr lang="ru-RU" sz="2400" b="1" dirty="0">
                <a:latin typeface="Times New Roman"/>
                <a:cs typeface="Times New Roman"/>
              </a:rPr>
              <a:t>Причины</a:t>
            </a:r>
            <a:r>
              <a:rPr lang="ru-RU" sz="2400" b="1" spc="-65" dirty="0">
                <a:latin typeface="Times New Roman"/>
                <a:cs typeface="Times New Roman"/>
              </a:rPr>
              <a:t> </a:t>
            </a:r>
            <a:r>
              <a:rPr lang="ru-RU" sz="2400" b="1" dirty="0">
                <a:latin typeface="Times New Roman"/>
                <a:cs typeface="Times New Roman"/>
              </a:rPr>
              <a:t>сложившейся</a:t>
            </a:r>
            <a:r>
              <a:rPr lang="ru-RU" sz="2400" b="1" spc="-25" dirty="0">
                <a:latin typeface="Times New Roman"/>
                <a:cs typeface="Times New Roman"/>
              </a:rPr>
              <a:t> </a:t>
            </a:r>
            <a:r>
              <a:rPr lang="ru-RU" sz="2400" b="1" spc="-10" dirty="0">
                <a:latin typeface="Times New Roman"/>
                <a:cs typeface="Times New Roman"/>
              </a:rPr>
              <a:t>ситуации:</a:t>
            </a:r>
            <a:endParaRPr lang="ru-RU" sz="2400" dirty="0">
              <a:latin typeface="Times New Roman"/>
              <a:cs typeface="Times New Roman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Неучёт вероятности ДТП и времени их устранения 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Ограниченное использование погодных факторов 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Статичность моделей трафика (AADT) 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Игнорирование типа дорожного покрытия 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интеграции ML и оптимизационных моделей </a:t>
            </a:r>
          </a:p>
          <a:p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27EE3A-697F-C337-1E9C-6F8155D5B2C1}"/>
              </a:ext>
            </a:extLst>
          </p:cNvPr>
          <p:cNvSpPr txBox="1"/>
          <p:nvPr/>
        </p:nvSpPr>
        <p:spPr>
          <a:xfrm>
            <a:off x="3322484" y="304800"/>
            <a:ext cx="55470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r>
              <a:rPr lang="ru-RU" sz="3600" spc="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r>
              <a:rPr lang="ru-RU" sz="36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sz="3600" spc="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6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диссертации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912282-D793-E71A-D9AC-35ACFE95336A}"/>
              </a:ext>
            </a:extLst>
          </p:cNvPr>
          <p:cNvSpPr txBox="1"/>
          <p:nvPr/>
        </p:nvSpPr>
        <p:spPr>
          <a:xfrm>
            <a:off x="311150" y="1143000"/>
            <a:ext cx="12160250" cy="51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64795" marR="0" lvl="0" indent="0" defTabSz="914400" eaLnBrk="1" fontAlgn="auto" latinLnBrk="0" hangingPunct="1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r>
              <a:rPr lang="ru-RU" sz="2400" b="1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работы:</a:t>
            </a:r>
            <a:r>
              <a:rPr lang="ru-RU" sz="2400" b="1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предиктивно-оптимизационной модели маршрутизации, обеспечивающей повышение точности прогнозирования времени в пути с учётом стохастических факторов дорожной среды.</a:t>
            </a:r>
          </a:p>
          <a:p>
            <a:pPr marL="264795">
              <a:lnSpc>
                <a:spcPct val="100000"/>
              </a:lnSpc>
              <a:spcBef>
                <a:spcPts val="2230"/>
              </a:spcBef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sz="2400" b="1" spc="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работы: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07060" marR="69215" lvl="7" indent="-342265">
              <a:lnSpc>
                <a:spcPts val="2850"/>
              </a:lnSpc>
              <a:spcBef>
                <a:spcPts val="170"/>
              </a:spcBef>
              <a:buAutoNum type="arabicPeriod"/>
              <a:tabLst>
                <a:tab pos="60833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Аналитический</a:t>
            </a:r>
            <a:r>
              <a:rPr lang="ru-RU" sz="2400" spc="3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обзор</a:t>
            </a:r>
            <a:r>
              <a:rPr lang="ru-RU" sz="2400" spc="3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существующих</a:t>
            </a:r>
            <a:r>
              <a:rPr lang="ru-RU" sz="2400" spc="3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моделей,</a:t>
            </a:r>
            <a:r>
              <a:rPr lang="ru-RU" sz="2400" spc="3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r>
              <a:rPr lang="ru-RU" sz="2400" spc="3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методов,</a:t>
            </a:r>
            <a:r>
              <a:rPr lang="ru-RU" sz="2400" spc="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r>
              <a:rPr lang="ru-RU" sz="2400" spc="3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специализированного 	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</a:t>
            </a:r>
            <a:r>
              <a:rPr lang="ru-RU"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</a:t>
            </a:r>
            <a:r>
              <a:rPr lang="ru-RU" sz="24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построения</a:t>
            </a:r>
            <a:r>
              <a:rPr lang="ru-RU" sz="24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маршрута.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07060" lvl="7" indent="-342265">
              <a:lnSpc>
                <a:spcPts val="2770"/>
              </a:lnSpc>
              <a:buAutoNum type="arabicPeriod"/>
              <a:tabLst>
                <a:tab pos="607060" algn="l"/>
                <a:tab pos="2701290" algn="l"/>
                <a:tab pos="3744595" algn="l"/>
                <a:tab pos="5426075" algn="l"/>
                <a:tab pos="6777990" algn="l"/>
                <a:tab pos="8260715" algn="l"/>
                <a:tab pos="8603615" algn="l"/>
                <a:tab pos="997077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Формализовать транспортную сеть в виде графовой модели</a:t>
            </a:r>
          </a:p>
          <a:p>
            <a:pPr marL="607060" lvl="7" indent="-342265">
              <a:lnSpc>
                <a:spcPts val="2770"/>
              </a:lnSpc>
              <a:buAutoNum type="arabicPeriod"/>
              <a:tabLst>
                <a:tab pos="607060" algn="l"/>
                <a:tab pos="2701290" algn="l"/>
                <a:tab pos="3744595" algn="l"/>
                <a:tab pos="5426075" algn="l"/>
                <a:tab pos="6777990" algn="l"/>
                <a:tab pos="8260715" algn="l"/>
                <a:tab pos="8603615" algn="l"/>
                <a:tab pos="997077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Разработать предиктивную модель оценки времени на ребре </a:t>
            </a:r>
          </a:p>
          <a:p>
            <a:pPr marL="607060" lvl="7" indent="-342265">
              <a:lnSpc>
                <a:spcPts val="2770"/>
              </a:lnSpc>
              <a:buAutoNum type="arabicPeriod"/>
              <a:tabLst>
                <a:tab pos="607060" algn="l"/>
                <a:tab pos="2701290" algn="l"/>
                <a:tab pos="3744595" algn="l"/>
                <a:tab pos="5426075" algn="l"/>
                <a:tab pos="6777990" algn="l"/>
                <a:tab pos="8260715" algn="l"/>
                <a:tab pos="8603615" algn="l"/>
                <a:tab pos="997077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Учесть влияние погоды, трафика и типа покрытия </a:t>
            </a:r>
          </a:p>
          <a:p>
            <a:pPr marL="607060" lvl="7" indent="-342265">
              <a:lnSpc>
                <a:spcPts val="2770"/>
              </a:lnSpc>
              <a:buAutoNum type="arabicPeriod"/>
              <a:tabLst>
                <a:tab pos="607060" algn="l"/>
                <a:tab pos="2701290" algn="l"/>
                <a:tab pos="3744595" algn="l"/>
                <a:tab pos="5426075" algn="l"/>
                <a:tab pos="6777990" algn="l"/>
                <a:tab pos="8260715" algn="l"/>
                <a:tab pos="8603615" algn="l"/>
                <a:tab pos="997077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Смоделировать вероятность ДТП и время их устранения </a:t>
            </a:r>
          </a:p>
          <a:p>
            <a:pPr marL="607060" lvl="7" indent="-342265">
              <a:lnSpc>
                <a:spcPts val="2770"/>
              </a:lnSpc>
              <a:buAutoNum type="arabicPeriod"/>
              <a:tabLst>
                <a:tab pos="607060" algn="l"/>
                <a:tab pos="2701290" algn="l"/>
                <a:tab pos="3744595" algn="l"/>
                <a:tab pos="5426075" algn="l"/>
                <a:tab pos="6777990" algn="l"/>
                <a:tab pos="8260715" algn="l"/>
                <a:tab pos="8603615" algn="l"/>
                <a:tab pos="997077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Интегрировать ML-модель в задачу оптимизации маршрутов </a:t>
            </a:r>
          </a:p>
          <a:p>
            <a:pPr marL="607060" lvl="7" indent="-342265">
              <a:lnSpc>
                <a:spcPts val="2770"/>
              </a:lnSpc>
              <a:buAutoNum type="arabicPeriod"/>
              <a:tabLst>
                <a:tab pos="607060" algn="l"/>
                <a:tab pos="2701290" algn="l"/>
                <a:tab pos="3744595" algn="l"/>
                <a:tab pos="5426075" algn="l"/>
                <a:tab pos="6777990" algn="l"/>
                <a:tab pos="8260715" algn="l"/>
                <a:tab pos="8603615" algn="l"/>
                <a:tab pos="997077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и реализовать алгоритм OPT-2 </a:t>
            </a:r>
          </a:p>
          <a:p>
            <a:pPr marL="607060" lvl="7" indent="-342265">
              <a:lnSpc>
                <a:spcPts val="2770"/>
              </a:lnSpc>
              <a:buAutoNum type="arabicPeriod"/>
              <a:tabLst>
                <a:tab pos="607060" algn="l"/>
                <a:tab pos="2701290" algn="l"/>
                <a:tab pos="3744595" algn="l"/>
                <a:tab pos="5426075" algn="l"/>
                <a:tab pos="6777990" algn="l"/>
                <a:tab pos="8260715" algn="l"/>
                <a:tab pos="8603615" algn="l"/>
                <a:tab pos="997077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оценку точности и эффективности модели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0AA45B-66E3-E12C-F49E-99816EC49570}"/>
              </a:ext>
            </a:extLst>
          </p:cNvPr>
          <p:cNvSpPr txBox="1"/>
          <p:nvPr/>
        </p:nvSpPr>
        <p:spPr>
          <a:xfrm>
            <a:off x="3886100" y="345337"/>
            <a:ext cx="44198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защиту выносятся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987E8A-00EB-DD7F-FB4D-A567066EE7DF}"/>
              </a:ext>
            </a:extLst>
          </p:cNvPr>
          <p:cNvSpPr txBox="1"/>
          <p:nvPr/>
        </p:nvSpPr>
        <p:spPr>
          <a:xfrm>
            <a:off x="-152400" y="1219200"/>
            <a:ext cx="12160250" cy="48940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99465" lvl="1" indent="-342265">
              <a:lnSpc>
                <a:spcPts val="2865"/>
              </a:lnSpc>
              <a:spcBef>
                <a:spcPts val="5"/>
              </a:spcBef>
              <a:buAutoNum type="arabicPeriod"/>
              <a:tabLst>
                <a:tab pos="342265" algn="l"/>
              </a:tabLst>
            </a:pP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Математическая модель логистической системы перевозок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учитывающая динамические и стохастические факторы (трафик, погодные условия, вероятность ДТП), обеспечивающая повышение точности прогнозирования времени в пути и эффективности маршрутизации по сравнению со статическими моделями. </a:t>
            </a:r>
          </a:p>
          <a:p>
            <a:pPr marL="799465" lvl="1" indent="-342265">
              <a:lnSpc>
                <a:spcPts val="2865"/>
              </a:lnSpc>
              <a:spcBef>
                <a:spcPts val="5"/>
              </a:spcBef>
              <a:buAutoNum type="arabicPeriod"/>
              <a:tabLst>
                <a:tab pos="342265" algn="l"/>
              </a:tabLst>
            </a:pP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Гибридный алгоритм оптимизации (OPT-2)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сочетающий предиктивную модель и методы локальной оптимизации, обладающий адаптивностью к изменяющимся условиям транспортной среды и сниженной вычислительной сложностью. </a:t>
            </a:r>
          </a:p>
          <a:p>
            <a:pPr marL="799465" lvl="1" indent="-342265">
              <a:lnSpc>
                <a:spcPts val="2865"/>
              </a:lnSpc>
              <a:spcBef>
                <a:spcPts val="5"/>
              </a:spcBef>
              <a:buAutoNum type="arabicPeriod"/>
              <a:tabLst>
                <a:tab pos="342265" algn="l"/>
              </a:tabLst>
            </a:pP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Предиктивная модель оценки параметров движения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интегрированная в задачу маршрутизации и учитывающая влияние внешних факторов на время прохождения рёбер графа. </a:t>
            </a:r>
          </a:p>
          <a:p>
            <a:pPr marL="799465" lvl="1" indent="-342265">
              <a:lnSpc>
                <a:spcPts val="2865"/>
              </a:lnSpc>
              <a:spcBef>
                <a:spcPts val="5"/>
              </a:spcBef>
              <a:buAutoNum type="arabicPeriod"/>
              <a:tabLst>
                <a:tab pos="342265" algn="l"/>
              </a:tabLst>
            </a:pP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Программная реализация системы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подтверждающая практическую применимость предложенного подхода на задаче городской логистики. </a:t>
            </a:r>
          </a:p>
          <a:p>
            <a:pPr marL="799465" lvl="1" indent="-342265">
              <a:lnSpc>
                <a:spcPts val="2865"/>
              </a:lnSpc>
              <a:spcBef>
                <a:spcPts val="5"/>
              </a:spcBef>
              <a:buAutoNum type="arabicPeriod"/>
              <a:tabLst>
                <a:tab pos="342265" algn="l"/>
              </a:tabLst>
            </a:pP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экспериментальных исследований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демонстрирующие повышение эффективности маршрутизации (снижение ошибки прогнозирования и времени доставки).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Аналитический</a:t>
            </a:r>
            <a:r>
              <a:rPr spc="85" dirty="0"/>
              <a:t> </a:t>
            </a:r>
            <a:r>
              <a:rPr dirty="0"/>
              <a:t>обзор</a:t>
            </a:r>
            <a:r>
              <a:rPr spc="120" dirty="0"/>
              <a:t> </a:t>
            </a:r>
            <a:r>
              <a:rPr dirty="0"/>
              <a:t>существующих</a:t>
            </a:r>
            <a:r>
              <a:rPr spc="120" dirty="0"/>
              <a:t> </a:t>
            </a:r>
            <a:r>
              <a:rPr dirty="0"/>
              <a:t>методов</a:t>
            </a:r>
            <a:r>
              <a:rPr spc="120" dirty="0"/>
              <a:t> </a:t>
            </a:r>
            <a:r>
              <a:rPr dirty="0"/>
              <a:t>и</a:t>
            </a:r>
            <a:r>
              <a:rPr spc="95" dirty="0"/>
              <a:t> </a:t>
            </a:r>
            <a:r>
              <a:rPr dirty="0"/>
              <a:t>средств</a:t>
            </a:r>
            <a:r>
              <a:rPr spc="195" dirty="0"/>
              <a:t> </a:t>
            </a:r>
            <a:r>
              <a:rPr dirty="0"/>
              <a:t>построения</a:t>
            </a:r>
            <a:r>
              <a:rPr spc="160" dirty="0"/>
              <a:t> </a:t>
            </a:r>
            <a:r>
              <a:rPr spc="-10" dirty="0"/>
              <a:t>путей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602216" y="6156642"/>
            <a:ext cx="56832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10" dirty="0">
                <a:latin typeface="Times New Roman"/>
                <a:cs typeface="Times New Roman"/>
              </a:rPr>
              <a:t>Разработал</a:t>
            </a:r>
            <a:endParaRPr sz="9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412983" y="6156642"/>
            <a:ext cx="670560" cy="296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1065"/>
              </a:lnSpc>
              <a:spcBef>
                <a:spcPts val="100"/>
              </a:spcBef>
            </a:pPr>
            <a:r>
              <a:rPr sz="900" spc="-10" dirty="0">
                <a:latin typeface="Times New Roman"/>
                <a:cs typeface="Times New Roman"/>
              </a:rPr>
              <a:t>Артюшенков</a:t>
            </a:r>
            <a:endParaRPr sz="900">
              <a:latin typeface="Times New Roman"/>
              <a:cs typeface="Times New Roman"/>
            </a:endParaRPr>
          </a:p>
          <a:p>
            <a:pPr algn="ctr">
              <a:lnSpc>
                <a:spcPts val="1065"/>
              </a:lnSpc>
            </a:pPr>
            <a:r>
              <a:rPr sz="900" spc="-20" dirty="0">
                <a:latin typeface="Times New Roman"/>
                <a:cs typeface="Times New Roman"/>
              </a:rPr>
              <a:t>А.С.</a:t>
            </a:r>
            <a:endParaRPr sz="9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1809983" y="6145212"/>
            <a:ext cx="10223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latin typeface="Times New Roman"/>
                <a:cs typeface="Times New Roman"/>
              </a:rPr>
              <a:t>5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602216" y="6453504"/>
            <a:ext cx="49212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10" dirty="0">
                <a:latin typeface="Times New Roman"/>
                <a:cs typeface="Times New Roman"/>
              </a:rPr>
              <a:t>Утвердил</a:t>
            </a:r>
            <a:endParaRPr sz="9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386059" y="6453504"/>
            <a:ext cx="70167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latin typeface="Times New Roman"/>
                <a:cs typeface="Times New Roman"/>
              </a:rPr>
              <a:t>Гагарина</a:t>
            </a:r>
            <a:r>
              <a:rPr sz="900" spc="-45" dirty="0">
                <a:latin typeface="Times New Roman"/>
                <a:cs typeface="Times New Roman"/>
              </a:rPr>
              <a:t> </a:t>
            </a:r>
            <a:r>
              <a:rPr sz="900" spc="-20" dirty="0">
                <a:latin typeface="Times New Roman"/>
                <a:cs typeface="Times New Roman"/>
              </a:rPr>
              <a:t>Л.Г.</a:t>
            </a:r>
            <a:endParaRPr sz="9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604010" y="6001384"/>
            <a:ext cx="195580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10" dirty="0">
                <a:latin typeface="Times New Roman"/>
                <a:cs typeface="Times New Roman"/>
              </a:rPr>
              <a:t>Сравнение</a:t>
            </a:r>
            <a:r>
              <a:rPr sz="1800" i="1" spc="-85" dirty="0">
                <a:latin typeface="Times New Roman"/>
                <a:cs typeface="Times New Roman"/>
              </a:rPr>
              <a:t> </a:t>
            </a:r>
            <a:r>
              <a:rPr sz="1800" i="1" spc="-10" dirty="0">
                <a:latin typeface="Times New Roman"/>
                <a:cs typeface="Times New Roman"/>
              </a:rPr>
              <a:t>методов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842127" y="1203197"/>
            <a:ext cx="5431790" cy="4669790"/>
          </a:xfrm>
          <a:custGeom>
            <a:avLst/>
            <a:gdLst/>
            <a:ahLst/>
            <a:cxnLst/>
            <a:rect l="l" t="t" r="r" b="b"/>
            <a:pathLst>
              <a:path w="5431790" h="4669790">
                <a:moveTo>
                  <a:pt x="1812544" y="0"/>
                </a:moveTo>
                <a:lnTo>
                  <a:pt x="1812544" y="4669421"/>
                </a:lnTo>
              </a:path>
              <a:path w="5431790" h="4669790">
                <a:moveTo>
                  <a:pt x="3618738" y="0"/>
                </a:moveTo>
                <a:lnTo>
                  <a:pt x="3618738" y="4669421"/>
                </a:lnTo>
              </a:path>
              <a:path w="5431790" h="4669790">
                <a:moveTo>
                  <a:pt x="0" y="721994"/>
                </a:moveTo>
                <a:lnTo>
                  <a:pt x="5431408" y="721994"/>
                </a:lnTo>
              </a:path>
              <a:path w="5431790" h="4669790">
                <a:moveTo>
                  <a:pt x="0" y="1437766"/>
                </a:moveTo>
                <a:lnTo>
                  <a:pt x="5431408" y="1437766"/>
                </a:lnTo>
              </a:path>
              <a:path w="5431790" h="4669790">
                <a:moveTo>
                  <a:pt x="0" y="2153412"/>
                </a:moveTo>
                <a:lnTo>
                  <a:pt x="5431408" y="2153412"/>
                </a:lnTo>
              </a:path>
              <a:path w="5431790" h="4669790">
                <a:moveTo>
                  <a:pt x="0" y="2869184"/>
                </a:moveTo>
                <a:lnTo>
                  <a:pt x="5431408" y="2869184"/>
                </a:lnTo>
              </a:path>
              <a:path w="5431790" h="4669790">
                <a:moveTo>
                  <a:pt x="0" y="3600704"/>
                </a:moveTo>
                <a:lnTo>
                  <a:pt x="5431408" y="3600704"/>
                </a:lnTo>
              </a:path>
              <a:path w="5431790" h="4669790">
                <a:moveTo>
                  <a:pt x="0" y="4316476"/>
                </a:moveTo>
                <a:lnTo>
                  <a:pt x="5431408" y="4316476"/>
                </a:lnTo>
              </a:path>
              <a:path w="5431790" h="4669790">
                <a:moveTo>
                  <a:pt x="6350" y="0"/>
                </a:moveTo>
                <a:lnTo>
                  <a:pt x="6350" y="4669421"/>
                </a:lnTo>
              </a:path>
              <a:path w="5431790" h="4669790">
                <a:moveTo>
                  <a:pt x="5425058" y="0"/>
                </a:moveTo>
                <a:lnTo>
                  <a:pt x="5425058" y="4669421"/>
                </a:lnTo>
              </a:path>
              <a:path w="5431790" h="4669790">
                <a:moveTo>
                  <a:pt x="0" y="6350"/>
                </a:moveTo>
                <a:lnTo>
                  <a:pt x="5431408" y="6350"/>
                </a:lnTo>
              </a:path>
              <a:path w="5431790" h="4669790">
                <a:moveTo>
                  <a:pt x="0" y="4663071"/>
                </a:moveTo>
                <a:lnTo>
                  <a:pt x="5431408" y="4663071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10" name="objec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864166"/>
              </p:ext>
            </p:extLst>
          </p:nvPr>
        </p:nvGraphicFramePr>
        <p:xfrm>
          <a:off x="5848477" y="1209547"/>
          <a:ext cx="5417817" cy="46551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59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59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59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5010"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b="1" dirty="0">
                          <a:latin typeface="Times New Roman"/>
                          <a:cs typeface="Times New Roman"/>
                        </a:rPr>
                        <a:t>Название</a:t>
                      </a:r>
                      <a:r>
                        <a:rPr sz="1400" b="1" spc="-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b="1" spc="-25" dirty="0">
                          <a:latin typeface="Times New Roman"/>
                          <a:cs typeface="Times New Roman"/>
                        </a:rPr>
                        <a:t>ПО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/>
                </a:tc>
                <a:tc>
                  <a:txBody>
                    <a:bodyPr/>
                    <a:lstStyle/>
                    <a:p>
                      <a:pPr marL="97155">
                        <a:lnSpc>
                          <a:spcPts val="1664"/>
                        </a:lnSpc>
                        <a:spcBef>
                          <a:spcPts val="325"/>
                        </a:spcBef>
                      </a:pPr>
                      <a:r>
                        <a:rPr sz="1400" b="1" dirty="0">
                          <a:latin typeface="Times New Roman"/>
                          <a:cs typeface="Times New Roman"/>
                        </a:rPr>
                        <a:t>Учёт</a:t>
                      </a:r>
                      <a:r>
                        <a:rPr sz="1400" b="1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b="1" spc="-10" dirty="0">
                          <a:latin typeface="Times New Roman"/>
                          <a:cs typeface="Times New Roman"/>
                        </a:rPr>
                        <a:t>динамических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7155">
                        <a:lnSpc>
                          <a:spcPts val="1664"/>
                        </a:lnSpc>
                      </a:pPr>
                      <a:r>
                        <a:rPr sz="1400" b="1" spc="-10" dirty="0">
                          <a:latin typeface="Times New Roman"/>
                          <a:cs typeface="Times New Roman"/>
                        </a:rPr>
                        <a:t>параметров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/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ts val="1664"/>
                        </a:lnSpc>
                        <a:spcBef>
                          <a:spcPts val="325"/>
                        </a:spcBef>
                      </a:pPr>
                      <a:r>
                        <a:rPr sz="1400" b="1" dirty="0">
                          <a:latin typeface="Times New Roman"/>
                          <a:cs typeface="Times New Roman"/>
                        </a:rPr>
                        <a:t>Точность</a:t>
                      </a:r>
                      <a:r>
                        <a:rPr sz="1400" b="1" spc="-10" dirty="0">
                          <a:latin typeface="Times New Roman"/>
                          <a:cs typeface="Times New Roman"/>
                        </a:rPr>
                        <a:t> работы,</a:t>
                      </a: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98425">
                        <a:lnSpc>
                          <a:spcPts val="1664"/>
                        </a:lnSpc>
                      </a:pPr>
                      <a:r>
                        <a:rPr sz="1400" b="1" spc="-50" dirty="0">
                          <a:latin typeface="Times New Roman"/>
                          <a:cs typeface="Times New Roman"/>
                        </a:rPr>
                        <a:t>%</a:t>
                      </a:r>
                      <a:endParaRPr sz="14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56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5885">
                        <a:lnSpc>
                          <a:spcPct val="100000"/>
                        </a:lnSpc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Google</a:t>
                      </a: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Maps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3180" marB="0"/>
                </a:tc>
                <a:tc>
                  <a:txBody>
                    <a:bodyPr/>
                    <a:lstStyle/>
                    <a:p>
                      <a:pPr marL="97155" marR="279400">
                        <a:lnSpc>
                          <a:spcPts val="1650"/>
                        </a:lnSpc>
                        <a:spcBef>
                          <a:spcPts val="1190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Да</a:t>
                      </a:r>
                      <a:r>
                        <a:rPr sz="1400" spc="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(пробки,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дорожные</a:t>
                      </a:r>
                      <a:r>
                        <a:rPr sz="14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работы)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15113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</a:pP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95%</a:t>
                      </a:r>
                      <a:endParaRPr sz="14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4318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56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5885">
                        <a:lnSpc>
                          <a:spcPct val="100000"/>
                        </a:lnSpc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Yandex.Navigator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4450" marB="0"/>
                </a:tc>
                <a:tc>
                  <a:txBody>
                    <a:bodyPr/>
                    <a:lstStyle/>
                    <a:p>
                      <a:pPr marL="97155" marR="279400">
                        <a:lnSpc>
                          <a:spcPts val="1650"/>
                        </a:lnSpc>
                        <a:spcBef>
                          <a:spcPts val="1200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Да</a:t>
                      </a:r>
                      <a:r>
                        <a:rPr sz="1400" spc="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(пробки,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дорожные</a:t>
                      </a:r>
                      <a:r>
                        <a:rPr sz="14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работы)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15240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</a:pP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94%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445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56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95885">
                        <a:lnSpc>
                          <a:spcPct val="100000"/>
                        </a:lnSpc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Apple</a:t>
                      </a:r>
                      <a:r>
                        <a:rPr sz="14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Maps</a:t>
                      </a:r>
                      <a:endParaRPr sz="14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/>
                </a:tc>
                <a:tc>
                  <a:txBody>
                    <a:bodyPr/>
                    <a:lstStyle/>
                    <a:p>
                      <a:pPr marL="97155" marR="279400">
                        <a:lnSpc>
                          <a:spcPts val="1650"/>
                        </a:lnSpc>
                        <a:spcBef>
                          <a:spcPts val="1205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Да</a:t>
                      </a:r>
                      <a:r>
                        <a:rPr sz="1400" spc="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(пробки,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дорожные</a:t>
                      </a:r>
                      <a:r>
                        <a:rPr sz="14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работы)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15303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</a:pP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92%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588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Waze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53975" marB="0"/>
                </a:tc>
                <a:tc>
                  <a:txBody>
                    <a:bodyPr/>
                    <a:lstStyle/>
                    <a:p>
                      <a:pPr marL="97155" marR="294640">
                        <a:lnSpc>
                          <a:spcPct val="100600"/>
                        </a:lnSpc>
                        <a:spcBef>
                          <a:spcPts val="345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Да</a:t>
                      </a:r>
                      <a:r>
                        <a:rPr sz="1400" spc="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(пробки,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дорожные</a:t>
                      </a:r>
                      <a:r>
                        <a:rPr sz="14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работы, аварии)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381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96%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53975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56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9588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HERE</a:t>
                      </a:r>
                      <a:r>
                        <a:rPr sz="14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WeGo</a:t>
                      </a:r>
                      <a:endParaRPr sz="14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46990" marB="0"/>
                </a:tc>
                <a:tc>
                  <a:txBody>
                    <a:bodyPr/>
                    <a:lstStyle/>
                    <a:p>
                      <a:pPr marL="97155" marR="279400">
                        <a:lnSpc>
                          <a:spcPts val="1650"/>
                        </a:lnSpc>
                        <a:spcBef>
                          <a:spcPts val="1220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Да</a:t>
                      </a:r>
                      <a:r>
                        <a:rPr sz="1400" spc="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(пробки,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дорожные</a:t>
                      </a:r>
                      <a:r>
                        <a:rPr sz="14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работы)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15494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93%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699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075"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535"/>
                        </a:spcBef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MapQuest</a:t>
                      </a:r>
                      <a:endParaRPr sz="14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7945" marB="0"/>
                </a:tc>
                <a:tc>
                  <a:txBody>
                    <a:bodyPr/>
                    <a:lstStyle/>
                    <a:p>
                      <a:pPr marL="97155">
                        <a:lnSpc>
                          <a:spcPct val="100000"/>
                        </a:lnSpc>
                        <a:spcBef>
                          <a:spcPts val="535"/>
                        </a:spcBef>
                      </a:pP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Нет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67945" marB="0"/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535"/>
                        </a:spcBef>
                      </a:pP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85%</a:t>
                      </a:r>
                      <a:endParaRPr sz="14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794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object 11"/>
          <p:cNvSpPr txBox="1"/>
          <p:nvPr/>
        </p:nvSpPr>
        <p:spPr>
          <a:xfrm>
            <a:off x="7837805" y="6001384"/>
            <a:ext cx="143764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latin typeface="Times New Roman"/>
                <a:cs typeface="Times New Roman"/>
              </a:rPr>
              <a:t>Сравнение</a:t>
            </a:r>
            <a:r>
              <a:rPr sz="1800" i="1" spc="-50" dirty="0">
                <a:latin typeface="Times New Roman"/>
                <a:cs typeface="Times New Roman"/>
              </a:rPr>
              <a:t> </a:t>
            </a:r>
            <a:r>
              <a:rPr sz="1800" i="1" spc="-25" dirty="0">
                <a:latin typeface="Times New Roman"/>
                <a:cs typeface="Times New Roman"/>
              </a:rPr>
              <a:t>ПО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7FF1DD-5541-C6FD-35BD-FF70B758F334}"/>
              </a:ext>
            </a:extLst>
          </p:cNvPr>
          <p:cNvSpPr/>
          <p:nvPr/>
        </p:nvSpPr>
        <p:spPr>
          <a:xfrm>
            <a:off x="-152400" y="-16933"/>
            <a:ext cx="12954000" cy="3530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316167-0901-C1B8-F33A-F03AE2680086}"/>
              </a:ext>
            </a:extLst>
          </p:cNvPr>
          <p:cNvSpPr/>
          <p:nvPr/>
        </p:nvSpPr>
        <p:spPr>
          <a:xfrm>
            <a:off x="-457200" y="6504940"/>
            <a:ext cx="12954000" cy="3530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0B78EB-C62B-3AAF-8AFF-56D2585008D5}"/>
              </a:ext>
            </a:extLst>
          </p:cNvPr>
          <p:cNvSpPr/>
          <p:nvPr/>
        </p:nvSpPr>
        <p:spPr>
          <a:xfrm>
            <a:off x="9415271" y="6026970"/>
            <a:ext cx="2665984" cy="7146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92FA52-5A58-CC0B-8065-0DC0E45836DD}"/>
              </a:ext>
            </a:extLst>
          </p:cNvPr>
          <p:cNvSpPr/>
          <p:nvPr/>
        </p:nvSpPr>
        <p:spPr>
          <a:xfrm rot="16200000">
            <a:off x="-3200399" y="3276600"/>
            <a:ext cx="67818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DE8575-E407-5B77-90B3-00B7B621B924}"/>
              </a:ext>
            </a:extLst>
          </p:cNvPr>
          <p:cNvSpPr/>
          <p:nvPr/>
        </p:nvSpPr>
        <p:spPr>
          <a:xfrm rot="16200000">
            <a:off x="8717279" y="3230034"/>
            <a:ext cx="67818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BAA53082-C5DF-E4D7-EF4B-F35806561F68}"/>
              </a:ext>
            </a:extLst>
          </p:cNvPr>
          <p:cNvSpPr txBox="1"/>
          <p:nvPr/>
        </p:nvSpPr>
        <p:spPr>
          <a:xfrm>
            <a:off x="1892359" y="228600"/>
            <a:ext cx="8407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5260" algn="ctr">
              <a:lnSpc>
                <a:spcPct val="100000"/>
              </a:lnSpc>
              <a:spcBef>
                <a:spcPts val="1595"/>
              </a:spcBef>
            </a:pPr>
            <a:r>
              <a:rPr lang="ru-RU" sz="3600" dirty="0">
                <a:latin typeface="Times New Roman"/>
                <a:cs typeface="Times New Roman"/>
              </a:rPr>
              <a:t>Формализованное</a:t>
            </a:r>
            <a:r>
              <a:rPr lang="en-GB" sz="3600" spc="-70" dirty="0">
                <a:latin typeface="Times New Roman"/>
                <a:cs typeface="Times New Roman"/>
              </a:rPr>
              <a:t> </a:t>
            </a:r>
            <a:r>
              <a:rPr lang="ru-RU" sz="3600" dirty="0">
                <a:latin typeface="Times New Roman"/>
                <a:cs typeface="Times New Roman"/>
              </a:rPr>
              <a:t>представление</a:t>
            </a:r>
            <a:r>
              <a:rPr lang="ru-RU" sz="3600" spc="-60" dirty="0">
                <a:latin typeface="Times New Roman"/>
                <a:cs typeface="Times New Roman"/>
              </a:rPr>
              <a:t> </a:t>
            </a:r>
            <a:r>
              <a:rPr lang="ru-RU" sz="3600" spc="-10" dirty="0">
                <a:latin typeface="Times New Roman"/>
                <a:cs typeface="Times New Roman"/>
              </a:rPr>
              <a:t>задачи</a:t>
            </a:r>
            <a:endParaRPr lang="ru-RU" sz="3600" dirty="0">
              <a:latin typeface="Times New Roman"/>
              <a:cs typeface="Times New Roman"/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6B4F6BF-D81B-AD82-5CDD-14EA7CA93658}"/>
              </a:ext>
            </a:extLst>
          </p:cNvPr>
          <p:cNvGrpSpPr/>
          <p:nvPr/>
        </p:nvGrpSpPr>
        <p:grpSpPr>
          <a:xfrm>
            <a:off x="3274604" y="1074787"/>
            <a:ext cx="5642790" cy="989649"/>
            <a:chOff x="3453241" y="919617"/>
            <a:chExt cx="5642790" cy="98964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C3C5891-195E-B28E-1F66-44894352EA7F}"/>
                </a:ext>
              </a:extLst>
            </p:cNvPr>
            <p:cNvSpPr txBox="1"/>
            <p:nvPr/>
          </p:nvSpPr>
          <p:spPr>
            <a:xfrm>
              <a:off x="4483120" y="919617"/>
              <a:ext cx="35830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2000" b="1" dirty="0">
                  <a:solidFill>
                    <a:schemeClr val="tx1"/>
                  </a:solidFill>
                </a:rPr>
                <a:t>Целевая функция модели</a:t>
              </a:r>
              <a:r>
                <a:rPr lang="en-GB" sz="2000" b="1" dirty="0">
                  <a:solidFill>
                    <a:schemeClr val="tx1"/>
                  </a:solidFill>
                </a:rPr>
                <a:t>:</a:t>
              </a:r>
              <a:endParaRPr lang="ru-RU" sz="2000" b="1" dirty="0">
                <a:solidFill>
                  <a:schemeClr val="tx1"/>
                </a:solidFill>
                <a:latin typeface="Times New Roman"/>
                <a:cs typeface="Times New Roman"/>
              </a:endParaRPr>
            </a:p>
            <a:p>
              <a:endParaRPr lang="ru-RU" sz="2000" dirty="0">
                <a:solidFill>
                  <a:schemeClr val="tx1"/>
                </a:solidFill>
              </a:endParaRP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C70A06FD-1858-B060-6CBF-A91E1E3A0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</a:blip>
            <a:srcRect l="3329" t="5345" r="4836" b="26410"/>
            <a:stretch/>
          </p:blipFill>
          <p:spPr>
            <a:xfrm>
              <a:off x="3453241" y="1415176"/>
              <a:ext cx="5642790" cy="49409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C77171B-F027-B169-85EB-3052FA484FA0}"/>
              </a:ext>
            </a:extLst>
          </p:cNvPr>
          <p:cNvGrpSpPr/>
          <p:nvPr/>
        </p:nvGrpSpPr>
        <p:grpSpPr>
          <a:xfrm>
            <a:off x="306186" y="3994398"/>
            <a:ext cx="5736761" cy="2330454"/>
            <a:chOff x="206839" y="2911376"/>
            <a:chExt cx="5736761" cy="2330454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399DA1B9-9413-856F-E4BE-F7315E282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biLevel thresh="50000"/>
            </a:blip>
            <a:stretch>
              <a:fillRect/>
            </a:stretch>
          </p:blipFill>
          <p:spPr>
            <a:xfrm>
              <a:off x="300810" y="3288221"/>
              <a:ext cx="5642790" cy="195360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20BFEE2-D6E0-A71D-C918-6EA427B02311}"/>
                </a:ext>
              </a:extLst>
            </p:cNvPr>
            <p:cNvSpPr txBox="1"/>
            <p:nvPr/>
          </p:nvSpPr>
          <p:spPr>
            <a:xfrm>
              <a:off x="206839" y="2911376"/>
              <a:ext cx="3147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/>
                <a:t>Расшифровка признаков:</a:t>
              </a:r>
              <a:endParaRPr lang="ru-RU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7BAEF9D-89E4-30FF-DEE8-5ACDF99869E1}"/>
              </a:ext>
            </a:extLst>
          </p:cNvPr>
          <p:cNvGrpSpPr/>
          <p:nvPr/>
        </p:nvGrpSpPr>
        <p:grpSpPr>
          <a:xfrm>
            <a:off x="6248400" y="3380777"/>
            <a:ext cx="5642790" cy="741889"/>
            <a:chOff x="6274636" y="3013417"/>
            <a:chExt cx="5642790" cy="741889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DE4E897-D81E-5E13-0309-D8268A2616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biLevel thresh="75000"/>
            </a:blip>
            <a:srcRect l="2097" t="17556" r="7882" b="10693"/>
            <a:stretch/>
          </p:blipFill>
          <p:spPr>
            <a:xfrm>
              <a:off x="6274636" y="3385974"/>
              <a:ext cx="564279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D738837-D8CA-292D-6D65-F752AB4D6C6A}"/>
                </a:ext>
              </a:extLst>
            </p:cNvPr>
            <p:cNvSpPr txBox="1"/>
            <p:nvPr/>
          </p:nvSpPr>
          <p:spPr>
            <a:xfrm>
              <a:off x="7848600" y="3013417"/>
              <a:ext cx="228940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800" b="1" dirty="0"/>
                <a:t>Вероятность ДТП</a:t>
              </a:r>
              <a:r>
                <a:rPr lang="en-GB" b="1" dirty="0"/>
                <a:t>:</a:t>
              </a:r>
              <a:endParaRPr lang="ru-RU" sz="1800" b="1" dirty="0">
                <a:latin typeface="Times New Roman"/>
                <a:cs typeface="Times New Roman"/>
              </a:endParaRPr>
            </a:p>
            <a:p>
              <a:endParaRPr lang="ru-RU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31F1E44-4081-D090-A36D-1515550649F8}"/>
              </a:ext>
            </a:extLst>
          </p:cNvPr>
          <p:cNvGrpSpPr/>
          <p:nvPr/>
        </p:nvGrpSpPr>
        <p:grpSpPr>
          <a:xfrm>
            <a:off x="7422785" y="4531105"/>
            <a:ext cx="3088566" cy="1624688"/>
            <a:chOff x="7327738" y="4420308"/>
            <a:chExt cx="3088566" cy="1624688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0EA82957-2117-3728-5330-C4CAB224A7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biLevel thresh="50000"/>
            </a:blip>
            <a:srcRect r="8929"/>
            <a:stretch/>
          </p:blipFill>
          <p:spPr>
            <a:xfrm>
              <a:off x="7327738" y="4806573"/>
              <a:ext cx="3088566" cy="123842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35A559F-A727-60C9-079F-480C76460B16}"/>
                </a:ext>
              </a:extLst>
            </p:cNvPr>
            <p:cNvSpPr txBox="1"/>
            <p:nvPr/>
          </p:nvSpPr>
          <p:spPr>
            <a:xfrm>
              <a:off x="7736133" y="4420308"/>
              <a:ext cx="2271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800" b="1" dirty="0"/>
                <a:t>Предикат Аварии:</a:t>
              </a:r>
              <a:endParaRPr lang="ru-RU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D406C7A-6008-D484-1B5D-F8687016DC18}"/>
              </a:ext>
            </a:extLst>
          </p:cNvPr>
          <p:cNvGrpSpPr/>
          <p:nvPr/>
        </p:nvGrpSpPr>
        <p:grpSpPr>
          <a:xfrm>
            <a:off x="166806" y="2362125"/>
            <a:ext cx="7004234" cy="935282"/>
            <a:chOff x="166806" y="2362125"/>
            <a:chExt cx="7004234" cy="935282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F5DF45F2-F849-5CB8-B136-D8C41773E70D}"/>
                </a:ext>
              </a:extLst>
            </p:cNvPr>
            <p:cNvGrpSpPr/>
            <p:nvPr/>
          </p:nvGrpSpPr>
          <p:grpSpPr>
            <a:xfrm>
              <a:off x="166806" y="2377110"/>
              <a:ext cx="7004234" cy="920297"/>
              <a:chOff x="206839" y="1991079"/>
              <a:chExt cx="7004234" cy="920297"/>
            </a:xfrm>
          </p:grpSpPr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93C32AA9-5D50-9460-0F73-2DC8B5EC31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biLevel thresh="50000"/>
              </a:blip>
              <a:srcRect r="4676" b="6228"/>
              <a:stretch/>
            </p:blipFill>
            <p:spPr>
              <a:xfrm>
                <a:off x="255112" y="2375396"/>
                <a:ext cx="6955961" cy="53598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BA8BE2D-3CB5-E80C-6A11-CB135BBFEEA6}"/>
                  </a:ext>
                </a:extLst>
              </p:cNvPr>
              <p:cNvSpPr txBox="1"/>
              <p:nvPr/>
            </p:nvSpPr>
            <p:spPr>
              <a:xfrm>
                <a:off x="206839" y="1991079"/>
                <a:ext cx="45833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b="1" dirty="0"/>
                  <a:t>Раскрытие предективной модели</a:t>
                </a:r>
                <a:r>
                  <a:rPr lang="en-GB" b="1" dirty="0"/>
                  <a:t>     </a:t>
                </a:r>
                <a:r>
                  <a:rPr lang="ru-RU" b="1" dirty="0"/>
                  <a:t> </a:t>
                </a:r>
                <a:r>
                  <a:rPr lang="fr-FR" dirty="0"/>
                  <a:t>​</a:t>
                </a:r>
                <a:r>
                  <a:rPr lang="ru-RU" b="1" dirty="0"/>
                  <a:t>:</a:t>
                </a:r>
                <a:endParaRPr lang="ru-RU" dirty="0"/>
              </a:p>
            </p:txBody>
          </p:sp>
        </p:grp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E0532525-2078-EEAC-15A5-6FB8DF75DA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172661" y="2362125"/>
              <a:ext cx="317614" cy="34597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diagram of a company&#10;&#10;AI-generated content may be incorrect.">
            <a:extLst>
              <a:ext uri="{FF2B5EF4-FFF2-40B4-BE49-F238E27FC236}">
                <a16:creationId xmlns:a16="http://schemas.microsoft.com/office/drawing/2014/main" id="{7DC7AC25-A2E3-3B9A-E2B2-2CD06F288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9287" y="1060450"/>
            <a:ext cx="8353425" cy="556895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FF68E3F-9C76-6A7D-E50B-A8D6C12384AB}"/>
              </a:ext>
            </a:extLst>
          </p:cNvPr>
          <p:cNvSpPr txBox="1"/>
          <p:nvPr/>
        </p:nvSpPr>
        <p:spPr>
          <a:xfrm>
            <a:off x="3048000" y="2286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5260" algn="ctr">
              <a:lnSpc>
                <a:spcPct val="100000"/>
              </a:lnSpc>
              <a:spcBef>
                <a:spcPts val="1595"/>
              </a:spcBef>
            </a:pPr>
            <a:r>
              <a:rPr lang="ru-RU" sz="3600" dirty="0">
                <a:latin typeface="Times New Roman"/>
                <a:cs typeface="Times New Roman"/>
              </a:rPr>
              <a:t>Разработка алгоритма </a:t>
            </a:r>
          </a:p>
        </p:txBody>
      </p:sp>
    </p:spTree>
    <p:extLst>
      <p:ext uri="{BB962C8B-B14F-4D97-AF65-F5344CB8AC3E}">
        <p14:creationId xmlns:p14="http://schemas.microsoft.com/office/powerpoint/2010/main" val="609356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4DE7D9-D54B-4844-55A7-0F9695F86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434" y="855633"/>
            <a:ext cx="4839362" cy="2880573"/>
          </a:xfrm>
          <a:prstGeom prst="rect">
            <a:avLst/>
          </a:prstGeom>
        </p:spPr>
      </p:pic>
      <p:pic>
        <p:nvPicPr>
          <p:cNvPr id="8" name="Picture 7" descr="An aerial view of a city&#10;&#10;AI-generated content may be incorrect.">
            <a:extLst>
              <a:ext uri="{FF2B5EF4-FFF2-40B4-BE49-F238E27FC236}">
                <a16:creationId xmlns:a16="http://schemas.microsoft.com/office/drawing/2014/main" id="{8F250685-1072-6CA2-AF73-DE2D61561A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5371" y="3698068"/>
            <a:ext cx="4341257" cy="2602074"/>
          </a:xfrm>
          <a:prstGeom prst="rect">
            <a:avLst/>
          </a:prstGeom>
        </p:spPr>
      </p:pic>
      <p:pic>
        <p:nvPicPr>
          <p:cNvPr id="10" name="Picture 9" descr="An aerial view of a city&#10;&#10;AI-generated content may be incorrect.">
            <a:extLst>
              <a:ext uri="{FF2B5EF4-FFF2-40B4-BE49-F238E27FC236}">
                <a16:creationId xmlns:a16="http://schemas.microsoft.com/office/drawing/2014/main" id="{BDBBA3EC-CB39-A613-C8D6-69B4D966BD3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858" y="1168770"/>
            <a:ext cx="3657600" cy="2194560"/>
          </a:xfrm>
          <a:prstGeom prst="rect">
            <a:avLst/>
          </a:prstGeom>
        </p:spPr>
      </p:pic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53548820-09A6-C697-154D-0158DE03D37C}"/>
              </a:ext>
            </a:extLst>
          </p:cNvPr>
          <p:cNvCxnSpPr>
            <a:cxnSpLocks/>
          </p:cNvCxnSpPr>
          <p:nvPr/>
        </p:nvCxnSpPr>
        <p:spPr>
          <a:xfrm flipV="1">
            <a:off x="4800600" y="1878360"/>
            <a:ext cx="1600200" cy="775381"/>
          </a:xfrm>
          <a:prstGeom prst="curvedConnector3">
            <a:avLst>
              <a:gd name="adj1" fmla="val 53926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3ED99BA6-1E1E-F2D1-FD1B-ED3D19D121DA}"/>
              </a:ext>
            </a:extLst>
          </p:cNvPr>
          <p:cNvCxnSpPr>
            <a:cxnSpLocks/>
          </p:cNvCxnSpPr>
          <p:nvPr/>
        </p:nvCxnSpPr>
        <p:spPr>
          <a:xfrm rot="5400000">
            <a:off x="8042035" y="4308235"/>
            <a:ext cx="1670532" cy="838198"/>
          </a:xfrm>
          <a:prstGeom prst="curvedConnector3">
            <a:avLst>
              <a:gd name="adj1" fmla="val 99305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760B06D-C3BD-8A8D-D893-8EF5BABDC560}"/>
              </a:ext>
            </a:extLst>
          </p:cNvPr>
          <p:cNvSpPr txBox="1"/>
          <p:nvPr/>
        </p:nvSpPr>
        <p:spPr>
          <a:xfrm>
            <a:off x="757663" y="3330433"/>
            <a:ext cx="3818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Снимок участка дороги со спутника </a:t>
            </a:r>
            <a:r>
              <a:rPr lang="en-GB" sz="1400" dirty="0"/>
              <a:t>Google</a:t>
            </a:r>
            <a:endParaRPr lang="ru-RU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38CD51-2308-5A92-653A-99AC3C877B96}"/>
              </a:ext>
            </a:extLst>
          </p:cNvPr>
          <p:cNvSpPr txBox="1"/>
          <p:nvPr/>
        </p:nvSpPr>
        <p:spPr>
          <a:xfrm>
            <a:off x="3414816" y="6311182"/>
            <a:ext cx="53623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Сегментация снимка на различные типы дорожного покрытия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D297F4-1912-1511-74D8-99FCD704027F}"/>
              </a:ext>
            </a:extLst>
          </p:cNvPr>
          <p:cNvSpPr txBox="1"/>
          <p:nvPr/>
        </p:nvSpPr>
        <p:spPr>
          <a:xfrm>
            <a:off x="2382481" y="215950"/>
            <a:ext cx="74270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latin typeface="Times New Roman"/>
                <a:cs typeface="Times New Roman"/>
              </a:rPr>
              <a:t>Промежуточные результаты работы </a:t>
            </a:r>
          </a:p>
          <a:p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1737151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C3253D8-E36A-A5D5-696C-A209100B0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640" y="1066800"/>
            <a:ext cx="8696717" cy="5257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BCA1B21-77EC-AA59-A816-FA37879E5195}"/>
              </a:ext>
            </a:extLst>
          </p:cNvPr>
          <p:cNvSpPr txBox="1"/>
          <p:nvPr/>
        </p:nvSpPr>
        <p:spPr>
          <a:xfrm>
            <a:off x="160721" y="152400"/>
            <a:ext cx="118705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Оценка эффективности разработанной модели и алгоритма</a:t>
            </a:r>
            <a:endParaRPr lang="ru-RU" sz="3600" b="0" dirty="0"/>
          </a:p>
          <a:p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325279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BBFD27-7FB4-102D-F2F3-955990B86EAB}"/>
              </a:ext>
            </a:extLst>
          </p:cNvPr>
          <p:cNvSpPr txBox="1"/>
          <p:nvPr/>
        </p:nvSpPr>
        <p:spPr>
          <a:xfrm>
            <a:off x="160721" y="152400"/>
            <a:ext cx="118705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Оценка эффективности разработанной модели и алгоритма</a:t>
            </a:r>
            <a:endParaRPr lang="ru-RU" sz="3600" b="0" dirty="0"/>
          </a:p>
          <a:p>
            <a:endParaRPr lang="ru-RU" sz="3600" dirty="0"/>
          </a:p>
        </p:txBody>
      </p:sp>
      <p:pic>
        <p:nvPicPr>
          <p:cNvPr id="5" name="Picture 4" descr="A graph with numbers and a line&#10;&#10;AI-generated content may be incorrect.">
            <a:extLst>
              <a:ext uri="{FF2B5EF4-FFF2-40B4-BE49-F238E27FC236}">
                <a16:creationId xmlns:a16="http://schemas.microsoft.com/office/drawing/2014/main" id="{C5D789C1-E6C7-19CA-CC15-89026032C6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914400"/>
            <a:ext cx="6096000" cy="4572000"/>
          </a:xfrm>
          <a:prstGeom prst="rect">
            <a:avLst/>
          </a:prstGeom>
        </p:spPr>
      </p:pic>
      <p:pic>
        <p:nvPicPr>
          <p:cNvPr id="8" name="Picture 7" descr="A graph with blue and orange dots&#10;&#10;AI-generated content may be incorrect.">
            <a:extLst>
              <a:ext uri="{FF2B5EF4-FFF2-40B4-BE49-F238E27FC236}">
                <a16:creationId xmlns:a16="http://schemas.microsoft.com/office/drawing/2014/main" id="{2B7ACC1E-9611-45B4-1F74-F8E1A5AFCA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533" y="2316471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728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9F77A3-859E-FDF4-9117-AFB75792C3CF}"/>
              </a:ext>
            </a:extLst>
          </p:cNvPr>
          <p:cNvSpPr txBox="1"/>
          <p:nvPr/>
        </p:nvSpPr>
        <p:spPr>
          <a:xfrm>
            <a:off x="1302860" y="304800"/>
            <a:ext cx="95862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Основные результаты диссертационной работы</a:t>
            </a:r>
            <a:endParaRPr lang="ru-RU" sz="3600" b="0" dirty="0"/>
          </a:p>
          <a:p>
            <a:endParaRPr lang="ru-RU" sz="3600" u="sng" dirty="0"/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64F50A44-E53D-D44A-A47A-20E8355864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805193"/>
            <a:ext cx="11125200" cy="5601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Разработана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математическая модель логистической системы маршрутизации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учитывающая динамические и стохастические факторы (трафик, погода, покрытие, ДТП).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Предложена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предиктивно-оптимизационная модель OPT-2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интегрирующая ML-предсказание времени движения с задачей маршрутизации на графе.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Разработана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предиктивная модель оценки времени на ребре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основанная на наборе пространственно-временных признаков.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Формализована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вероятностная модель возникновения ДТП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с учётом дорожных и внешних факторов.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Разработан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гибридный алгоритм оптимизации маршрутов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сочетающий предиктивное моделирование и стохастическую оптимизацию.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Реализована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программная система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подтверждающая применимость предложенного подхода в задачах городской доставки.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Проведены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экспериментальные исследования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показавшие: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снижение ошибки прогнозирования времени в пути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повышение эффективности маршрутизации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устойчивость модели к изменению внешних условий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2538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F1A475E-2AAB-DE9A-B797-3D04EFDB7D9B}"/>
              </a:ext>
            </a:extLst>
          </p:cNvPr>
          <p:cNvSpPr txBox="1"/>
          <p:nvPr/>
        </p:nvSpPr>
        <p:spPr>
          <a:xfrm>
            <a:off x="2819400" y="3075057"/>
            <a:ext cx="6553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544170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493</TotalTime>
  <Words>574</Words>
  <Application>Microsoft Office PowerPoint</Application>
  <PresentationFormat>Widescreen</PresentationFormat>
  <Paragraphs>102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Аналитический обзор существующих методов и средств построения путей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Arthur</dc:creator>
  <cp:lastModifiedBy>Артур Артюшенков</cp:lastModifiedBy>
  <cp:revision>46</cp:revision>
  <dcterms:created xsi:type="dcterms:W3CDTF">2026-04-21T21:45:20Z</dcterms:created>
  <dcterms:modified xsi:type="dcterms:W3CDTF">2026-04-22T05:59:11Z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2025-06-11T00:00:00Z</vt:filetime>
  </property>
  <property fmtid="{D5CDD505-2E9C-101B-9397-08002B2CF9AE}" pid="3" name="LastSaved">
    <vt:filetime>2026-04-21T00:00:00Z</vt:filetime>
  </property>
</Properties>
</file>