
<file path=[Content_Types].xml><?xml version="1.0" encoding="utf-8"?>
<Types xmlns="http://schemas.openxmlformats.org/package/2006/content-types">
  <Default Extension="jpeg" ContentType="image/jpeg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3" r:id="rId8"/>
    <p:sldId id="264" r:id="rId9"/>
    <p:sldId id="265" r:id="rId10"/>
    <p:sldId id="268" r:id="rId11"/>
    <p:sldId id="266" r:id="rId12"/>
    <p:sldId id="267" r:id="rId13"/>
  </p:sldIdLst>
  <p:sldSz cx="12192000" cy="6858000"/>
  <p:notesSz cx="12192000" cy="68580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>
        <p:scale>
          <a:sx n="50" d="100"/>
          <a:sy n="50" d="100"/>
        </p:scale>
        <p:origin x="2380" y="93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75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and 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9538969" y="6131890"/>
            <a:ext cx="0" cy="586740"/>
          </a:xfrm>
          <a:custGeom>
            <a:avLst/>
            <a:gdLst/>
            <a:ahLst/>
            <a:cxnLst/>
            <a:rect l="l" t="t" r="r" b="b"/>
            <a:pathLst>
              <a:path h="586740">
                <a:moveTo>
                  <a:pt x="0" y="0"/>
                </a:moveTo>
                <a:lnTo>
                  <a:pt x="0" y="586409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g object 17"/>
          <p:cNvSpPr/>
          <p:nvPr/>
        </p:nvSpPr>
        <p:spPr>
          <a:xfrm>
            <a:off x="10318115" y="6131890"/>
            <a:ext cx="0" cy="586740"/>
          </a:xfrm>
          <a:custGeom>
            <a:avLst/>
            <a:gdLst/>
            <a:ahLst/>
            <a:cxnLst/>
            <a:rect l="l" t="t" r="r" b="b"/>
            <a:pathLst>
              <a:path h="586740">
                <a:moveTo>
                  <a:pt x="0" y="0"/>
                </a:moveTo>
                <a:lnTo>
                  <a:pt x="0" y="586409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bg object 18"/>
          <p:cNvSpPr/>
          <p:nvPr/>
        </p:nvSpPr>
        <p:spPr>
          <a:xfrm>
            <a:off x="11158855" y="6131890"/>
            <a:ext cx="0" cy="586740"/>
          </a:xfrm>
          <a:custGeom>
            <a:avLst/>
            <a:gdLst/>
            <a:ahLst/>
            <a:cxnLst/>
            <a:rect l="l" t="t" r="r" b="b"/>
            <a:pathLst>
              <a:path h="586740">
                <a:moveTo>
                  <a:pt x="0" y="0"/>
                </a:moveTo>
                <a:lnTo>
                  <a:pt x="0" y="586409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9" name="bg object 19"/>
          <p:cNvSpPr/>
          <p:nvPr/>
        </p:nvSpPr>
        <p:spPr>
          <a:xfrm>
            <a:off x="9532619" y="6131890"/>
            <a:ext cx="2466975" cy="586740"/>
          </a:xfrm>
          <a:custGeom>
            <a:avLst/>
            <a:gdLst/>
            <a:ahLst/>
            <a:cxnLst/>
            <a:rect l="l" t="t" r="r" b="b"/>
            <a:pathLst>
              <a:path w="2466975" h="586740">
                <a:moveTo>
                  <a:pt x="2212339" y="0"/>
                </a:moveTo>
                <a:lnTo>
                  <a:pt x="2212339" y="586409"/>
                </a:lnTo>
              </a:path>
              <a:path w="2466975" h="586740">
                <a:moveTo>
                  <a:pt x="0" y="6349"/>
                </a:moveTo>
                <a:lnTo>
                  <a:pt x="2466975" y="6349"/>
                </a:lnTo>
              </a:path>
              <a:path w="2466975" h="586740">
                <a:moveTo>
                  <a:pt x="0" y="303517"/>
                </a:moveTo>
                <a:lnTo>
                  <a:pt x="2466975" y="303517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0" name="bg object 20"/>
          <p:cNvSpPr/>
          <p:nvPr/>
        </p:nvSpPr>
        <p:spPr>
          <a:xfrm>
            <a:off x="198754" y="147701"/>
            <a:ext cx="0" cy="6562725"/>
          </a:xfrm>
          <a:custGeom>
            <a:avLst/>
            <a:gdLst/>
            <a:ahLst/>
            <a:cxnLst/>
            <a:rect l="l" t="t" r="r" b="b"/>
            <a:pathLst>
              <a:path h="6562725">
                <a:moveTo>
                  <a:pt x="0" y="0"/>
                </a:moveTo>
                <a:lnTo>
                  <a:pt x="0" y="6562661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1" name="bg object 21"/>
          <p:cNvSpPr/>
          <p:nvPr/>
        </p:nvSpPr>
        <p:spPr>
          <a:xfrm>
            <a:off x="192404" y="147701"/>
            <a:ext cx="11807190" cy="6570980"/>
          </a:xfrm>
          <a:custGeom>
            <a:avLst/>
            <a:gdLst/>
            <a:ahLst/>
            <a:cxnLst/>
            <a:rect l="l" t="t" r="r" b="b"/>
            <a:pathLst>
              <a:path w="11807190" h="6570980">
                <a:moveTo>
                  <a:pt x="11800840" y="0"/>
                </a:moveTo>
                <a:lnTo>
                  <a:pt x="11800840" y="6570599"/>
                </a:lnTo>
              </a:path>
              <a:path w="11807190" h="6570980">
                <a:moveTo>
                  <a:pt x="0" y="6350"/>
                </a:moveTo>
                <a:lnTo>
                  <a:pt x="11807190" y="6350"/>
                </a:lnTo>
              </a:path>
              <a:path w="11807190" h="6570980">
                <a:moveTo>
                  <a:pt x="0" y="6556311"/>
                </a:moveTo>
                <a:lnTo>
                  <a:pt x="9340215" y="6556311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bg object 22"/>
          <p:cNvSpPr/>
          <p:nvPr/>
        </p:nvSpPr>
        <p:spPr>
          <a:xfrm>
            <a:off x="9532620" y="6704012"/>
            <a:ext cx="2466975" cy="0"/>
          </a:xfrm>
          <a:custGeom>
            <a:avLst/>
            <a:gdLst/>
            <a:ahLst/>
            <a:cxnLst/>
            <a:rect l="l" t="t" r="r" b="b"/>
            <a:pathLst>
              <a:path w="2466975">
                <a:moveTo>
                  <a:pt x="0" y="0"/>
                </a:moveTo>
                <a:lnTo>
                  <a:pt x="2466975" y="0"/>
                </a:lnTo>
              </a:path>
            </a:pathLst>
          </a:custGeom>
          <a:ln w="28575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pic>
        <p:nvPicPr>
          <p:cNvPr id="23" name="bg object 2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495300" y="1181100"/>
            <a:ext cx="4581525" cy="4705350"/>
          </a:xfrm>
          <a:prstGeom prst="rect">
            <a:avLst/>
          </a:prstGeom>
        </p:spPr>
      </p:pic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75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75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4/22/2026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275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4/22/2026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4/22/2026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485140" y="353060"/>
            <a:ext cx="11397615" cy="4495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2750" b="0" i="0">
                <a:solidFill>
                  <a:schemeClr val="tx1"/>
                </a:solidFill>
                <a:latin typeface="Times New Roman"/>
                <a:cs typeface="Times New Roman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5810377" y="1209547"/>
            <a:ext cx="5495290" cy="465518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b="0" i="0">
                <a:solidFill>
                  <a:schemeClr val="tx1"/>
                </a:solidFill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ct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4/22/2026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72820061"/>
              </p:ext>
            </p:extLst>
          </p:nvPr>
        </p:nvGraphicFramePr>
        <p:xfrm>
          <a:off x="12420600" y="154305"/>
          <a:ext cx="11794488" cy="654939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3370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8232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07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61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82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984240">
                <a:tc gridSpan="5">
                  <a:txBody>
                    <a:bodyPr/>
                    <a:lstStyle/>
                    <a:p>
                      <a:pPr marL="2072639" marR="2058035" algn="ctr">
                        <a:lnSpc>
                          <a:spcPct val="101400"/>
                        </a:lnSpc>
                        <a:spcBef>
                          <a:spcPts val="1705"/>
                        </a:spcBef>
                        <a:tabLst>
                          <a:tab pos="5383530" algn="l"/>
                        </a:tabLst>
                      </a:pPr>
                      <a:r>
                        <a:rPr lang="ru-RU" sz="3950" dirty="0">
                          <a:latin typeface="Times New Roman"/>
                          <a:cs typeface="Times New Roman"/>
                        </a:rPr>
                        <a:t>Исследование</a:t>
                      </a:r>
                      <a:r>
                        <a:rPr lang="ru-RU" sz="3950" spc="6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ru-RU" sz="3950" dirty="0">
                          <a:latin typeface="Times New Roman"/>
                          <a:cs typeface="Times New Roman"/>
                        </a:rPr>
                        <a:t>и</a:t>
                      </a:r>
                      <a:r>
                        <a:rPr lang="ru-RU" sz="3950" spc="8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ru-RU" sz="3950" spc="-10" dirty="0">
                          <a:latin typeface="Times New Roman"/>
                          <a:cs typeface="Times New Roman"/>
                        </a:rPr>
                        <a:t>разработка предиктивной </a:t>
                      </a:r>
                      <a:r>
                        <a:rPr lang="ru-RU" sz="3950" dirty="0">
                          <a:latin typeface="Times New Roman"/>
                          <a:cs typeface="Times New Roman"/>
                        </a:rPr>
                        <a:t>модели</a:t>
                      </a:r>
                      <a:r>
                        <a:rPr lang="ru-RU" sz="3950" spc="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ru-RU" sz="3950" dirty="0">
                          <a:latin typeface="Times New Roman"/>
                          <a:cs typeface="Times New Roman"/>
                        </a:rPr>
                        <a:t>и</a:t>
                      </a:r>
                      <a:r>
                        <a:rPr lang="ru-RU" sz="3950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ru-RU" sz="3950" spc="-10" dirty="0">
                          <a:latin typeface="Times New Roman"/>
                          <a:cs typeface="Times New Roman"/>
                        </a:rPr>
                        <a:t>алгоритма </a:t>
                      </a:r>
                      <a:r>
                        <a:rPr lang="ru-RU" sz="3950" dirty="0">
                          <a:latin typeface="Times New Roman"/>
                          <a:cs typeface="Times New Roman"/>
                        </a:rPr>
                        <a:t>логистической</a:t>
                      </a:r>
                      <a:r>
                        <a:rPr lang="ru-RU" sz="3950" spc="4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ru-RU" sz="3950" dirty="0">
                          <a:latin typeface="Times New Roman"/>
                          <a:cs typeface="Times New Roman"/>
                        </a:rPr>
                        <a:t>системы</a:t>
                      </a:r>
                      <a:r>
                        <a:rPr lang="ru-RU" sz="3950" spc="10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ru-RU" sz="3950" spc="-10" dirty="0">
                          <a:latin typeface="Times New Roman"/>
                          <a:cs typeface="Times New Roman"/>
                        </a:rPr>
                        <a:t>перевозки</a:t>
                      </a:r>
                      <a:endParaRPr lang="ru-RU" sz="3950" dirty="0">
                        <a:latin typeface="Times New Roman"/>
                        <a:cs typeface="Times New Roman"/>
                      </a:endParaRPr>
                    </a:p>
                    <a:p>
                      <a:pPr marL="8255" algn="ctr">
                        <a:lnSpc>
                          <a:spcPts val="2865"/>
                        </a:lnSpc>
                        <a:spcBef>
                          <a:spcPts val="2445"/>
                        </a:spcBef>
                      </a:pPr>
                      <a:r>
                        <a:rPr lang="ru-RU" sz="2400" dirty="0">
                          <a:latin typeface="Times New Roman"/>
                          <a:cs typeface="Times New Roman"/>
                        </a:rPr>
                        <a:t>Диссертация</a:t>
                      </a:r>
                      <a:r>
                        <a:rPr lang="ru-RU" sz="2400" spc="-5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ru-RU" sz="2400" dirty="0">
                          <a:latin typeface="Times New Roman"/>
                          <a:cs typeface="Times New Roman"/>
                        </a:rPr>
                        <a:t>на</a:t>
                      </a:r>
                      <a:r>
                        <a:rPr lang="ru-RU" sz="2400" spc="-8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ru-RU" sz="2400" dirty="0">
                          <a:latin typeface="Times New Roman"/>
                          <a:cs typeface="Times New Roman"/>
                        </a:rPr>
                        <a:t>соискание</a:t>
                      </a:r>
                      <a:r>
                        <a:rPr lang="ru-RU" sz="2400" spc="-8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ru-RU" sz="2400" dirty="0">
                          <a:latin typeface="Times New Roman"/>
                          <a:cs typeface="Times New Roman"/>
                        </a:rPr>
                        <a:t>квалификации</a:t>
                      </a:r>
                      <a:r>
                        <a:rPr lang="ru-RU" sz="2400" spc="-7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ru-RU" sz="2400" dirty="0">
                          <a:latin typeface="Times New Roman"/>
                          <a:cs typeface="Times New Roman"/>
                        </a:rPr>
                        <a:t>магистра</a:t>
                      </a:r>
                      <a:r>
                        <a:rPr lang="ru-RU" sz="2400" spc="-8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ru-RU" sz="2400" spc="-10" dirty="0">
                          <a:latin typeface="Times New Roman"/>
                          <a:cs typeface="Times New Roman"/>
                        </a:rPr>
                        <a:t>техники</a:t>
                      </a:r>
                      <a:endParaRPr lang="ru-RU" sz="2400" dirty="0">
                        <a:latin typeface="Times New Roman"/>
                        <a:cs typeface="Times New Roman"/>
                      </a:endParaRPr>
                    </a:p>
                    <a:p>
                      <a:pPr marL="15240" algn="ctr">
                        <a:lnSpc>
                          <a:spcPts val="2865"/>
                        </a:lnSpc>
                      </a:pPr>
                      <a:r>
                        <a:rPr lang="ru-RU" sz="2400" dirty="0">
                          <a:latin typeface="Times New Roman"/>
                          <a:cs typeface="Times New Roman"/>
                        </a:rPr>
                        <a:t>и</a:t>
                      </a:r>
                      <a:r>
                        <a:rPr lang="ru-RU" sz="2400" spc="-3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ru-RU" sz="2400" spc="-10" dirty="0">
                          <a:latin typeface="Times New Roman"/>
                          <a:cs typeface="Times New Roman"/>
                        </a:rPr>
                        <a:t>технологий</a:t>
                      </a:r>
                      <a:endParaRPr lang="ru-RU" sz="2400" dirty="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  <a:spcBef>
                          <a:spcPts val="20"/>
                        </a:spcBef>
                      </a:pPr>
                      <a:endParaRPr lang="ru-RU" sz="2400" dirty="0">
                        <a:latin typeface="Times New Roman"/>
                        <a:cs typeface="Times New Roman"/>
                      </a:endParaRPr>
                    </a:p>
                    <a:p>
                      <a:pPr marL="5191125" marR="2594610" indent="-2566035">
                        <a:lnSpc>
                          <a:spcPct val="133000"/>
                        </a:lnSpc>
                      </a:pPr>
                      <a:r>
                        <a:rPr lang="ru-RU" sz="2400" dirty="0">
                          <a:latin typeface="Times New Roman"/>
                          <a:cs typeface="Times New Roman"/>
                        </a:rPr>
                        <a:t>Направление</a:t>
                      </a:r>
                      <a:r>
                        <a:rPr lang="ru-RU" sz="2400" spc="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ru-RU" sz="2400" spc="-10" dirty="0">
                          <a:latin typeface="Times New Roman"/>
                          <a:cs typeface="Times New Roman"/>
                        </a:rPr>
                        <a:t>подготовки</a:t>
                      </a:r>
                      <a:r>
                        <a:rPr lang="ru-RU" sz="2400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ru-RU" sz="2400" dirty="0">
                          <a:latin typeface="Times New Roman"/>
                          <a:cs typeface="Times New Roman"/>
                        </a:rPr>
                        <a:t>09.04.04.</a:t>
                      </a:r>
                      <a:r>
                        <a:rPr lang="ru-RU" sz="2400" spc="-1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ru-RU" sz="2400" dirty="0">
                          <a:latin typeface="Times New Roman"/>
                          <a:cs typeface="Times New Roman"/>
                        </a:rPr>
                        <a:t>–</a:t>
                      </a:r>
                      <a:r>
                        <a:rPr lang="ru-RU" sz="2400" spc="-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ru-RU" sz="2400" spc="-10" dirty="0">
                          <a:latin typeface="Times New Roman"/>
                          <a:cs typeface="Times New Roman"/>
                        </a:rPr>
                        <a:t>Программная инженерия</a:t>
                      </a:r>
                      <a:endParaRPr lang="ru-RU" sz="2400" dirty="0">
                        <a:latin typeface="Times New Roman"/>
                        <a:cs typeface="Times New Roman"/>
                      </a:endParaRPr>
                    </a:p>
                    <a:p>
                      <a:pPr marL="1609090" marR="1958339" indent="498475">
                        <a:lnSpc>
                          <a:spcPct val="130400"/>
                        </a:lnSpc>
                        <a:spcBef>
                          <a:spcPts val="75"/>
                        </a:spcBef>
                      </a:pPr>
                      <a:r>
                        <a:rPr lang="ru-RU" sz="2400" dirty="0">
                          <a:latin typeface="Times New Roman"/>
                          <a:cs typeface="Times New Roman"/>
                        </a:rPr>
                        <a:t>Соискатель:</a:t>
                      </a:r>
                      <a:r>
                        <a:rPr lang="ru-RU" sz="2400" spc="-7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ru-RU" sz="2400" dirty="0">
                          <a:latin typeface="Times New Roman"/>
                          <a:cs typeface="Times New Roman"/>
                        </a:rPr>
                        <a:t>магистрант</a:t>
                      </a:r>
                      <a:r>
                        <a:rPr lang="ru-RU" sz="2400" spc="-3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ru-RU" sz="2400" dirty="0">
                          <a:latin typeface="Times New Roman"/>
                          <a:cs typeface="Times New Roman"/>
                        </a:rPr>
                        <a:t>Артюшенков</a:t>
                      </a:r>
                      <a:r>
                        <a:rPr lang="ru-RU" sz="2400" spc="-7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ru-RU" sz="2400" dirty="0">
                          <a:latin typeface="Times New Roman"/>
                          <a:cs typeface="Times New Roman"/>
                        </a:rPr>
                        <a:t>Артур</a:t>
                      </a:r>
                      <a:r>
                        <a:rPr lang="ru-RU" sz="2400" spc="-7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ru-RU" sz="2400" spc="-10" dirty="0">
                          <a:latin typeface="Times New Roman"/>
                          <a:cs typeface="Times New Roman"/>
                        </a:rPr>
                        <a:t>Сергеевич </a:t>
                      </a:r>
                      <a:r>
                        <a:rPr lang="ru-RU" sz="2400" dirty="0">
                          <a:latin typeface="Times New Roman"/>
                          <a:cs typeface="Times New Roman"/>
                        </a:rPr>
                        <a:t>Научный</a:t>
                      </a:r>
                      <a:r>
                        <a:rPr lang="ru-RU" sz="2400" spc="-8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ru-RU" sz="2400" dirty="0">
                          <a:latin typeface="Times New Roman"/>
                          <a:cs typeface="Times New Roman"/>
                        </a:rPr>
                        <a:t>руководитель:</a:t>
                      </a:r>
                      <a:r>
                        <a:rPr lang="ru-RU" sz="24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ru-RU" sz="2400" dirty="0">
                          <a:latin typeface="Times New Roman"/>
                          <a:cs typeface="Times New Roman"/>
                        </a:rPr>
                        <a:t>д.т.н.,</a:t>
                      </a:r>
                      <a:r>
                        <a:rPr lang="ru-RU" sz="24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ru-RU" sz="2400" dirty="0">
                          <a:latin typeface="Times New Roman"/>
                          <a:cs typeface="Times New Roman"/>
                        </a:rPr>
                        <a:t>профессор</a:t>
                      </a:r>
                      <a:r>
                        <a:rPr lang="ru-RU" sz="2400" spc="-7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ru-RU" sz="2400" dirty="0">
                          <a:latin typeface="Times New Roman"/>
                          <a:cs typeface="Times New Roman"/>
                        </a:rPr>
                        <a:t>института</a:t>
                      </a:r>
                      <a:r>
                        <a:rPr lang="ru-RU" sz="2400" spc="-8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ru-RU" sz="2400" spc="-10" dirty="0">
                          <a:latin typeface="Times New Roman"/>
                          <a:cs typeface="Times New Roman"/>
                        </a:rPr>
                        <a:t>СПИНТех</a:t>
                      </a:r>
                      <a:endParaRPr lang="ru-RU" sz="2400" dirty="0">
                        <a:latin typeface="Times New Roman"/>
                        <a:cs typeface="Times New Roman"/>
                      </a:endParaRPr>
                    </a:p>
                    <a:p>
                      <a:pPr marL="3766185">
                        <a:lnSpc>
                          <a:spcPct val="100000"/>
                        </a:lnSpc>
                        <a:spcBef>
                          <a:spcPts val="950"/>
                        </a:spcBef>
                      </a:pPr>
                      <a:r>
                        <a:rPr lang="ru-RU" sz="2400" dirty="0">
                          <a:latin typeface="Times New Roman"/>
                          <a:cs typeface="Times New Roman"/>
                        </a:rPr>
                        <a:t>Гагарина</a:t>
                      </a:r>
                      <a:r>
                        <a:rPr lang="ru-RU" sz="2400" spc="-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ru-RU" sz="2400" dirty="0">
                          <a:latin typeface="Times New Roman"/>
                          <a:cs typeface="Times New Roman"/>
                        </a:rPr>
                        <a:t>Лариса</a:t>
                      </a:r>
                      <a:r>
                        <a:rPr lang="ru-RU" sz="2400" spc="-8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ru-RU" sz="2400" spc="-10" dirty="0">
                          <a:latin typeface="Times New Roman"/>
                          <a:cs typeface="Times New Roman"/>
                        </a:rPr>
                        <a:t>Геннадьевна</a:t>
                      </a:r>
                      <a:endParaRPr lang="ru-RU" sz="24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21653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7180"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ru-RU" sz="25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lang="ru-RU" sz="900" spc="-10">
                          <a:latin typeface="Times New Roman"/>
                          <a:cs typeface="Times New Roman"/>
                        </a:rPr>
                        <a:t>Разработал</a:t>
                      </a:r>
                      <a:endParaRPr lang="ru-RU" sz="900">
                        <a:latin typeface="Times New Roman"/>
                        <a:cs typeface="Times New Roman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8415" algn="ctr">
                        <a:lnSpc>
                          <a:spcPts val="1065"/>
                        </a:lnSpc>
                        <a:spcBef>
                          <a:spcPts val="245"/>
                        </a:spcBef>
                      </a:pPr>
                      <a:r>
                        <a:rPr lang="ru-RU" sz="900" spc="-10">
                          <a:latin typeface="Times New Roman"/>
                          <a:cs typeface="Times New Roman"/>
                        </a:rPr>
                        <a:t>Артюшенков</a:t>
                      </a:r>
                      <a:endParaRPr lang="ru-RU" sz="900">
                        <a:latin typeface="Times New Roman"/>
                        <a:cs typeface="Times New Roman"/>
                      </a:endParaRPr>
                    </a:p>
                    <a:p>
                      <a:pPr marL="19685" algn="ctr">
                        <a:lnSpc>
                          <a:spcPts val="925"/>
                        </a:lnSpc>
                      </a:pPr>
                      <a:r>
                        <a:rPr lang="ru-RU" sz="900" spc="-20">
                          <a:latin typeface="Times New Roman"/>
                          <a:cs typeface="Times New Roman"/>
                        </a:rPr>
                        <a:t>А.С.</a:t>
                      </a:r>
                      <a:endParaRPr lang="ru-RU" sz="900">
                        <a:latin typeface="Times New Roman"/>
                        <a:cs typeface="Times New Roman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ru-RU"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7470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lang="ru-RU" sz="1200" b="1" spc="-50">
                          <a:latin typeface="Times New Roman"/>
                          <a:cs typeface="Times New Roman"/>
                        </a:rPr>
                        <a:t>1</a:t>
                      </a:r>
                      <a:endParaRPr lang="ru-RU" sz="1200">
                        <a:latin typeface="Times New Roman"/>
                        <a:cs typeface="Times New Roman"/>
                      </a:endParaRPr>
                    </a:p>
                  </a:txBody>
                  <a:tcPr marL="0" marR="0" marT="2032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7970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lang="ru-RU" sz="900" spc="-10">
                          <a:latin typeface="Times New Roman"/>
                          <a:cs typeface="Times New Roman"/>
                        </a:rPr>
                        <a:t>Утвердил</a:t>
                      </a:r>
                      <a:endParaRPr lang="ru-RU" sz="900">
                        <a:latin typeface="Times New Roman"/>
                        <a:cs typeface="Times New Roman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0645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lang="ru-RU" sz="900">
                          <a:latin typeface="Times New Roman"/>
                          <a:cs typeface="Times New Roman"/>
                        </a:rPr>
                        <a:t>Гагарина</a:t>
                      </a:r>
                      <a:r>
                        <a:rPr lang="ru-RU" sz="900" spc="-4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lang="ru-RU" sz="900" spc="-20">
                          <a:latin typeface="Times New Roman"/>
                          <a:cs typeface="Times New Roman"/>
                        </a:rPr>
                        <a:t>Л.Г.</a:t>
                      </a:r>
                      <a:endParaRPr lang="ru-RU" sz="900">
                        <a:latin typeface="Times New Roman"/>
                        <a:cs typeface="Times New Roman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ru-RU"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lang="ru-RU" sz="1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6F6C2291-7009-CBF9-4361-FC080284AE5A}"/>
              </a:ext>
            </a:extLst>
          </p:cNvPr>
          <p:cNvSpPr txBox="1"/>
          <p:nvPr/>
        </p:nvSpPr>
        <p:spPr>
          <a:xfrm>
            <a:off x="34925" y="304800"/>
            <a:ext cx="12122150" cy="173919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072639" marR="2058035" algn="ctr">
              <a:lnSpc>
                <a:spcPct val="101400"/>
              </a:lnSpc>
              <a:spcBef>
                <a:spcPts val="1705"/>
              </a:spcBef>
              <a:tabLst>
                <a:tab pos="5383530" algn="l"/>
              </a:tabLst>
            </a:pPr>
            <a:r>
              <a:rPr lang="ru-RU" sz="3600" dirty="0">
                <a:latin typeface="Times New Roman"/>
                <a:cs typeface="Times New Roman"/>
              </a:rPr>
              <a:t>Исследование</a:t>
            </a:r>
            <a:r>
              <a:rPr lang="ru-RU" sz="3600" spc="60" dirty="0">
                <a:latin typeface="Times New Roman"/>
                <a:cs typeface="Times New Roman"/>
              </a:rPr>
              <a:t> </a:t>
            </a:r>
            <a:r>
              <a:rPr lang="ru-RU" sz="3600" dirty="0">
                <a:latin typeface="Times New Roman"/>
                <a:cs typeface="Times New Roman"/>
              </a:rPr>
              <a:t>и</a:t>
            </a:r>
            <a:r>
              <a:rPr lang="ru-RU" sz="3600" spc="80" dirty="0">
                <a:latin typeface="Times New Roman"/>
                <a:cs typeface="Times New Roman"/>
              </a:rPr>
              <a:t> </a:t>
            </a:r>
            <a:r>
              <a:rPr lang="ru-RU" sz="3600" spc="-10" dirty="0">
                <a:latin typeface="Times New Roman"/>
                <a:cs typeface="Times New Roman"/>
              </a:rPr>
              <a:t>разработка предиктивной </a:t>
            </a:r>
            <a:r>
              <a:rPr lang="ru-RU" sz="3600" dirty="0">
                <a:latin typeface="Times New Roman"/>
                <a:cs typeface="Times New Roman"/>
              </a:rPr>
              <a:t>модели</a:t>
            </a:r>
            <a:r>
              <a:rPr lang="ru-RU" sz="3600" spc="45" dirty="0">
                <a:latin typeface="Times New Roman"/>
                <a:cs typeface="Times New Roman"/>
              </a:rPr>
              <a:t> </a:t>
            </a:r>
            <a:r>
              <a:rPr lang="ru-RU" sz="3600" dirty="0">
                <a:latin typeface="Times New Roman"/>
                <a:cs typeface="Times New Roman"/>
              </a:rPr>
              <a:t>и</a:t>
            </a:r>
            <a:r>
              <a:rPr lang="ru-RU" sz="3600" spc="-25" dirty="0">
                <a:latin typeface="Times New Roman"/>
                <a:cs typeface="Times New Roman"/>
              </a:rPr>
              <a:t> </a:t>
            </a:r>
            <a:r>
              <a:rPr lang="ru-RU" sz="3600" spc="-10" dirty="0">
                <a:latin typeface="Times New Roman"/>
                <a:cs typeface="Times New Roman"/>
              </a:rPr>
              <a:t>алгоритма </a:t>
            </a:r>
            <a:r>
              <a:rPr lang="ru-RU" sz="3600" dirty="0">
                <a:latin typeface="Times New Roman"/>
                <a:cs typeface="Times New Roman"/>
              </a:rPr>
              <a:t>логистической</a:t>
            </a:r>
            <a:r>
              <a:rPr lang="ru-RU" sz="3600" spc="40" dirty="0">
                <a:latin typeface="Times New Roman"/>
                <a:cs typeface="Times New Roman"/>
              </a:rPr>
              <a:t> </a:t>
            </a:r>
            <a:r>
              <a:rPr lang="ru-RU" sz="3600" dirty="0">
                <a:latin typeface="Times New Roman"/>
                <a:cs typeface="Times New Roman"/>
              </a:rPr>
              <a:t>системы</a:t>
            </a:r>
            <a:r>
              <a:rPr lang="ru-RU" sz="3600" spc="100" dirty="0">
                <a:latin typeface="Times New Roman"/>
                <a:cs typeface="Times New Roman"/>
              </a:rPr>
              <a:t> </a:t>
            </a:r>
            <a:r>
              <a:rPr lang="ru-RU" sz="3600" spc="-10" dirty="0">
                <a:latin typeface="Times New Roman"/>
                <a:cs typeface="Times New Roman"/>
              </a:rPr>
              <a:t>перевозки</a:t>
            </a:r>
            <a:endParaRPr lang="ru-RU" sz="3600" dirty="0">
              <a:latin typeface="Times New Roman"/>
              <a:cs typeface="Times New Roman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ABC32E67-A765-EF13-CFB4-EC98925BF854}"/>
              </a:ext>
            </a:extLst>
          </p:cNvPr>
          <p:cNvSpPr txBox="1"/>
          <p:nvPr/>
        </p:nvSpPr>
        <p:spPr>
          <a:xfrm>
            <a:off x="682625" y="2209800"/>
            <a:ext cx="10826750" cy="40724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8255" algn="ctr">
              <a:lnSpc>
                <a:spcPts val="2865"/>
              </a:lnSpc>
              <a:spcBef>
                <a:spcPts val="2445"/>
              </a:spcBef>
            </a:pPr>
            <a:r>
              <a:rPr lang="ru-RU" sz="2000" dirty="0">
                <a:latin typeface="Times New Roman"/>
                <a:cs typeface="Times New Roman"/>
              </a:rPr>
              <a:t>Диссертация</a:t>
            </a:r>
            <a:r>
              <a:rPr lang="ru-RU" sz="2000" spc="-55" dirty="0">
                <a:latin typeface="Times New Roman"/>
                <a:cs typeface="Times New Roman"/>
              </a:rPr>
              <a:t> </a:t>
            </a:r>
            <a:r>
              <a:rPr lang="ru-RU" sz="2000" dirty="0">
                <a:latin typeface="Times New Roman"/>
                <a:cs typeface="Times New Roman"/>
              </a:rPr>
              <a:t>на</a:t>
            </a:r>
            <a:r>
              <a:rPr lang="ru-RU" sz="2000" spc="-80" dirty="0">
                <a:latin typeface="Times New Roman"/>
                <a:cs typeface="Times New Roman"/>
              </a:rPr>
              <a:t> </a:t>
            </a:r>
            <a:r>
              <a:rPr lang="ru-RU" sz="2000" dirty="0">
                <a:latin typeface="Times New Roman"/>
                <a:cs typeface="Times New Roman"/>
              </a:rPr>
              <a:t>соискание</a:t>
            </a:r>
            <a:r>
              <a:rPr lang="ru-RU" sz="2000" spc="-85" dirty="0">
                <a:latin typeface="Times New Roman"/>
                <a:cs typeface="Times New Roman"/>
              </a:rPr>
              <a:t> </a:t>
            </a:r>
            <a:r>
              <a:rPr lang="ru-RU" sz="2000" dirty="0">
                <a:latin typeface="Times New Roman"/>
                <a:cs typeface="Times New Roman"/>
              </a:rPr>
              <a:t>квалификации</a:t>
            </a:r>
            <a:r>
              <a:rPr lang="ru-RU" sz="2000" spc="-75" dirty="0">
                <a:latin typeface="Times New Roman"/>
                <a:cs typeface="Times New Roman"/>
              </a:rPr>
              <a:t> </a:t>
            </a:r>
            <a:r>
              <a:rPr lang="ru-RU" sz="2000" dirty="0">
                <a:latin typeface="Times New Roman"/>
                <a:cs typeface="Times New Roman"/>
              </a:rPr>
              <a:t>магистра</a:t>
            </a:r>
            <a:r>
              <a:rPr lang="ru-RU" sz="2000" spc="-80" dirty="0">
                <a:latin typeface="Times New Roman"/>
                <a:cs typeface="Times New Roman"/>
              </a:rPr>
              <a:t> </a:t>
            </a:r>
            <a:r>
              <a:rPr lang="ru-RU" sz="2000" spc="-10" dirty="0">
                <a:latin typeface="Times New Roman"/>
                <a:cs typeface="Times New Roman"/>
              </a:rPr>
              <a:t>техники</a:t>
            </a:r>
            <a:endParaRPr lang="ru-RU" sz="2000" dirty="0">
              <a:latin typeface="Times New Roman"/>
              <a:cs typeface="Times New Roman"/>
            </a:endParaRPr>
          </a:p>
          <a:p>
            <a:pPr marL="15240" algn="ctr">
              <a:lnSpc>
                <a:spcPts val="2865"/>
              </a:lnSpc>
            </a:pPr>
            <a:r>
              <a:rPr lang="ru-RU" sz="2000" dirty="0">
                <a:latin typeface="Times New Roman"/>
                <a:cs typeface="Times New Roman"/>
              </a:rPr>
              <a:t>и</a:t>
            </a:r>
            <a:r>
              <a:rPr lang="ru-RU" sz="2000" spc="-30" dirty="0">
                <a:latin typeface="Times New Roman"/>
                <a:cs typeface="Times New Roman"/>
              </a:rPr>
              <a:t> </a:t>
            </a:r>
            <a:r>
              <a:rPr lang="ru-RU" sz="2000" spc="-10" dirty="0">
                <a:latin typeface="Times New Roman"/>
                <a:cs typeface="Times New Roman"/>
              </a:rPr>
              <a:t>технологий</a:t>
            </a:r>
            <a:endParaRPr lang="ru-RU" sz="2000" dirty="0">
              <a:latin typeface="Times New Roman"/>
              <a:cs typeface="Times New Roman"/>
            </a:endParaRPr>
          </a:p>
          <a:p>
            <a:pPr marL="5191125" marR="2594610" indent="-2566035" algn="ctr">
              <a:lnSpc>
                <a:spcPct val="133000"/>
              </a:lnSpc>
            </a:pPr>
            <a:endParaRPr lang="en-GB" sz="2000" dirty="0">
              <a:latin typeface="Times New Roman"/>
              <a:cs typeface="Times New Roman"/>
            </a:endParaRPr>
          </a:p>
          <a:p>
            <a:pPr marL="5191125" marR="2594610" indent="-2566035" algn="ctr">
              <a:lnSpc>
                <a:spcPct val="133000"/>
              </a:lnSpc>
            </a:pPr>
            <a:r>
              <a:rPr lang="ru-RU" sz="2000" dirty="0">
                <a:latin typeface="Times New Roman"/>
                <a:cs typeface="Times New Roman"/>
              </a:rPr>
              <a:t>Направление</a:t>
            </a:r>
            <a:r>
              <a:rPr lang="ru-RU" sz="2000" spc="5" dirty="0">
                <a:latin typeface="Times New Roman"/>
                <a:cs typeface="Times New Roman"/>
              </a:rPr>
              <a:t> </a:t>
            </a:r>
            <a:r>
              <a:rPr lang="ru-RU" sz="2000" spc="-10" dirty="0">
                <a:latin typeface="Times New Roman"/>
                <a:cs typeface="Times New Roman"/>
              </a:rPr>
              <a:t>подготовки</a:t>
            </a:r>
            <a:r>
              <a:rPr lang="ru-RU" sz="2000" spc="-50" dirty="0">
                <a:latin typeface="Times New Roman"/>
                <a:cs typeface="Times New Roman"/>
              </a:rPr>
              <a:t> </a:t>
            </a:r>
            <a:r>
              <a:rPr lang="ru-RU" sz="2000" dirty="0">
                <a:latin typeface="Times New Roman"/>
                <a:cs typeface="Times New Roman"/>
              </a:rPr>
              <a:t>09.04.04.</a:t>
            </a:r>
            <a:r>
              <a:rPr lang="ru-RU" sz="2000" spc="-15" dirty="0">
                <a:latin typeface="Times New Roman"/>
                <a:cs typeface="Times New Roman"/>
              </a:rPr>
              <a:t> </a:t>
            </a:r>
            <a:r>
              <a:rPr lang="ru-RU" sz="2000" dirty="0">
                <a:latin typeface="Times New Roman"/>
                <a:cs typeface="Times New Roman"/>
              </a:rPr>
              <a:t>–</a:t>
            </a:r>
            <a:r>
              <a:rPr lang="ru-RU" sz="2000" spc="-45" dirty="0">
                <a:latin typeface="Times New Roman"/>
                <a:cs typeface="Times New Roman"/>
              </a:rPr>
              <a:t> </a:t>
            </a:r>
            <a:r>
              <a:rPr lang="ru-RU" sz="2000" spc="-10" dirty="0">
                <a:latin typeface="Times New Roman"/>
                <a:cs typeface="Times New Roman"/>
              </a:rPr>
              <a:t>Программная</a:t>
            </a:r>
            <a:r>
              <a:rPr lang="en-GB" sz="2000" spc="-10" dirty="0">
                <a:latin typeface="Times New Roman"/>
                <a:cs typeface="Times New Roman"/>
              </a:rPr>
              <a:t> </a:t>
            </a:r>
            <a:r>
              <a:rPr lang="ru-RU" sz="2000" spc="-10" dirty="0">
                <a:latin typeface="Times New Roman"/>
                <a:cs typeface="Times New Roman"/>
              </a:rPr>
              <a:t>инженерия</a:t>
            </a:r>
            <a:endParaRPr lang="en-GB" sz="2000" spc="-10" dirty="0">
              <a:latin typeface="Times New Roman"/>
              <a:cs typeface="Times New Roman"/>
            </a:endParaRPr>
          </a:p>
          <a:p>
            <a:pPr marL="5191125" marR="2594610" indent="-2566035" algn="ctr">
              <a:lnSpc>
                <a:spcPct val="133000"/>
              </a:lnSpc>
            </a:pPr>
            <a:endParaRPr lang="ru-RU" sz="2000" dirty="0">
              <a:latin typeface="Times New Roman"/>
              <a:cs typeface="Times New Roman"/>
            </a:endParaRPr>
          </a:p>
          <a:p>
            <a:pPr marL="1609090" marR="1958339" indent="498475" algn="ctr">
              <a:lnSpc>
                <a:spcPct val="130400"/>
              </a:lnSpc>
              <a:spcBef>
                <a:spcPts val="75"/>
              </a:spcBef>
            </a:pPr>
            <a:r>
              <a:rPr lang="ru-RU" sz="2000" dirty="0">
                <a:latin typeface="Times New Roman"/>
                <a:cs typeface="Times New Roman"/>
              </a:rPr>
              <a:t>Соискатель:</a:t>
            </a:r>
            <a:r>
              <a:rPr lang="ru-RU" sz="2000" spc="-70" dirty="0">
                <a:latin typeface="Times New Roman"/>
                <a:cs typeface="Times New Roman"/>
              </a:rPr>
              <a:t> </a:t>
            </a:r>
            <a:r>
              <a:rPr lang="ru-RU" sz="2000" dirty="0">
                <a:latin typeface="Times New Roman"/>
                <a:cs typeface="Times New Roman"/>
              </a:rPr>
              <a:t>магистрант</a:t>
            </a:r>
            <a:r>
              <a:rPr lang="ru-RU" sz="2000" spc="-35" dirty="0">
                <a:latin typeface="Times New Roman"/>
                <a:cs typeface="Times New Roman"/>
              </a:rPr>
              <a:t> </a:t>
            </a:r>
            <a:r>
              <a:rPr lang="ru-RU" sz="2000" dirty="0">
                <a:latin typeface="Times New Roman"/>
                <a:cs typeface="Times New Roman"/>
              </a:rPr>
              <a:t>Артюшенков</a:t>
            </a:r>
            <a:r>
              <a:rPr lang="ru-RU" sz="2000" spc="-75" dirty="0">
                <a:latin typeface="Times New Roman"/>
                <a:cs typeface="Times New Roman"/>
              </a:rPr>
              <a:t> </a:t>
            </a:r>
            <a:r>
              <a:rPr lang="ru-RU" sz="2000" dirty="0">
                <a:latin typeface="Times New Roman"/>
                <a:cs typeface="Times New Roman"/>
              </a:rPr>
              <a:t>Артур</a:t>
            </a:r>
            <a:r>
              <a:rPr lang="ru-RU" sz="2000" spc="-70" dirty="0">
                <a:latin typeface="Times New Roman"/>
                <a:cs typeface="Times New Roman"/>
              </a:rPr>
              <a:t> </a:t>
            </a:r>
            <a:r>
              <a:rPr lang="ru-RU" sz="2000" spc="-10" dirty="0">
                <a:latin typeface="Times New Roman"/>
                <a:cs typeface="Times New Roman"/>
              </a:rPr>
              <a:t>Сергеевич </a:t>
            </a:r>
            <a:endParaRPr lang="en-GB" sz="2000" spc="-10" dirty="0">
              <a:latin typeface="Times New Roman"/>
              <a:cs typeface="Times New Roman"/>
            </a:endParaRPr>
          </a:p>
          <a:p>
            <a:pPr marL="1609090" marR="1958339" indent="498475" algn="ctr">
              <a:lnSpc>
                <a:spcPct val="130400"/>
              </a:lnSpc>
              <a:spcBef>
                <a:spcPts val="75"/>
              </a:spcBef>
            </a:pPr>
            <a:r>
              <a:rPr lang="ru-RU" sz="2000" dirty="0">
                <a:latin typeface="Times New Roman"/>
                <a:cs typeface="Times New Roman"/>
              </a:rPr>
              <a:t>Научный</a:t>
            </a:r>
            <a:r>
              <a:rPr lang="ru-RU" sz="2000" spc="-80" dirty="0">
                <a:latin typeface="Times New Roman"/>
                <a:cs typeface="Times New Roman"/>
              </a:rPr>
              <a:t> </a:t>
            </a:r>
            <a:r>
              <a:rPr lang="ru-RU" sz="2000" dirty="0">
                <a:latin typeface="Times New Roman"/>
                <a:cs typeface="Times New Roman"/>
              </a:rPr>
              <a:t>руководитель:</a:t>
            </a:r>
            <a:r>
              <a:rPr lang="ru-RU" sz="2000" spc="-65" dirty="0">
                <a:latin typeface="Times New Roman"/>
                <a:cs typeface="Times New Roman"/>
              </a:rPr>
              <a:t> </a:t>
            </a:r>
            <a:r>
              <a:rPr lang="ru-RU" sz="2000" dirty="0">
                <a:latin typeface="Times New Roman"/>
                <a:cs typeface="Times New Roman"/>
              </a:rPr>
              <a:t>д.т.н.,</a:t>
            </a:r>
            <a:r>
              <a:rPr lang="ru-RU" sz="2000" spc="-65" dirty="0">
                <a:latin typeface="Times New Roman"/>
                <a:cs typeface="Times New Roman"/>
              </a:rPr>
              <a:t> </a:t>
            </a:r>
            <a:r>
              <a:rPr lang="ru-RU" sz="2000" dirty="0">
                <a:latin typeface="Times New Roman"/>
                <a:cs typeface="Times New Roman"/>
              </a:rPr>
              <a:t>профессор</a:t>
            </a:r>
            <a:r>
              <a:rPr lang="ru-RU" sz="2000" spc="-70" dirty="0">
                <a:latin typeface="Times New Roman"/>
                <a:cs typeface="Times New Roman"/>
              </a:rPr>
              <a:t> </a:t>
            </a:r>
            <a:r>
              <a:rPr lang="ru-RU" sz="2000" dirty="0">
                <a:latin typeface="Times New Roman"/>
                <a:cs typeface="Times New Roman"/>
              </a:rPr>
              <a:t>института</a:t>
            </a:r>
            <a:r>
              <a:rPr lang="ru-RU" sz="2000" spc="-85" dirty="0">
                <a:latin typeface="Times New Roman"/>
                <a:cs typeface="Times New Roman"/>
              </a:rPr>
              <a:t> </a:t>
            </a:r>
            <a:r>
              <a:rPr lang="ru-RU" sz="2000" spc="-10" dirty="0">
                <a:latin typeface="Times New Roman"/>
                <a:cs typeface="Times New Roman"/>
              </a:rPr>
              <a:t>СПИНТех</a:t>
            </a:r>
            <a:r>
              <a:rPr lang="en-GB" sz="2000" spc="-10" dirty="0">
                <a:latin typeface="Times New Roman"/>
                <a:cs typeface="Times New Roman"/>
              </a:rPr>
              <a:t> </a:t>
            </a:r>
          </a:p>
          <a:p>
            <a:pPr marL="1609090" marR="1958339" indent="498475" algn="ctr">
              <a:lnSpc>
                <a:spcPct val="130400"/>
              </a:lnSpc>
              <a:spcBef>
                <a:spcPts val="75"/>
              </a:spcBef>
            </a:pPr>
            <a:r>
              <a:rPr lang="ru-RU" sz="2000" dirty="0">
                <a:latin typeface="Times New Roman"/>
                <a:cs typeface="Times New Roman"/>
              </a:rPr>
              <a:t>Гагарина</a:t>
            </a:r>
            <a:r>
              <a:rPr lang="ru-RU" sz="2000" spc="-20" dirty="0">
                <a:latin typeface="Times New Roman"/>
                <a:cs typeface="Times New Roman"/>
              </a:rPr>
              <a:t> </a:t>
            </a:r>
            <a:r>
              <a:rPr lang="ru-RU" sz="2000" dirty="0">
                <a:latin typeface="Times New Roman"/>
                <a:cs typeface="Times New Roman"/>
              </a:rPr>
              <a:t>Лариса</a:t>
            </a:r>
            <a:r>
              <a:rPr lang="ru-RU" sz="2000" spc="-80" dirty="0">
                <a:latin typeface="Times New Roman"/>
                <a:cs typeface="Times New Roman"/>
              </a:rPr>
              <a:t> </a:t>
            </a:r>
            <a:r>
              <a:rPr lang="ru-RU" sz="2000" spc="-10" dirty="0">
                <a:latin typeface="Times New Roman"/>
                <a:cs typeface="Times New Roman"/>
              </a:rPr>
              <a:t>Геннадьевна</a:t>
            </a:r>
            <a:endParaRPr lang="ru-RU" sz="2000" dirty="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26BA3BD3-3401-5CE9-DA7F-C5355EED6487}"/>
              </a:ext>
            </a:extLst>
          </p:cNvPr>
          <p:cNvSpPr txBox="1"/>
          <p:nvPr/>
        </p:nvSpPr>
        <p:spPr>
          <a:xfrm>
            <a:off x="2713182" y="381000"/>
            <a:ext cx="6765635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600" dirty="0">
                <a:latin typeface="Times New Roman"/>
                <a:cs typeface="Times New Roman"/>
              </a:rPr>
              <a:t>Проблемная</a:t>
            </a:r>
            <a:r>
              <a:rPr lang="ru-RU" sz="3600" spc="95" dirty="0">
                <a:latin typeface="Times New Roman"/>
                <a:cs typeface="Times New Roman"/>
              </a:rPr>
              <a:t> </a:t>
            </a:r>
            <a:r>
              <a:rPr lang="ru-RU" sz="3600" dirty="0">
                <a:latin typeface="Times New Roman"/>
                <a:cs typeface="Times New Roman"/>
              </a:rPr>
              <a:t>ситуация</a:t>
            </a:r>
            <a:r>
              <a:rPr lang="ru-RU" sz="3600" spc="100" dirty="0">
                <a:latin typeface="Times New Roman"/>
                <a:cs typeface="Times New Roman"/>
              </a:rPr>
              <a:t> </a:t>
            </a:r>
            <a:r>
              <a:rPr lang="ru-RU" sz="3600" dirty="0">
                <a:latin typeface="Times New Roman"/>
                <a:cs typeface="Times New Roman"/>
              </a:rPr>
              <a:t>в</a:t>
            </a:r>
            <a:r>
              <a:rPr lang="ru-RU" sz="3600" spc="50" dirty="0">
                <a:latin typeface="Times New Roman"/>
                <a:cs typeface="Times New Roman"/>
              </a:rPr>
              <a:t> </a:t>
            </a:r>
            <a:r>
              <a:rPr lang="ru-RU" sz="3600" spc="-10" dirty="0">
                <a:latin typeface="Times New Roman"/>
                <a:cs typeface="Times New Roman"/>
              </a:rPr>
              <a:t>области </a:t>
            </a:r>
            <a:r>
              <a:rPr lang="ru-RU" sz="3600" dirty="0">
                <a:latin typeface="Times New Roman"/>
                <a:cs typeface="Times New Roman"/>
              </a:rPr>
              <a:t>объекта</a:t>
            </a:r>
            <a:r>
              <a:rPr lang="en-GB" sz="3600" spc="60" dirty="0">
                <a:latin typeface="Times New Roman"/>
                <a:cs typeface="Times New Roman"/>
              </a:rPr>
              <a:t> </a:t>
            </a:r>
            <a:r>
              <a:rPr lang="ru-RU" sz="3600" spc="-10" dirty="0">
                <a:latin typeface="Times New Roman"/>
                <a:cs typeface="Times New Roman"/>
              </a:rPr>
              <a:t>исследования</a:t>
            </a:r>
            <a:endParaRPr lang="ru-RU" sz="3600" dirty="0">
              <a:latin typeface="Times New Roman"/>
              <a:cs typeface="Times New Roman"/>
            </a:endParaRPr>
          </a:p>
          <a:p>
            <a:endParaRPr lang="ru-RU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553A7A-879F-7902-43D0-7B26B13EE976}"/>
              </a:ext>
            </a:extLst>
          </p:cNvPr>
          <p:cNvSpPr txBox="1"/>
          <p:nvPr/>
        </p:nvSpPr>
        <p:spPr>
          <a:xfrm>
            <a:off x="228600" y="1970226"/>
            <a:ext cx="14129132" cy="4297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64795" marR="1993264">
              <a:lnSpc>
                <a:spcPct val="101699"/>
              </a:lnSpc>
              <a:spcBef>
                <a:spcPts val="1645"/>
              </a:spcBef>
            </a:pPr>
            <a:r>
              <a:rPr lang="en-GB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Существующие модели маршрутизации не обеспечивают достаточную точность прогнозирования времени в пути в условиях стохастической и многопараметрической дорожной среды.</a:t>
            </a:r>
          </a:p>
          <a:p>
            <a:pPr marL="264795" marR="1993264">
              <a:lnSpc>
                <a:spcPct val="101699"/>
              </a:lnSpc>
              <a:spcBef>
                <a:spcPts val="1645"/>
              </a:spcBef>
            </a:pP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264795">
              <a:lnSpc>
                <a:spcPct val="100000"/>
              </a:lnSpc>
              <a:spcBef>
                <a:spcPts val="5"/>
              </a:spcBef>
            </a:pPr>
            <a:r>
              <a:rPr lang="ru-RU" sz="2400" b="1" dirty="0">
                <a:latin typeface="Times New Roman"/>
                <a:cs typeface="Times New Roman"/>
              </a:rPr>
              <a:t>Причины</a:t>
            </a:r>
            <a:r>
              <a:rPr lang="ru-RU" sz="2400" b="1" spc="-65" dirty="0">
                <a:latin typeface="Times New Roman"/>
                <a:cs typeface="Times New Roman"/>
              </a:rPr>
              <a:t> </a:t>
            </a:r>
            <a:r>
              <a:rPr lang="ru-RU" sz="2400" b="1" dirty="0">
                <a:latin typeface="Times New Roman"/>
                <a:cs typeface="Times New Roman"/>
              </a:rPr>
              <a:t>сложившейся</a:t>
            </a:r>
            <a:r>
              <a:rPr lang="ru-RU" sz="2400" b="1" spc="-25" dirty="0">
                <a:latin typeface="Times New Roman"/>
                <a:cs typeface="Times New Roman"/>
              </a:rPr>
              <a:t> </a:t>
            </a:r>
            <a:r>
              <a:rPr lang="ru-RU" sz="2400" b="1" spc="-10" dirty="0">
                <a:latin typeface="Times New Roman"/>
                <a:cs typeface="Times New Roman"/>
              </a:rPr>
              <a:t>ситуации:</a:t>
            </a:r>
            <a:endParaRPr lang="ru-RU" sz="2400" dirty="0">
              <a:latin typeface="Times New Roman"/>
              <a:cs typeface="Times New Roman"/>
            </a:endParaRPr>
          </a:p>
          <a:p>
            <a:pPr marL="914400" lvl="1" indent="-45720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Неучёт вероятности ДТП и времени их устранения </a:t>
            </a:r>
          </a:p>
          <a:p>
            <a:pPr marL="914400" lvl="1" indent="-45720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Ограниченное использование погодных факторов </a:t>
            </a:r>
          </a:p>
          <a:p>
            <a:pPr marL="914400" lvl="1" indent="-45720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Статичность моделей трафика (AADT) </a:t>
            </a:r>
          </a:p>
          <a:p>
            <a:pPr marL="914400" lvl="1" indent="-45720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Игнорирование типа дорожного покрытия </a:t>
            </a:r>
          </a:p>
          <a:p>
            <a:pPr marL="914400" lvl="1" indent="-457200">
              <a:buFont typeface="+mj-lt"/>
              <a:buAutoNum type="arabicPeriod"/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Отсутствие интеграции ML и оптимизационных моделей </a:t>
            </a:r>
          </a:p>
          <a:p>
            <a:endParaRPr lang="ru-RU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327EE3A-697F-C337-1E9C-6F8155D5B2C1}"/>
              </a:ext>
            </a:extLst>
          </p:cNvPr>
          <p:cNvSpPr txBox="1"/>
          <p:nvPr/>
        </p:nvSpPr>
        <p:spPr>
          <a:xfrm>
            <a:off x="3322484" y="304800"/>
            <a:ext cx="5547031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</a:t>
            </a:r>
            <a:r>
              <a:rPr lang="ru-RU" sz="3600" spc="8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</a:t>
            </a:r>
            <a:r>
              <a:rPr lang="ru-RU" sz="3600" spc="-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  <a:r>
              <a:rPr lang="ru-RU" sz="3600" spc="7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36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диссертации</a:t>
            </a:r>
            <a:endParaRPr lang="ru-RU" sz="3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36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B912282-D793-E71A-D9AC-35ACFE95336A}"/>
              </a:ext>
            </a:extLst>
          </p:cNvPr>
          <p:cNvSpPr txBox="1"/>
          <p:nvPr/>
        </p:nvSpPr>
        <p:spPr>
          <a:xfrm>
            <a:off x="311150" y="1143000"/>
            <a:ext cx="12160250" cy="51347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64795" marR="0" lvl="0" indent="0" defTabSz="914400" eaLnBrk="1" fontAlgn="auto" latinLnBrk="0" hangingPunct="1">
              <a:lnSpc>
                <a:spcPct val="100000"/>
              </a:lnSpc>
              <a:spcBef>
                <a:spcPts val="195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Цель</a:t>
            </a:r>
            <a:r>
              <a:rPr lang="ru-RU" sz="2400" b="1" spc="-4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работы:</a:t>
            </a:r>
            <a:r>
              <a:rPr lang="ru-RU" sz="2400" b="1" spc="-8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Разработка предиктивно-оптимизационной модели маршрутизации, обеспечивающей повышение точности прогнозирования времени в пути с учётом стохастических факторов дорожной среды.</a:t>
            </a:r>
          </a:p>
          <a:p>
            <a:pPr marL="264795">
              <a:lnSpc>
                <a:spcPct val="100000"/>
              </a:lnSpc>
              <a:spcBef>
                <a:spcPts val="2230"/>
              </a:spcBef>
            </a:pP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Задачи</a:t>
            </a:r>
            <a:r>
              <a:rPr lang="ru-RU" sz="2400" b="1" spc="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b="1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работы: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607060" marR="69215" lvl="7" indent="-342265">
              <a:lnSpc>
                <a:spcPts val="2850"/>
              </a:lnSpc>
              <a:spcBef>
                <a:spcPts val="170"/>
              </a:spcBef>
              <a:buAutoNum type="arabicPeriod"/>
              <a:tabLst>
                <a:tab pos="608330" algn="l"/>
              </a:tabLst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Аналитический</a:t>
            </a:r>
            <a:r>
              <a:rPr lang="ru-RU" sz="2400" spc="3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обзор</a:t>
            </a:r>
            <a:r>
              <a:rPr lang="ru-RU" sz="2400" spc="3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существующих</a:t>
            </a:r>
            <a:r>
              <a:rPr lang="ru-RU" sz="2400" spc="3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моделей,</a:t>
            </a:r>
            <a:r>
              <a:rPr lang="ru-RU" sz="2400" spc="33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</a:t>
            </a:r>
            <a:r>
              <a:rPr lang="ru-RU" sz="2400" spc="3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методов,</a:t>
            </a:r>
            <a:r>
              <a:rPr lang="ru-RU" sz="2400" spc="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</a:t>
            </a:r>
            <a:r>
              <a:rPr lang="ru-RU" sz="2400" spc="3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специализированного 	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</a:t>
            </a:r>
            <a:r>
              <a:rPr lang="ru-RU" sz="2400" spc="-2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</a:t>
            </a:r>
            <a:r>
              <a:rPr lang="ru-RU" sz="2400" spc="-15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построения</a:t>
            </a:r>
            <a:r>
              <a:rPr lang="ru-RU" sz="2400" spc="-7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ru-RU" sz="2400" spc="-1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маршрута.</a:t>
            </a:r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607060" lvl="7" indent="-342265">
              <a:lnSpc>
                <a:spcPts val="2770"/>
              </a:lnSpc>
              <a:buAutoNum type="arabicPeriod"/>
              <a:tabLst>
                <a:tab pos="607060" algn="l"/>
                <a:tab pos="2701290" algn="l"/>
                <a:tab pos="3744595" algn="l"/>
                <a:tab pos="5426075" algn="l"/>
                <a:tab pos="6777990" algn="l"/>
                <a:tab pos="8260715" algn="l"/>
                <a:tab pos="8603615" algn="l"/>
                <a:tab pos="9970770" algn="l"/>
              </a:tabLst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Формализовать транспортную сеть в виде графовой модели</a:t>
            </a:r>
          </a:p>
          <a:p>
            <a:pPr marL="607060" lvl="7" indent="-342265">
              <a:lnSpc>
                <a:spcPts val="2770"/>
              </a:lnSpc>
              <a:buAutoNum type="arabicPeriod"/>
              <a:tabLst>
                <a:tab pos="607060" algn="l"/>
                <a:tab pos="2701290" algn="l"/>
                <a:tab pos="3744595" algn="l"/>
                <a:tab pos="5426075" algn="l"/>
                <a:tab pos="6777990" algn="l"/>
                <a:tab pos="8260715" algn="l"/>
                <a:tab pos="8603615" algn="l"/>
                <a:tab pos="9970770" algn="l"/>
              </a:tabLst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Разработать предиктивную модель оценки времени на ребре </a:t>
            </a:r>
          </a:p>
          <a:p>
            <a:pPr marL="607060" lvl="7" indent="-342265">
              <a:lnSpc>
                <a:spcPts val="2770"/>
              </a:lnSpc>
              <a:buAutoNum type="arabicPeriod"/>
              <a:tabLst>
                <a:tab pos="607060" algn="l"/>
                <a:tab pos="2701290" algn="l"/>
                <a:tab pos="3744595" algn="l"/>
                <a:tab pos="5426075" algn="l"/>
                <a:tab pos="6777990" algn="l"/>
                <a:tab pos="8260715" algn="l"/>
                <a:tab pos="8603615" algn="l"/>
                <a:tab pos="9970770" algn="l"/>
              </a:tabLst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Учесть влияние погоды, трафика и типа покрытия </a:t>
            </a:r>
          </a:p>
          <a:p>
            <a:pPr marL="607060" lvl="7" indent="-342265">
              <a:lnSpc>
                <a:spcPts val="2770"/>
              </a:lnSpc>
              <a:buAutoNum type="arabicPeriod"/>
              <a:tabLst>
                <a:tab pos="607060" algn="l"/>
                <a:tab pos="2701290" algn="l"/>
                <a:tab pos="3744595" algn="l"/>
                <a:tab pos="5426075" algn="l"/>
                <a:tab pos="6777990" algn="l"/>
                <a:tab pos="8260715" algn="l"/>
                <a:tab pos="8603615" algn="l"/>
                <a:tab pos="9970770" algn="l"/>
              </a:tabLst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Смоделировать вероятность ДТП и время их устранения </a:t>
            </a:r>
          </a:p>
          <a:p>
            <a:pPr marL="607060" lvl="7" indent="-342265">
              <a:lnSpc>
                <a:spcPts val="2770"/>
              </a:lnSpc>
              <a:buAutoNum type="arabicPeriod"/>
              <a:tabLst>
                <a:tab pos="607060" algn="l"/>
                <a:tab pos="2701290" algn="l"/>
                <a:tab pos="3744595" algn="l"/>
                <a:tab pos="5426075" algn="l"/>
                <a:tab pos="6777990" algn="l"/>
                <a:tab pos="8260715" algn="l"/>
                <a:tab pos="8603615" algn="l"/>
                <a:tab pos="9970770" algn="l"/>
              </a:tabLst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Интегрировать ML-модель в задачу оптимизации маршрутов </a:t>
            </a:r>
          </a:p>
          <a:p>
            <a:pPr marL="607060" lvl="7" indent="-342265">
              <a:lnSpc>
                <a:spcPts val="2770"/>
              </a:lnSpc>
              <a:buAutoNum type="arabicPeriod"/>
              <a:tabLst>
                <a:tab pos="607060" algn="l"/>
                <a:tab pos="2701290" algn="l"/>
                <a:tab pos="3744595" algn="l"/>
                <a:tab pos="5426075" algn="l"/>
                <a:tab pos="6777990" algn="l"/>
                <a:tab pos="8260715" algn="l"/>
                <a:tab pos="8603615" algn="l"/>
                <a:tab pos="9970770" algn="l"/>
              </a:tabLst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Разработать и реализовать алгоритм OPT-2 </a:t>
            </a:r>
          </a:p>
          <a:p>
            <a:pPr marL="607060" lvl="7" indent="-342265">
              <a:lnSpc>
                <a:spcPts val="2770"/>
              </a:lnSpc>
              <a:buAutoNum type="arabicPeriod"/>
              <a:tabLst>
                <a:tab pos="607060" algn="l"/>
                <a:tab pos="2701290" algn="l"/>
                <a:tab pos="3744595" algn="l"/>
                <a:tab pos="5426075" algn="l"/>
                <a:tab pos="6777990" algn="l"/>
                <a:tab pos="8260715" algn="l"/>
                <a:tab pos="8603615" algn="l"/>
                <a:tab pos="9970770" algn="l"/>
              </a:tabLst>
            </a:pP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Провести оценку точности и эффективности модели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21380373"/>
              </p:ext>
            </p:extLst>
          </p:nvPr>
        </p:nvGraphicFramePr>
        <p:xfrm>
          <a:off x="185420" y="137858"/>
          <a:ext cx="11794488" cy="656774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3402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91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07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61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82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963995">
                <a:tc gridSpan="5">
                  <a:txBody>
                    <a:bodyPr/>
                    <a:lstStyle/>
                    <a:p>
                      <a:pPr marL="175895" algn="ctr">
                        <a:lnSpc>
                          <a:spcPct val="100000"/>
                        </a:lnSpc>
                        <a:spcBef>
                          <a:spcPts val="1775"/>
                        </a:spcBef>
                      </a:pPr>
                      <a:r>
                        <a:rPr sz="39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На</a:t>
                      </a:r>
                      <a:r>
                        <a:rPr sz="3950" spc="4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39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защиту</a:t>
                      </a:r>
                      <a:r>
                        <a:rPr sz="3950" spc="35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395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выносятся</a:t>
                      </a:r>
                      <a:endParaRPr sz="395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799465" lvl="1" indent="-342265">
                        <a:lnSpc>
                          <a:spcPts val="2865"/>
                        </a:lnSpc>
                        <a:spcBef>
                          <a:spcPts val="5"/>
                        </a:spcBef>
                        <a:buAutoNum type="arabicPeriod"/>
                        <a:tabLst>
                          <a:tab pos="342265" algn="l"/>
                        </a:tabLst>
                      </a:pPr>
                      <a:r>
                        <a:rPr lang="ru-RU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Математическая модель логистической системы перевозок</a:t>
                      </a:r>
                      <a:r>
                        <a:rPr lang="ru-RU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учитывающая динамические и стохастические факторы (трафик, погодные условия, вероятность ДТП), обеспечивающая повышение точности прогнозирования времени в пути и эффективности маршрутизации по сравнению со статическими моделями. </a:t>
                      </a:r>
                      <a:endParaRPr lang="en-GB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799465" lvl="1" indent="-342265">
                        <a:lnSpc>
                          <a:spcPts val="2865"/>
                        </a:lnSpc>
                        <a:spcBef>
                          <a:spcPts val="5"/>
                        </a:spcBef>
                        <a:buAutoNum type="arabicPeriod"/>
                        <a:tabLst>
                          <a:tab pos="342265" algn="l"/>
                        </a:tabLst>
                      </a:pPr>
                      <a:r>
                        <a:rPr lang="ru-RU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Гибридный алгоритм оптимизации (OPT-2)</a:t>
                      </a:r>
                      <a:r>
                        <a:rPr lang="ru-RU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сочетающий предиктивную модель и методы локальной оптимизации, обладающий адаптивностью к изменяющимся условиям транспортной среды и сниженной вычислительной сложностью. </a:t>
                      </a:r>
                      <a:endParaRPr lang="en-GB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799465" lvl="1" indent="-342265">
                        <a:lnSpc>
                          <a:spcPts val="2865"/>
                        </a:lnSpc>
                        <a:spcBef>
                          <a:spcPts val="5"/>
                        </a:spcBef>
                        <a:buAutoNum type="arabicPeriod"/>
                        <a:tabLst>
                          <a:tab pos="342265" algn="l"/>
                        </a:tabLst>
                      </a:pPr>
                      <a:r>
                        <a:rPr lang="ru-RU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Предиктивная модель оценки параметров движения</a:t>
                      </a:r>
                      <a:r>
                        <a:rPr lang="ru-RU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интегрированная в задачу маршрутизации и учитывающая влияние внешних факторов на время прохождения рёбер графа. </a:t>
                      </a:r>
                      <a:endParaRPr lang="en-GB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799465" lvl="1" indent="-342265">
                        <a:lnSpc>
                          <a:spcPts val="2865"/>
                        </a:lnSpc>
                        <a:spcBef>
                          <a:spcPts val="5"/>
                        </a:spcBef>
                        <a:buAutoNum type="arabicPeriod"/>
                        <a:tabLst>
                          <a:tab pos="342265" algn="l"/>
                        </a:tabLst>
                      </a:pPr>
                      <a:r>
                        <a:rPr lang="ru-RU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Программная реализация системы</a:t>
                      </a:r>
                      <a:r>
                        <a:rPr lang="ru-RU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подтверждающая практическую применимость предложенного подхода на задаче городской логистики. </a:t>
                      </a:r>
                      <a:endParaRPr lang="en-GB"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799465" lvl="1" indent="-342265">
                        <a:lnSpc>
                          <a:spcPts val="2865"/>
                        </a:lnSpc>
                        <a:spcBef>
                          <a:spcPts val="5"/>
                        </a:spcBef>
                        <a:buAutoNum type="arabicPeriod"/>
                        <a:tabLst>
                          <a:tab pos="342265" algn="l"/>
                        </a:tabLst>
                      </a:pPr>
                      <a:r>
                        <a:rPr lang="ru-RU" sz="2000" b="1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Результаты экспериментальных исследований</a:t>
                      </a:r>
                      <a:r>
                        <a:rPr lang="ru-RU" sz="20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демонстрирующие повышение эффективности маршрутизации (снижение ошибки прогнозирования и времени доставки).</a:t>
                      </a:r>
                      <a:endParaRPr sz="20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22542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6797"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3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9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Разработал</a:t>
                      </a:r>
                      <a:endParaRPr sz="9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8415" algn="ctr">
                        <a:lnSpc>
                          <a:spcPts val="1065"/>
                        </a:lnSpc>
                        <a:spcBef>
                          <a:spcPts val="245"/>
                        </a:spcBef>
                      </a:pPr>
                      <a:r>
                        <a:rPr sz="9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Артюшенков</a:t>
                      </a:r>
                      <a:endParaRPr sz="9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19685" algn="ctr">
                        <a:lnSpc>
                          <a:spcPts val="925"/>
                        </a:lnSpc>
                      </a:pPr>
                      <a:r>
                        <a:rPr sz="900" spc="-2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А.С.</a:t>
                      </a:r>
                      <a:endParaRPr sz="9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7470">
                        <a:lnSpc>
                          <a:spcPct val="100000"/>
                        </a:lnSpc>
                        <a:spcBef>
                          <a:spcPts val="160"/>
                        </a:spcBef>
                      </a:pPr>
                      <a:r>
                        <a:rPr sz="1200" b="1" spc="-5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sz="12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2032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86949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900" spc="-1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Утвердил</a:t>
                      </a:r>
                      <a:endParaRPr sz="9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0645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9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Гагарина</a:t>
                      </a:r>
                      <a:r>
                        <a:rPr sz="900" spc="-4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sz="900" spc="-2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Л.Г.</a:t>
                      </a:r>
                      <a:endParaRPr sz="9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651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0"/>
              </a:spcBef>
            </a:pPr>
            <a:r>
              <a:rPr dirty="0"/>
              <a:t>Аналитический</a:t>
            </a:r>
            <a:r>
              <a:rPr spc="85" dirty="0"/>
              <a:t> </a:t>
            </a:r>
            <a:r>
              <a:rPr dirty="0"/>
              <a:t>обзор</a:t>
            </a:r>
            <a:r>
              <a:rPr spc="120" dirty="0"/>
              <a:t> </a:t>
            </a:r>
            <a:r>
              <a:rPr dirty="0"/>
              <a:t>существующих</a:t>
            </a:r>
            <a:r>
              <a:rPr spc="120" dirty="0"/>
              <a:t> </a:t>
            </a:r>
            <a:r>
              <a:rPr dirty="0"/>
              <a:t>методов</a:t>
            </a:r>
            <a:r>
              <a:rPr spc="120" dirty="0"/>
              <a:t> </a:t>
            </a:r>
            <a:r>
              <a:rPr dirty="0"/>
              <a:t>и</a:t>
            </a:r>
            <a:r>
              <a:rPr spc="95" dirty="0"/>
              <a:t> </a:t>
            </a:r>
            <a:r>
              <a:rPr dirty="0"/>
              <a:t>средств</a:t>
            </a:r>
            <a:r>
              <a:rPr spc="195" dirty="0"/>
              <a:t> </a:t>
            </a:r>
            <a:r>
              <a:rPr dirty="0"/>
              <a:t>построения</a:t>
            </a:r>
            <a:r>
              <a:rPr spc="160" dirty="0"/>
              <a:t> </a:t>
            </a:r>
            <a:r>
              <a:rPr spc="-10" dirty="0"/>
              <a:t>путей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9602216" y="6156642"/>
            <a:ext cx="568325" cy="16319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10" dirty="0">
                <a:latin typeface="Times New Roman"/>
                <a:cs typeface="Times New Roman"/>
              </a:rPr>
              <a:t>Разработал</a:t>
            </a:r>
            <a:endParaRPr sz="900">
              <a:latin typeface="Times New Roman"/>
              <a:cs typeface="Times New Roman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10412983" y="6156642"/>
            <a:ext cx="670560" cy="29654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algn="ctr">
              <a:lnSpc>
                <a:spcPts val="1065"/>
              </a:lnSpc>
              <a:spcBef>
                <a:spcPts val="100"/>
              </a:spcBef>
            </a:pPr>
            <a:r>
              <a:rPr sz="900" spc="-10" dirty="0">
                <a:latin typeface="Times New Roman"/>
                <a:cs typeface="Times New Roman"/>
              </a:rPr>
              <a:t>Артюшенков</a:t>
            </a:r>
            <a:endParaRPr sz="900">
              <a:latin typeface="Times New Roman"/>
              <a:cs typeface="Times New Roman"/>
            </a:endParaRPr>
          </a:p>
          <a:p>
            <a:pPr algn="ctr">
              <a:lnSpc>
                <a:spcPts val="1065"/>
              </a:lnSpc>
            </a:pPr>
            <a:r>
              <a:rPr sz="900" spc="-20" dirty="0">
                <a:latin typeface="Times New Roman"/>
                <a:cs typeface="Times New Roman"/>
              </a:rPr>
              <a:t>А.С.</a:t>
            </a:r>
            <a:endParaRPr sz="900">
              <a:latin typeface="Times New Roman"/>
              <a:cs typeface="Times New Roman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1809983" y="6145212"/>
            <a:ext cx="102235" cy="2089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200" spc="-50" dirty="0">
                <a:latin typeface="Times New Roman"/>
                <a:cs typeface="Times New Roman"/>
              </a:rPr>
              <a:t>5</a:t>
            </a:r>
            <a:endParaRPr sz="1200">
              <a:latin typeface="Times New Roman"/>
              <a:cs typeface="Times New Roman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9602216" y="6453504"/>
            <a:ext cx="49212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spc="-10" dirty="0">
                <a:latin typeface="Times New Roman"/>
                <a:cs typeface="Times New Roman"/>
              </a:rPr>
              <a:t>Утвердил</a:t>
            </a:r>
            <a:endParaRPr sz="900">
              <a:latin typeface="Times New Roman"/>
              <a:cs typeface="Times New Roman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10386059" y="6453504"/>
            <a:ext cx="701675" cy="16256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900" dirty="0">
                <a:latin typeface="Times New Roman"/>
                <a:cs typeface="Times New Roman"/>
              </a:rPr>
              <a:t>Гагарина</a:t>
            </a:r>
            <a:r>
              <a:rPr sz="900" spc="-45" dirty="0">
                <a:latin typeface="Times New Roman"/>
                <a:cs typeface="Times New Roman"/>
              </a:rPr>
              <a:t> </a:t>
            </a:r>
            <a:r>
              <a:rPr sz="900" spc="-20" dirty="0">
                <a:latin typeface="Times New Roman"/>
                <a:cs typeface="Times New Roman"/>
              </a:rPr>
              <a:t>Л.Г.</a:t>
            </a:r>
            <a:endParaRPr sz="900">
              <a:latin typeface="Times New Roman"/>
              <a:cs typeface="Times New Roman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1604010" y="6001384"/>
            <a:ext cx="195580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spc="-10" dirty="0">
                <a:latin typeface="Times New Roman"/>
                <a:cs typeface="Times New Roman"/>
              </a:rPr>
              <a:t>Сравнение</a:t>
            </a:r>
            <a:r>
              <a:rPr sz="1800" i="1" spc="-85" dirty="0">
                <a:latin typeface="Times New Roman"/>
                <a:cs typeface="Times New Roman"/>
              </a:rPr>
              <a:t> </a:t>
            </a:r>
            <a:r>
              <a:rPr sz="1800" i="1" spc="-10" dirty="0">
                <a:latin typeface="Times New Roman"/>
                <a:cs typeface="Times New Roman"/>
              </a:rPr>
              <a:t>методов</a:t>
            </a:r>
            <a:endParaRPr sz="1800">
              <a:latin typeface="Times New Roman"/>
              <a:cs typeface="Times New Roman"/>
            </a:endParaRPr>
          </a:p>
        </p:txBody>
      </p:sp>
      <p:sp>
        <p:nvSpPr>
          <p:cNvPr id="9" name="object 9"/>
          <p:cNvSpPr/>
          <p:nvPr/>
        </p:nvSpPr>
        <p:spPr>
          <a:xfrm>
            <a:off x="5842127" y="1203197"/>
            <a:ext cx="5431790" cy="4669790"/>
          </a:xfrm>
          <a:custGeom>
            <a:avLst/>
            <a:gdLst/>
            <a:ahLst/>
            <a:cxnLst/>
            <a:rect l="l" t="t" r="r" b="b"/>
            <a:pathLst>
              <a:path w="5431790" h="4669790">
                <a:moveTo>
                  <a:pt x="1812544" y="0"/>
                </a:moveTo>
                <a:lnTo>
                  <a:pt x="1812544" y="4669421"/>
                </a:lnTo>
              </a:path>
              <a:path w="5431790" h="4669790">
                <a:moveTo>
                  <a:pt x="3618738" y="0"/>
                </a:moveTo>
                <a:lnTo>
                  <a:pt x="3618738" y="4669421"/>
                </a:lnTo>
              </a:path>
              <a:path w="5431790" h="4669790">
                <a:moveTo>
                  <a:pt x="0" y="721994"/>
                </a:moveTo>
                <a:lnTo>
                  <a:pt x="5431408" y="721994"/>
                </a:lnTo>
              </a:path>
              <a:path w="5431790" h="4669790">
                <a:moveTo>
                  <a:pt x="0" y="1437766"/>
                </a:moveTo>
                <a:lnTo>
                  <a:pt x="5431408" y="1437766"/>
                </a:lnTo>
              </a:path>
              <a:path w="5431790" h="4669790">
                <a:moveTo>
                  <a:pt x="0" y="2153412"/>
                </a:moveTo>
                <a:lnTo>
                  <a:pt x="5431408" y="2153412"/>
                </a:lnTo>
              </a:path>
              <a:path w="5431790" h="4669790">
                <a:moveTo>
                  <a:pt x="0" y="2869184"/>
                </a:moveTo>
                <a:lnTo>
                  <a:pt x="5431408" y="2869184"/>
                </a:lnTo>
              </a:path>
              <a:path w="5431790" h="4669790">
                <a:moveTo>
                  <a:pt x="0" y="3600704"/>
                </a:moveTo>
                <a:lnTo>
                  <a:pt x="5431408" y="3600704"/>
                </a:lnTo>
              </a:path>
              <a:path w="5431790" h="4669790">
                <a:moveTo>
                  <a:pt x="0" y="4316476"/>
                </a:moveTo>
                <a:lnTo>
                  <a:pt x="5431408" y="4316476"/>
                </a:lnTo>
              </a:path>
              <a:path w="5431790" h="4669790">
                <a:moveTo>
                  <a:pt x="6350" y="0"/>
                </a:moveTo>
                <a:lnTo>
                  <a:pt x="6350" y="4669421"/>
                </a:lnTo>
              </a:path>
              <a:path w="5431790" h="4669790">
                <a:moveTo>
                  <a:pt x="5425058" y="0"/>
                </a:moveTo>
                <a:lnTo>
                  <a:pt x="5425058" y="4669421"/>
                </a:lnTo>
              </a:path>
              <a:path w="5431790" h="4669790">
                <a:moveTo>
                  <a:pt x="0" y="6350"/>
                </a:moveTo>
                <a:lnTo>
                  <a:pt x="5431408" y="6350"/>
                </a:lnTo>
              </a:path>
              <a:path w="5431790" h="4669790">
                <a:moveTo>
                  <a:pt x="0" y="4663071"/>
                </a:moveTo>
                <a:lnTo>
                  <a:pt x="5431408" y="4663071"/>
                </a:lnTo>
              </a:path>
            </a:pathLst>
          </a:custGeom>
          <a:ln w="1270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graphicFrame>
        <p:nvGraphicFramePr>
          <p:cNvPr id="10" name="object 10"/>
          <p:cNvGraphicFramePr>
            <a:graphicFrameLocks noGrp="1"/>
          </p:cNvGraphicFramePr>
          <p:nvPr/>
        </p:nvGraphicFramePr>
        <p:xfrm>
          <a:off x="5848477" y="1209547"/>
          <a:ext cx="5417817" cy="465518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059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0593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0593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715010">
                <a:tc>
                  <a:txBody>
                    <a:bodyPr/>
                    <a:lstStyle/>
                    <a:p>
                      <a:pPr marL="95885">
                        <a:lnSpc>
                          <a:spcPct val="100000"/>
                        </a:lnSpc>
                        <a:spcBef>
                          <a:spcPts val="325"/>
                        </a:spcBef>
                      </a:pPr>
                      <a:r>
                        <a:rPr sz="1400" b="1" dirty="0">
                          <a:latin typeface="Times New Roman"/>
                          <a:cs typeface="Times New Roman"/>
                        </a:rPr>
                        <a:t>Название</a:t>
                      </a:r>
                      <a:r>
                        <a:rPr sz="1400" b="1" spc="-9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b="1" spc="-25" dirty="0">
                          <a:latin typeface="Times New Roman"/>
                          <a:cs typeface="Times New Roman"/>
                        </a:rPr>
                        <a:t>ПО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/>
                </a:tc>
                <a:tc>
                  <a:txBody>
                    <a:bodyPr/>
                    <a:lstStyle/>
                    <a:p>
                      <a:pPr marL="97155">
                        <a:lnSpc>
                          <a:spcPts val="1664"/>
                        </a:lnSpc>
                        <a:spcBef>
                          <a:spcPts val="325"/>
                        </a:spcBef>
                      </a:pPr>
                      <a:r>
                        <a:rPr sz="1400" b="1" dirty="0">
                          <a:latin typeface="Times New Roman"/>
                          <a:cs typeface="Times New Roman"/>
                        </a:rPr>
                        <a:t>Учёт</a:t>
                      </a:r>
                      <a:r>
                        <a:rPr sz="1400" b="1" spc="-5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b="1" spc="-10" dirty="0">
                          <a:latin typeface="Times New Roman"/>
                          <a:cs typeface="Times New Roman"/>
                        </a:rPr>
                        <a:t>динамических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97155">
                        <a:lnSpc>
                          <a:spcPts val="1664"/>
                        </a:lnSpc>
                      </a:pPr>
                      <a:r>
                        <a:rPr sz="1400" b="1" spc="-10" dirty="0">
                          <a:latin typeface="Times New Roman"/>
                          <a:cs typeface="Times New Roman"/>
                        </a:rPr>
                        <a:t>параметров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/>
                </a:tc>
                <a:tc>
                  <a:txBody>
                    <a:bodyPr/>
                    <a:lstStyle/>
                    <a:p>
                      <a:pPr marL="98425">
                        <a:lnSpc>
                          <a:spcPts val="1664"/>
                        </a:lnSpc>
                        <a:spcBef>
                          <a:spcPts val="325"/>
                        </a:spcBef>
                      </a:pPr>
                      <a:r>
                        <a:rPr sz="1400" b="1" dirty="0">
                          <a:latin typeface="Times New Roman"/>
                          <a:cs typeface="Times New Roman"/>
                        </a:rPr>
                        <a:t>Точность</a:t>
                      </a:r>
                      <a:r>
                        <a:rPr sz="1400" b="1" spc="-10" dirty="0">
                          <a:latin typeface="Times New Roman"/>
                          <a:cs typeface="Times New Roman"/>
                        </a:rPr>
                        <a:t> работы,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98425">
                        <a:lnSpc>
                          <a:spcPts val="1664"/>
                        </a:lnSpc>
                      </a:pPr>
                      <a:r>
                        <a:rPr sz="1400" b="1" spc="-50" dirty="0">
                          <a:latin typeface="Times New Roman"/>
                          <a:cs typeface="Times New Roman"/>
                        </a:rPr>
                        <a:t>%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1275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1564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95885">
                        <a:lnSpc>
                          <a:spcPct val="100000"/>
                        </a:lnSpc>
                      </a:pPr>
                      <a:r>
                        <a:rPr sz="1400" dirty="0">
                          <a:latin typeface="Times New Roman"/>
                          <a:cs typeface="Times New Roman"/>
                        </a:rPr>
                        <a:t>Google</a:t>
                      </a:r>
                      <a:r>
                        <a:rPr sz="1400" spc="-2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spc="-20" dirty="0">
                          <a:latin typeface="Times New Roman"/>
                          <a:cs typeface="Times New Roman"/>
                        </a:rPr>
                        <a:t>Maps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3180" marB="0"/>
                </a:tc>
                <a:tc>
                  <a:txBody>
                    <a:bodyPr/>
                    <a:lstStyle/>
                    <a:p>
                      <a:pPr marL="97155" marR="279400">
                        <a:lnSpc>
                          <a:spcPts val="1650"/>
                        </a:lnSpc>
                        <a:spcBef>
                          <a:spcPts val="1190"/>
                        </a:spcBef>
                      </a:pPr>
                      <a:r>
                        <a:rPr sz="1400" dirty="0">
                          <a:latin typeface="Times New Roman"/>
                          <a:cs typeface="Times New Roman"/>
                        </a:rPr>
                        <a:t>Да</a:t>
                      </a:r>
                      <a:r>
                        <a:rPr sz="1400" spc="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(пробки, </a:t>
                      </a:r>
                      <a:r>
                        <a:rPr sz="1400" dirty="0">
                          <a:latin typeface="Times New Roman"/>
                          <a:cs typeface="Times New Roman"/>
                        </a:rPr>
                        <a:t>дорожные</a:t>
                      </a:r>
                      <a:r>
                        <a:rPr sz="1400" spc="-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работы)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15113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40"/>
                        </a:spcBef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98425">
                        <a:lnSpc>
                          <a:spcPct val="100000"/>
                        </a:lnSpc>
                      </a:pPr>
                      <a:r>
                        <a:rPr sz="1400" spc="-25" dirty="0">
                          <a:latin typeface="Times New Roman"/>
                          <a:cs typeface="Times New Roman"/>
                        </a:rPr>
                        <a:t>95%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3180" marB="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1564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95885">
                        <a:lnSpc>
                          <a:spcPct val="100000"/>
                        </a:lnSpc>
                      </a:pP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Yandex.Navigator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4450" marB="0"/>
                </a:tc>
                <a:tc>
                  <a:txBody>
                    <a:bodyPr/>
                    <a:lstStyle/>
                    <a:p>
                      <a:pPr marL="97155" marR="279400">
                        <a:lnSpc>
                          <a:spcPts val="1650"/>
                        </a:lnSpc>
                        <a:spcBef>
                          <a:spcPts val="1200"/>
                        </a:spcBef>
                      </a:pPr>
                      <a:r>
                        <a:rPr sz="1400" dirty="0">
                          <a:latin typeface="Times New Roman"/>
                          <a:cs typeface="Times New Roman"/>
                        </a:rPr>
                        <a:t>Да</a:t>
                      </a:r>
                      <a:r>
                        <a:rPr sz="1400" spc="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(пробки, </a:t>
                      </a:r>
                      <a:r>
                        <a:rPr sz="1400" dirty="0">
                          <a:latin typeface="Times New Roman"/>
                          <a:cs typeface="Times New Roman"/>
                        </a:rPr>
                        <a:t>дорожные</a:t>
                      </a:r>
                      <a:r>
                        <a:rPr sz="1400" spc="-6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работы)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15240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50"/>
                        </a:spcBef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98425">
                        <a:lnSpc>
                          <a:spcPct val="100000"/>
                        </a:lnSpc>
                      </a:pPr>
                      <a:r>
                        <a:rPr sz="1400" spc="-25" dirty="0">
                          <a:latin typeface="Times New Roman"/>
                          <a:cs typeface="Times New Roman"/>
                        </a:rPr>
                        <a:t>94%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4450" marB="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1564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endParaRPr sz="1400" dirty="0">
                        <a:latin typeface="Times New Roman"/>
                        <a:cs typeface="Times New Roman"/>
                      </a:endParaRPr>
                    </a:p>
                    <a:p>
                      <a:pPr marL="95885">
                        <a:lnSpc>
                          <a:spcPct val="100000"/>
                        </a:lnSpc>
                      </a:pPr>
                      <a:r>
                        <a:rPr sz="1400" dirty="0">
                          <a:latin typeface="Times New Roman"/>
                          <a:cs typeface="Times New Roman"/>
                        </a:rPr>
                        <a:t>Apple</a:t>
                      </a:r>
                      <a:r>
                        <a:rPr sz="14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spc="-20" dirty="0">
                          <a:latin typeface="Times New Roman"/>
                          <a:cs typeface="Times New Roman"/>
                        </a:rPr>
                        <a:t>Maps</a:t>
                      </a:r>
                      <a:endParaRPr sz="1400" dirty="0">
                        <a:latin typeface="Times New Roman"/>
                        <a:cs typeface="Times New Roman"/>
                      </a:endParaRPr>
                    </a:p>
                  </a:txBody>
                  <a:tcPr marL="0" marR="0" marB="0"/>
                </a:tc>
                <a:tc>
                  <a:txBody>
                    <a:bodyPr/>
                    <a:lstStyle/>
                    <a:p>
                      <a:pPr marL="97155" marR="279400">
                        <a:lnSpc>
                          <a:spcPts val="1650"/>
                        </a:lnSpc>
                        <a:spcBef>
                          <a:spcPts val="1205"/>
                        </a:spcBef>
                      </a:pPr>
                      <a:r>
                        <a:rPr sz="1400" dirty="0">
                          <a:latin typeface="Times New Roman"/>
                          <a:cs typeface="Times New Roman"/>
                        </a:rPr>
                        <a:t>Да</a:t>
                      </a:r>
                      <a:r>
                        <a:rPr sz="1400" spc="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(пробки, </a:t>
                      </a:r>
                      <a:r>
                        <a:rPr sz="1400" dirty="0">
                          <a:latin typeface="Times New Roman"/>
                          <a:cs typeface="Times New Roman"/>
                        </a:rPr>
                        <a:t>дорожные</a:t>
                      </a:r>
                      <a:r>
                        <a:rPr sz="1400" spc="-6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работы)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153035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60"/>
                        </a:spcBef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98425">
                        <a:lnSpc>
                          <a:spcPct val="100000"/>
                        </a:lnSpc>
                      </a:pPr>
                      <a:r>
                        <a:rPr sz="1400" spc="-25" dirty="0">
                          <a:latin typeface="Times New Roman"/>
                          <a:cs typeface="Times New Roman"/>
                        </a:rPr>
                        <a:t>92%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B="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9588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400" spc="-20" dirty="0">
                          <a:latin typeface="Times New Roman"/>
                          <a:cs typeface="Times New Roman"/>
                        </a:rPr>
                        <a:t>Waze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53975" marB="0"/>
                </a:tc>
                <a:tc>
                  <a:txBody>
                    <a:bodyPr/>
                    <a:lstStyle/>
                    <a:p>
                      <a:pPr marL="97155" marR="294640">
                        <a:lnSpc>
                          <a:spcPct val="100600"/>
                        </a:lnSpc>
                        <a:spcBef>
                          <a:spcPts val="345"/>
                        </a:spcBef>
                      </a:pPr>
                      <a:r>
                        <a:rPr sz="1400" dirty="0">
                          <a:latin typeface="Times New Roman"/>
                          <a:cs typeface="Times New Roman"/>
                        </a:rPr>
                        <a:t>Да</a:t>
                      </a:r>
                      <a:r>
                        <a:rPr sz="1400" spc="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(пробки, </a:t>
                      </a:r>
                      <a:r>
                        <a:rPr sz="1400" dirty="0">
                          <a:latin typeface="Times New Roman"/>
                          <a:cs typeface="Times New Roman"/>
                        </a:rPr>
                        <a:t>дорожные</a:t>
                      </a:r>
                      <a:r>
                        <a:rPr sz="1400" spc="-6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работы, аварии)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3815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9842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400" spc="-25" dirty="0">
                          <a:latin typeface="Times New Roman"/>
                          <a:cs typeface="Times New Roman"/>
                        </a:rPr>
                        <a:t>96%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53975" marB="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715645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70"/>
                        </a:spcBef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9588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400" dirty="0">
                          <a:latin typeface="Times New Roman"/>
                          <a:cs typeface="Times New Roman"/>
                        </a:rPr>
                        <a:t>HERE</a:t>
                      </a:r>
                      <a:r>
                        <a:rPr sz="1400" spc="-6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spc="-20" dirty="0">
                          <a:latin typeface="Times New Roman"/>
                          <a:cs typeface="Times New Roman"/>
                        </a:rPr>
                        <a:t>WeGo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6990" marB="0"/>
                </a:tc>
                <a:tc>
                  <a:txBody>
                    <a:bodyPr/>
                    <a:lstStyle/>
                    <a:p>
                      <a:pPr marL="97155" marR="279400">
                        <a:lnSpc>
                          <a:spcPts val="1650"/>
                        </a:lnSpc>
                        <a:spcBef>
                          <a:spcPts val="1220"/>
                        </a:spcBef>
                      </a:pPr>
                      <a:r>
                        <a:rPr sz="1400" dirty="0">
                          <a:latin typeface="Times New Roman"/>
                          <a:cs typeface="Times New Roman"/>
                        </a:rPr>
                        <a:t>Да</a:t>
                      </a:r>
                      <a:r>
                        <a:rPr sz="1400" spc="2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(пробки, </a:t>
                      </a:r>
                      <a:r>
                        <a:rPr sz="1400" dirty="0">
                          <a:latin typeface="Times New Roman"/>
                          <a:cs typeface="Times New Roman"/>
                        </a:rPr>
                        <a:t>дорожные</a:t>
                      </a:r>
                      <a:r>
                        <a:rPr sz="1400" spc="-6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работы)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15494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spcBef>
                          <a:spcPts val="370"/>
                        </a:spcBef>
                      </a:pPr>
                      <a:endParaRPr sz="1400">
                        <a:latin typeface="Times New Roman"/>
                        <a:cs typeface="Times New Roman"/>
                      </a:endParaRPr>
                    </a:p>
                    <a:p>
                      <a:pPr marL="98425">
                        <a:lnSpc>
                          <a:spcPct val="100000"/>
                        </a:lnSpc>
                        <a:spcBef>
                          <a:spcPts val="5"/>
                        </a:spcBef>
                      </a:pPr>
                      <a:r>
                        <a:rPr sz="1400" spc="-25" dirty="0">
                          <a:latin typeface="Times New Roman"/>
                          <a:cs typeface="Times New Roman"/>
                        </a:rPr>
                        <a:t>93%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46990" marB="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46075">
                <a:tc>
                  <a:txBody>
                    <a:bodyPr/>
                    <a:lstStyle/>
                    <a:p>
                      <a:pPr marL="95885">
                        <a:lnSpc>
                          <a:spcPct val="100000"/>
                        </a:lnSpc>
                        <a:spcBef>
                          <a:spcPts val="535"/>
                        </a:spcBef>
                      </a:pPr>
                      <a:r>
                        <a:rPr sz="1400" spc="-10" dirty="0">
                          <a:latin typeface="Times New Roman"/>
                          <a:cs typeface="Times New Roman"/>
                        </a:rPr>
                        <a:t>MapQuest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67945" marB="0"/>
                </a:tc>
                <a:tc>
                  <a:txBody>
                    <a:bodyPr/>
                    <a:lstStyle/>
                    <a:p>
                      <a:pPr marL="97155">
                        <a:lnSpc>
                          <a:spcPct val="100000"/>
                        </a:lnSpc>
                        <a:spcBef>
                          <a:spcPts val="535"/>
                        </a:spcBef>
                      </a:pPr>
                      <a:r>
                        <a:rPr sz="1400" spc="-25" dirty="0">
                          <a:latin typeface="Times New Roman"/>
                          <a:cs typeface="Times New Roman"/>
                        </a:rPr>
                        <a:t>Нет</a:t>
                      </a:r>
                      <a:endParaRPr sz="1400">
                        <a:latin typeface="Times New Roman"/>
                        <a:cs typeface="Times New Roman"/>
                      </a:endParaRPr>
                    </a:p>
                  </a:txBody>
                  <a:tcPr marL="0" marR="0" marT="67945" marB="0"/>
                </a:tc>
                <a:tc>
                  <a:txBody>
                    <a:bodyPr/>
                    <a:lstStyle/>
                    <a:p>
                      <a:pPr marL="98425">
                        <a:lnSpc>
                          <a:spcPct val="100000"/>
                        </a:lnSpc>
                        <a:spcBef>
                          <a:spcPts val="535"/>
                        </a:spcBef>
                      </a:pPr>
                      <a:r>
                        <a:rPr sz="1400" spc="-25" dirty="0">
                          <a:latin typeface="Times New Roman"/>
                          <a:cs typeface="Times New Roman"/>
                        </a:rPr>
                        <a:t>85%</a:t>
                      </a:r>
                      <a:endParaRPr sz="14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67945" marB="0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11" name="object 11"/>
          <p:cNvSpPr txBox="1"/>
          <p:nvPr/>
        </p:nvSpPr>
        <p:spPr>
          <a:xfrm>
            <a:off x="7837805" y="6001384"/>
            <a:ext cx="1437640" cy="30035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sz="1800" i="1" dirty="0">
                <a:latin typeface="Times New Roman"/>
                <a:cs typeface="Times New Roman"/>
              </a:rPr>
              <a:t>Сравнение</a:t>
            </a:r>
            <a:r>
              <a:rPr sz="1800" i="1" spc="-50" dirty="0">
                <a:latin typeface="Times New Roman"/>
                <a:cs typeface="Times New Roman"/>
              </a:rPr>
              <a:t> </a:t>
            </a:r>
            <a:r>
              <a:rPr sz="1800" i="1" spc="-25" dirty="0">
                <a:latin typeface="Times New Roman"/>
                <a:cs typeface="Times New Roman"/>
              </a:rPr>
              <a:t>ПО</a:t>
            </a:r>
            <a:endParaRPr sz="1800">
              <a:latin typeface="Times New Roman"/>
              <a:cs typeface="Times New Roman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66363006"/>
              </p:ext>
            </p:extLst>
          </p:nvPr>
        </p:nvGraphicFramePr>
        <p:xfrm>
          <a:off x="192404" y="139763"/>
          <a:ext cx="11794488" cy="654875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3402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91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07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61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82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983605">
                <a:tc gridSpan="5">
                  <a:txBody>
                    <a:bodyPr/>
                    <a:lstStyle/>
                    <a:p>
                      <a:pPr marL="175260" algn="ctr">
                        <a:lnSpc>
                          <a:spcPct val="100000"/>
                        </a:lnSpc>
                        <a:spcBef>
                          <a:spcPts val="1595"/>
                        </a:spcBef>
                      </a:pPr>
                      <a:r>
                        <a:rPr sz="3600" dirty="0">
                          <a:latin typeface="Times New Roman"/>
                          <a:cs typeface="Times New Roman"/>
                        </a:rPr>
                        <a:t>Формализованное</a:t>
                      </a:r>
                      <a:r>
                        <a:rPr sz="3600" spc="-7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3600" dirty="0">
                          <a:latin typeface="Times New Roman"/>
                          <a:cs typeface="Times New Roman"/>
                        </a:rPr>
                        <a:t>представление</a:t>
                      </a:r>
                      <a:r>
                        <a:rPr sz="3600" spc="-60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3600" spc="-10" dirty="0">
                          <a:latin typeface="Times New Roman"/>
                          <a:cs typeface="Times New Roman"/>
                        </a:rPr>
                        <a:t>задачи</a:t>
                      </a:r>
                      <a:endParaRPr sz="3600" dirty="0">
                        <a:latin typeface="Times New Roman"/>
                        <a:cs typeface="Times New Roman"/>
                      </a:endParaRPr>
                    </a:p>
                    <a:p>
                      <a:pPr marL="652780">
                        <a:lnSpc>
                          <a:spcPct val="100000"/>
                        </a:lnSpc>
                        <a:spcBef>
                          <a:spcPts val="2755"/>
                        </a:spcBef>
                        <a:tabLst>
                          <a:tab pos="7634605" algn="l"/>
                        </a:tabLst>
                      </a:pPr>
                      <a:r>
                        <a:rPr sz="3600" b="1" spc="-15" baseline="4629" dirty="0">
                          <a:latin typeface="Times New Roman"/>
                          <a:cs typeface="Times New Roman"/>
                        </a:rPr>
                        <a:t>Модели:</a:t>
                      </a:r>
                      <a:r>
                        <a:rPr sz="3600" b="1" baseline="4629" dirty="0">
                          <a:latin typeface="Times New Roman"/>
                          <a:cs typeface="Times New Roman"/>
                        </a:rPr>
                        <a:t>	</a:t>
                      </a:r>
                      <a:r>
                        <a:rPr sz="2400" b="1" spc="-10" dirty="0">
                          <a:latin typeface="Times New Roman"/>
                          <a:cs typeface="Times New Roman"/>
                        </a:rPr>
                        <a:t>Ограничения</a:t>
                      </a:r>
                      <a:r>
                        <a:rPr sz="1800" b="1" spc="-10" dirty="0">
                          <a:latin typeface="Times New Roman"/>
                          <a:cs typeface="Times New Roman"/>
                        </a:rPr>
                        <a:t>:</a:t>
                      </a:r>
                      <a:endParaRPr sz="1800" dirty="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sz="2400" dirty="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sz="2400" dirty="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sz="2400" dirty="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sz="2400" dirty="0">
                        <a:latin typeface="Times New Roman"/>
                        <a:cs typeface="Times New Roman"/>
                      </a:endParaRPr>
                    </a:p>
                    <a:p>
                      <a:pPr>
                        <a:lnSpc>
                          <a:spcPct val="100000"/>
                        </a:lnSpc>
                      </a:pPr>
                      <a:endParaRPr sz="24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2025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6545"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900" spc="-10" dirty="0">
                          <a:latin typeface="Times New Roman"/>
                          <a:cs typeface="Times New Roman"/>
                        </a:rPr>
                        <a:t>Разработал</a:t>
                      </a: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8415" algn="ctr">
                        <a:lnSpc>
                          <a:spcPts val="1065"/>
                        </a:lnSpc>
                        <a:spcBef>
                          <a:spcPts val="245"/>
                        </a:spcBef>
                      </a:pPr>
                      <a:r>
                        <a:rPr sz="900" spc="-10" dirty="0">
                          <a:latin typeface="Times New Roman"/>
                          <a:cs typeface="Times New Roman"/>
                        </a:rPr>
                        <a:t>Артюшенков</a:t>
                      </a:r>
                      <a:endParaRPr sz="900">
                        <a:latin typeface="Times New Roman"/>
                        <a:cs typeface="Times New Roman"/>
                      </a:endParaRPr>
                    </a:p>
                    <a:p>
                      <a:pPr marL="19050" algn="ctr">
                        <a:lnSpc>
                          <a:spcPts val="925"/>
                        </a:lnSpc>
                      </a:pPr>
                      <a:r>
                        <a:rPr sz="900" spc="-20" dirty="0">
                          <a:latin typeface="Times New Roman"/>
                          <a:cs typeface="Times New Roman"/>
                        </a:rPr>
                        <a:t>А.С.</a:t>
                      </a: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7470">
                        <a:lnSpc>
                          <a:spcPct val="100000"/>
                        </a:lnSpc>
                        <a:spcBef>
                          <a:spcPts val="155"/>
                        </a:spcBef>
                      </a:pP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6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1968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860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900" spc="-10" dirty="0">
                          <a:latin typeface="Times New Roman"/>
                          <a:cs typeface="Times New Roman"/>
                        </a:rPr>
                        <a:t>Утвердил</a:t>
                      </a: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001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900" dirty="0">
                          <a:latin typeface="Times New Roman"/>
                          <a:cs typeface="Times New Roman"/>
                        </a:rPr>
                        <a:t>Гагарина</a:t>
                      </a:r>
                      <a:r>
                        <a:rPr sz="900" spc="-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900" spc="-20" dirty="0">
                          <a:latin typeface="Times New Roman"/>
                          <a:cs typeface="Times New Roman"/>
                        </a:rPr>
                        <a:t>Л.Г.</a:t>
                      </a: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18" name="Picture 17">
            <a:extLst>
              <a:ext uri="{FF2B5EF4-FFF2-40B4-BE49-F238E27FC236}">
                <a16:creationId xmlns:a16="http://schemas.microsoft.com/office/drawing/2014/main" id="{03EF6592-17C6-A0C2-5B2A-ADAC03E2F54D}"/>
              </a:ext>
            </a:extLst>
          </p:cNvPr>
          <p:cNvPicPr>
            <a:picLocks noChangeAspect="1"/>
          </p:cNvPicPr>
          <p:nvPr/>
        </p:nvPicPr>
        <p:blipFill>
          <a:blip r:embed="rId2">
            <a:biLevel thresh="50000"/>
          </a:blip>
          <a:stretch>
            <a:fillRect/>
          </a:stretch>
        </p:blipFill>
        <p:spPr>
          <a:xfrm>
            <a:off x="847629" y="4197661"/>
            <a:ext cx="5944430" cy="485843"/>
          </a:xfrm>
          <a:prstGeom prst="rect">
            <a:avLst/>
          </a:prstGeom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2C3C5891-195E-B28E-1F66-44894352EA7F}"/>
              </a:ext>
            </a:extLst>
          </p:cNvPr>
          <p:cNvSpPr txBox="1"/>
          <p:nvPr/>
        </p:nvSpPr>
        <p:spPr>
          <a:xfrm>
            <a:off x="990600" y="3826870"/>
            <a:ext cx="3246402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800" b="1" dirty="0"/>
              <a:t>Целевая функция модели</a:t>
            </a:r>
            <a:r>
              <a:rPr lang="en-GB" b="1" dirty="0"/>
              <a:t>:</a:t>
            </a:r>
            <a:endParaRPr lang="ru-RU" sz="1800" b="1" dirty="0">
              <a:latin typeface="Times New Roman"/>
              <a:cs typeface="Times New Roman"/>
            </a:endParaRPr>
          </a:p>
          <a:p>
            <a:endParaRPr lang="ru-RU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93C32AA9-5D50-9460-0F73-2DC8B5EC318B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50000"/>
          </a:blip>
          <a:stretch>
            <a:fillRect/>
          </a:stretch>
        </p:blipFill>
        <p:spPr>
          <a:xfrm>
            <a:off x="736719" y="5084608"/>
            <a:ext cx="7297168" cy="571580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399DA1B9-9413-856F-E4BE-F7315E282011}"/>
              </a:ext>
            </a:extLst>
          </p:cNvPr>
          <p:cNvPicPr>
            <a:picLocks noChangeAspect="1"/>
          </p:cNvPicPr>
          <p:nvPr/>
        </p:nvPicPr>
        <p:blipFill>
          <a:blip r:embed="rId4">
            <a:biLevel thresh="50000"/>
          </a:blip>
          <a:stretch>
            <a:fillRect/>
          </a:stretch>
        </p:blipFill>
        <p:spPr>
          <a:xfrm>
            <a:off x="2171700" y="5608929"/>
            <a:ext cx="5642790" cy="1953609"/>
          </a:xfrm>
          <a:prstGeom prst="rect">
            <a:avLst/>
          </a:prstGeom>
        </p:spPr>
      </p:pic>
      <p:pic>
        <p:nvPicPr>
          <p:cNvPr id="25" name="Picture 24">
            <a:extLst>
              <a:ext uri="{FF2B5EF4-FFF2-40B4-BE49-F238E27FC236}">
                <a16:creationId xmlns:a16="http://schemas.microsoft.com/office/drawing/2014/main" id="{6DE4E897-D81E-5E13-0309-D8268A2616A2}"/>
              </a:ext>
            </a:extLst>
          </p:cNvPr>
          <p:cNvPicPr>
            <a:picLocks noChangeAspect="1"/>
          </p:cNvPicPr>
          <p:nvPr/>
        </p:nvPicPr>
        <p:blipFill>
          <a:blip r:embed="rId5">
            <a:biLevel thresh="75000"/>
          </a:blip>
          <a:stretch>
            <a:fillRect/>
          </a:stretch>
        </p:blipFill>
        <p:spPr>
          <a:xfrm>
            <a:off x="2961837" y="3128920"/>
            <a:ext cx="6268325" cy="600159"/>
          </a:xfrm>
          <a:prstGeom prst="rect">
            <a:avLst/>
          </a:prstGeom>
        </p:spPr>
      </p:pic>
      <p:pic>
        <p:nvPicPr>
          <p:cNvPr id="27" name="Picture 26">
            <a:extLst>
              <a:ext uri="{FF2B5EF4-FFF2-40B4-BE49-F238E27FC236}">
                <a16:creationId xmlns:a16="http://schemas.microsoft.com/office/drawing/2014/main" id="{0EA82957-2117-3728-5330-C4CAB224A736}"/>
              </a:ext>
            </a:extLst>
          </p:cNvPr>
          <p:cNvPicPr>
            <a:picLocks noChangeAspect="1"/>
          </p:cNvPicPr>
          <p:nvPr/>
        </p:nvPicPr>
        <p:blipFill>
          <a:blip r:embed="rId6">
            <a:biLevel thresh="50000"/>
          </a:blip>
          <a:stretch>
            <a:fillRect/>
          </a:stretch>
        </p:blipFill>
        <p:spPr>
          <a:xfrm>
            <a:off x="8023417" y="3970375"/>
            <a:ext cx="3391373" cy="1238423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ct 3">
            <a:extLst>
              <a:ext uri="{FF2B5EF4-FFF2-40B4-BE49-F238E27FC236}">
                <a16:creationId xmlns:a16="http://schemas.microsoft.com/office/drawing/2014/main" id="{102CFC6D-4980-6D6A-54D2-FB217EC86A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9443472"/>
              </p:ext>
            </p:extLst>
          </p:nvPr>
        </p:nvGraphicFramePr>
        <p:xfrm>
          <a:off x="192404" y="139763"/>
          <a:ext cx="11794488" cy="654875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3402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91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07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61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82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983605">
                <a:tc gridSpan="5">
                  <a:txBody>
                    <a:bodyPr/>
                    <a:lstStyle/>
                    <a:p>
                      <a:pPr marL="175260" algn="ctr">
                        <a:lnSpc>
                          <a:spcPct val="100000"/>
                        </a:lnSpc>
                        <a:spcBef>
                          <a:spcPts val="1595"/>
                        </a:spcBef>
                      </a:pPr>
                      <a:r>
                        <a:rPr lang="ru-RU" sz="3600" dirty="0">
                          <a:latin typeface="Times New Roman"/>
                          <a:cs typeface="Times New Roman"/>
                        </a:rPr>
                        <a:t>Разработка алгоритма </a:t>
                      </a:r>
                      <a:endParaRPr sz="3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2025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6545"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900" spc="-10" dirty="0">
                          <a:latin typeface="Times New Roman"/>
                          <a:cs typeface="Times New Roman"/>
                        </a:rPr>
                        <a:t>Разработал</a:t>
                      </a: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8415" algn="ctr">
                        <a:lnSpc>
                          <a:spcPts val="1065"/>
                        </a:lnSpc>
                        <a:spcBef>
                          <a:spcPts val="245"/>
                        </a:spcBef>
                      </a:pPr>
                      <a:r>
                        <a:rPr sz="900" spc="-10" dirty="0">
                          <a:latin typeface="Times New Roman"/>
                          <a:cs typeface="Times New Roman"/>
                        </a:rPr>
                        <a:t>Артюшенков</a:t>
                      </a:r>
                      <a:endParaRPr sz="900">
                        <a:latin typeface="Times New Roman"/>
                        <a:cs typeface="Times New Roman"/>
                      </a:endParaRPr>
                    </a:p>
                    <a:p>
                      <a:pPr marL="19050" algn="ctr">
                        <a:lnSpc>
                          <a:spcPts val="925"/>
                        </a:lnSpc>
                      </a:pPr>
                      <a:r>
                        <a:rPr sz="900" spc="-20" dirty="0">
                          <a:latin typeface="Times New Roman"/>
                          <a:cs typeface="Times New Roman"/>
                        </a:rPr>
                        <a:t>А.С.</a:t>
                      </a: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7470">
                        <a:lnSpc>
                          <a:spcPct val="100000"/>
                        </a:lnSpc>
                        <a:spcBef>
                          <a:spcPts val="155"/>
                        </a:spcBef>
                      </a:pP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6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1968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860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900" spc="-10" dirty="0">
                          <a:latin typeface="Times New Roman"/>
                          <a:cs typeface="Times New Roman"/>
                        </a:rPr>
                        <a:t>Утвердил</a:t>
                      </a: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001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900" dirty="0">
                          <a:latin typeface="Times New Roman"/>
                          <a:cs typeface="Times New Roman"/>
                        </a:rPr>
                        <a:t>Гагарина</a:t>
                      </a:r>
                      <a:r>
                        <a:rPr sz="900" spc="-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900" spc="-20" dirty="0">
                          <a:latin typeface="Times New Roman"/>
                          <a:cs typeface="Times New Roman"/>
                        </a:rPr>
                        <a:t>Л.Г.</a:t>
                      </a: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21" name="Picture 20" descr="A diagram of a company&#10;&#10;AI-generated content may be incorrect.">
            <a:extLst>
              <a:ext uri="{FF2B5EF4-FFF2-40B4-BE49-F238E27FC236}">
                <a16:creationId xmlns:a16="http://schemas.microsoft.com/office/drawing/2014/main" id="{7DC7AC25-A2E3-3B9A-E2B2-2CD06F288B1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14600" y="990600"/>
            <a:ext cx="7658100" cy="5105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35639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object 3">
            <a:extLst>
              <a:ext uri="{FF2B5EF4-FFF2-40B4-BE49-F238E27FC236}">
                <a16:creationId xmlns:a16="http://schemas.microsoft.com/office/drawing/2014/main" id="{0A46C79D-388B-96FD-FB5E-22443A13EC0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45991551"/>
              </p:ext>
            </p:extLst>
          </p:nvPr>
        </p:nvGraphicFramePr>
        <p:xfrm>
          <a:off x="192404" y="139763"/>
          <a:ext cx="11794488" cy="654875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934021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7914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407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8610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4828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5983605">
                <a:tc gridSpan="5">
                  <a:txBody>
                    <a:bodyPr/>
                    <a:lstStyle/>
                    <a:p>
                      <a:pPr marL="175260" algn="ctr">
                        <a:lnSpc>
                          <a:spcPct val="100000"/>
                        </a:lnSpc>
                        <a:spcBef>
                          <a:spcPts val="1595"/>
                        </a:spcBef>
                      </a:pPr>
                      <a:r>
                        <a:rPr lang="ru-RU" sz="3600" dirty="0">
                          <a:latin typeface="Times New Roman"/>
                          <a:cs typeface="Times New Roman"/>
                        </a:rPr>
                        <a:t>Промежуточные результаты работы </a:t>
                      </a:r>
                      <a:endParaRPr sz="3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20256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</a:tcPr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tc h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96545">
                <a:tc rowSpan="2"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22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245"/>
                        </a:spcBef>
                      </a:pPr>
                      <a:r>
                        <a:rPr sz="900" spc="-10" dirty="0">
                          <a:latin typeface="Times New Roman"/>
                          <a:cs typeface="Times New Roman"/>
                        </a:rPr>
                        <a:t>Разработал</a:t>
                      </a: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18415" algn="ctr">
                        <a:lnSpc>
                          <a:spcPts val="1065"/>
                        </a:lnSpc>
                        <a:spcBef>
                          <a:spcPts val="245"/>
                        </a:spcBef>
                      </a:pPr>
                      <a:r>
                        <a:rPr sz="900" spc="-10" dirty="0">
                          <a:latin typeface="Times New Roman"/>
                          <a:cs typeface="Times New Roman"/>
                        </a:rPr>
                        <a:t>Артюшенков</a:t>
                      </a:r>
                      <a:endParaRPr sz="900">
                        <a:latin typeface="Times New Roman"/>
                        <a:cs typeface="Times New Roman"/>
                      </a:endParaRPr>
                    </a:p>
                    <a:p>
                      <a:pPr marL="19050" algn="ctr">
                        <a:lnSpc>
                          <a:spcPts val="925"/>
                        </a:lnSpc>
                      </a:pPr>
                      <a:r>
                        <a:rPr sz="900" spc="-20" dirty="0">
                          <a:latin typeface="Times New Roman"/>
                          <a:cs typeface="Times New Roman"/>
                        </a:rPr>
                        <a:t>А.С.</a:t>
                      </a: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3111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8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7470">
                        <a:lnSpc>
                          <a:spcPct val="100000"/>
                        </a:lnSpc>
                        <a:spcBef>
                          <a:spcPts val="155"/>
                        </a:spcBef>
                      </a:pPr>
                      <a:r>
                        <a:rPr sz="1200" spc="-50" dirty="0">
                          <a:latin typeface="Times New Roman"/>
                          <a:cs typeface="Times New Roman"/>
                        </a:rPr>
                        <a:t>6</a:t>
                      </a:r>
                      <a:endParaRPr sz="1200">
                        <a:latin typeface="Times New Roman"/>
                        <a:cs typeface="Times New Roman"/>
                      </a:endParaRPr>
                    </a:p>
                  </a:txBody>
                  <a:tcPr marL="0" marR="0" marT="19685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68605">
                <a:tc vMerge="1">
                  <a:txBody>
                    <a:bodyPr/>
                    <a:lstStyle/>
                    <a:p>
                      <a:endParaRPr/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B w="1270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75565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900" spc="-10" dirty="0">
                          <a:latin typeface="Times New Roman"/>
                          <a:cs typeface="Times New Roman"/>
                        </a:rPr>
                        <a:t>Утвердил</a:t>
                      </a: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80010">
                        <a:lnSpc>
                          <a:spcPct val="100000"/>
                        </a:lnSpc>
                        <a:spcBef>
                          <a:spcPts val="240"/>
                        </a:spcBef>
                      </a:pPr>
                      <a:r>
                        <a:rPr sz="900" dirty="0">
                          <a:latin typeface="Times New Roman"/>
                          <a:cs typeface="Times New Roman"/>
                        </a:rPr>
                        <a:t>Гагарина</a:t>
                      </a:r>
                      <a:r>
                        <a:rPr sz="900" spc="-45" dirty="0">
                          <a:latin typeface="Times New Roman"/>
                          <a:cs typeface="Times New Roman"/>
                        </a:rPr>
                        <a:t> </a:t>
                      </a:r>
                      <a:r>
                        <a:rPr sz="900" spc="-20" dirty="0">
                          <a:latin typeface="Times New Roman"/>
                          <a:cs typeface="Times New Roman"/>
                        </a:rPr>
                        <a:t>Л.Г.</a:t>
                      </a:r>
                      <a:endParaRPr sz="900">
                        <a:latin typeface="Times New Roman"/>
                        <a:cs typeface="Times New Roman"/>
                      </a:endParaRPr>
                    </a:p>
                  </a:txBody>
                  <a:tcPr marL="0" marR="0" marT="3048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</a:pPr>
                      <a:endParaRPr sz="1600" dirty="0">
                        <a:latin typeface="Times New Roman"/>
                        <a:cs typeface="Times New Roman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12700">
                      <a:solidFill>
                        <a:srgbClr val="000000"/>
                      </a:solidFill>
                      <a:prstDash val="solid"/>
                    </a:lnT>
                    <a:lnB w="28575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pic>
        <p:nvPicPr>
          <p:cNvPr id="5" name="Picture 4">
            <a:extLst>
              <a:ext uri="{FF2B5EF4-FFF2-40B4-BE49-F238E27FC236}">
                <a16:creationId xmlns:a16="http://schemas.microsoft.com/office/drawing/2014/main" id="{F14DE7D9-D54B-4844-55A7-0F9695F86FE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7620" y="855633"/>
            <a:ext cx="4839362" cy="2880573"/>
          </a:xfrm>
          <a:prstGeom prst="rect">
            <a:avLst/>
          </a:prstGeom>
        </p:spPr>
      </p:pic>
      <p:pic>
        <p:nvPicPr>
          <p:cNvPr id="8" name="Picture 7" descr="An aerial view of a city&#10;&#10;AI-generated content may be incorrect.">
            <a:extLst>
              <a:ext uri="{FF2B5EF4-FFF2-40B4-BE49-F238E27FC236}">
                <a16:creationId xmlns:a16="http://schemas.microsoft.com/office/drawing/2014/main" id="{8F250685-1072-6CA2-AF73-DE2D61561A0C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25371" y="3698068"/>
            <a:ext cx="4341257" cy="2602074"/>
          </a:xfrm>
          <a:prstGeom prst="rect">
            <a:avLst/>
          </a:prstGeom>
        </p:spPr>
      </p:pic>
      <p:pic>
        <p:nvPicPr>
          <p:cNvPr id="10" name="Picture 9" descr="An aerial view of a city&#10;&#10;AI-generated content may be incorrect.">
            <a:extLst>
              <a:ext uri="{FF2B5EF4-FFF2-40B4-BE49-F238E27FC236}">
                <a16:creationId xmlns:a16="http://schemas.microsoft.com/office/drawing/2014/main" id="{BDBBA3EC-CB39-A613-C8D6-69B4D966BD31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198640"/>
            <a:ext cx="3657600" cy="2194560"/>
          </a:xfrm>
          <a:prstGeom prst="rect">
            <a:avLst/>
          </a:prstGeom>
        </p:spPr>
      </p:pic>
      <p:cxnSp>
        <p:nvCxnSpPr>
          <p:cNvPr id="13" name="Connector: Curved 12">
            <a:extLst>
              <a:ext uri="{FF2B5EF4-FFF2-40B4-BE49-F238E27FC236}">
                <a16:creationId xmlns:a16="http://schemas.microsoft.com/office/drawing/2014/main" id="{53548820-09A6-C697-154D-0158DE03D37C}"/>
              </a:ext>
            </a:extLst>
          </p:cNvPr>
          <p:cNvCxnSpPr>
            <a:cxnSpLocks/>
          </p:cNvCxnSpPr>
          <p:nvPr/>
        </p:nvCxnSpPr>
        <p:spPr>
          <a:xfrm flipV="1">
            <a:off x="4800600" y="1878360"/>
            <a:ext cx="1600200" cy="775381"/>
          </a:xfrm>
          <a:prstGeom prst="curvedConnector3">
            <a:avLst>
              <a:gd name="adj1" fmla="val 53926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" name="Connector: Curved 14">
            <a:extLst>
              <a:ext uri="{FF2B5EF4-FFF2-40B4-BE49-F238E27FC236}">
                <a16:creationId xmlns:a16="http://schemas.microsoft.com/office/drawing/2014/main" id="{3ED99BA6-1E1E-F2D1-FD1B-ED3D19D121DA}"/>
              </a:ext>
            </a:extLst>
          </p:cNvPr>
          <p:cNvCxnSpPr>
            <a:cxnSpLocks/>
          </p:cNvCxnSpPr>
          <p:nvPr/>
        </p:nvCxnSpPr>
        <p:spPr>
          <a:xfrm rot="5400000">
            <a:off x="8042035" y="4308235"/>
            <a:ext cx="1670532" cy="838198"/>
          </a:xfrm>
          <a:prstGeom prst="curvedConnector3">
            <a:avLst>
              <a:gd name="adj1" fmla="val 99305"/>
            </a:avLst>
          </a:prstGeom>
          <a:ln>
            <a:tailEnd type="triangle"/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D760B06D-C3BD-8A8D-D893-8EF5BABDC560}"/>
              </a:ext>
            </a:extLst>
          </p:cNvPr>
          <p:cNvSpPr txBox="1"/>
          <p:nvPr/>
        </p:nvSpPr>
        <p:spPr>
          <a:xfrm>
            <a:off x="757663" y="3404240"/>
            <a:ext cx="381867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Снимок участка дороги со спутника </a:t>
            </a:r>
            <a:r>
              <a:rPr lang="en-GB" sz="1400" dirty="0"/>
              <a:t>Google</a:t>
            </a:r>
            <a:endParaRPr lang="ru-RU" sz="1400" dirty="0"/>
          </a:p>
        </p:txBody>
      </p:sp>
      <p:sp>
        <p:nvSpPr>
          <p:cNvPr id="35" name="TextBox 34">
            <a:extLst>
              <a:ext uri="{FF2B5EF4-FFF2-40B4-BE49-F238E27FC236}">
                <a16:creationId xmlns:a16="http://schemas.microsoft.com/office/drawing/2014/main" id="{DE38CD51-2308-5A92-653A-99AC3C877B96}"/>
              </a:ext>
            </a:extLst>
          </p:cNvPr>
          <p:cNvSpPr txBox="1"/>
          <p:nvPr/>
        </p:nvSpPr>
        <p:spPr>
          <a:xfrm>
            <a:off x="3414816" y="6311182"/>
            <a:ext cx="536236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1400" dirty="0"/>
              <a:t>Сегментация снимка на различные типы дорожного покрытия</a:t>
            </a:r>
          </a:p>
        </p:txBody>
      </p:sp>
    </p:spTree>
    <p:extLst>
      <p:ext uri="{BB962C8B-B14F-4D97-AF65-F5344CB8AC3E}">
        <p14:creationId xmlns:p14="http://schemas.microsoft.com/office/powerpoint/2010/main" val="17371514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DC3253D8-E36A-A5D5-696C-A209100B0A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7640" y="1066800"/>
            <a:ext cx="8696717" cy="525780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6BCA1B21-77EC-AA59-A816-FA37879E5195}"/>
              </a:ext>
            </a:extLst>
          </p:cNvPr>
          <p:cNvSpPr txBox="1"/>
          <p:nvPr/>
        </p:nvSpPr>
        <p:spPr>
          <a:xfrm>
            <a:off x="160721" y="152400"/>
            <a:ext cx="1187055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6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Оценка эффективности разработанной модели и алгоритма</a:t>
            </a:r>
            <a:endParaRPr lang="ru-RU" sz="3600" b="0" dirty="0"/>
          </a:p>
          <a:p>
            <a:endParaRPr lang="ru-RU" sz="3600" dirty="0"/>
          </a:p>
        </p:txBody>
      </p:sp>
    </p:spTree>
    <p:extLst>
      <p:ext uri="{BB962C8B-B14F-4D97-AF65-F5344CB8AC3E}">
        <p14:creationId xmlns:p14="http://schemas.microsoft.com/office/powerpoint/2010/main" val="3252795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07BBFD27-7FB4-102D-F2F3-955990B86EAB}"/>
              </a:ext>
            </a:extLst>
          </p:cNvPr>
          <p:cNvSpPr txBox="1"/>
          <p:nvPr/>
        </p:nvSpPr>
        <p:spPr>
          <a:xfrm>
            <a:off x="160721" y="152400"/>
            <a:ext cx="11870557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6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Оценка эффективности разработанной модели и алгоритма</a:t>
            </a:r>
            <a:endParaRPr lang="ru-RU" sz="3600" b="0" dirty="0"/>
          </a:p>
          <a:p>
            <a:endParaRPr lang="ru-RU" sz="3600" dirty="0"/>
          </a:p>
        </p:txBody>
      </p:sp>
      <p:pic>
        <p:nvPicPr>
          <p:cNvPr id="5" name="Picture 4" descr="A graph with numbers and a line&#10;&#10;AI-generated content may be incorrect.">
            <a:extLst>
              <a:ext uri="{FF2B5EF4-FFF2-40B4-BE49-F238E27FC236}">
                <a16:creationId xmlns:a16="http://schemas.microsoft.com/office/drawing/2014/main" id="{C5D789C1-E6C7-19CA-CC15-89026032C6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8021" y="914400"/>
            <a:ext cx="5852172" cy="43891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872876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39F77A3-859E-FDF4-9117-AFB75792C3CF}"/>
              </a:ext>
            </a:extLst>
          </p:cNvPr>
          <p:cNvSpPr txBox="1"/>
          <p:nvPr/>
        </p:nvSpPr>
        <p:spPr>
          <a:xfrm>
            <a:off x="1379060" y="304800"/>
            <a:ext cx="958627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ru-RU" sz="3600" b="0" i="0" u="none" strike="noStrike" dirty="0">
                <a:solidFill>
                  <a:srgbClr val="000000"/>
                </a:solidFill>
                <a:effectLst/>
                <a:latin typeface="Times New Roman" panose="02020603050405020304" pitchFamily="18" charset="0"/>
              </a:rPr>
              <a:t>Основные результаты диссертационной работы</a:t>
            </a:r>
            <a:endParaRPr lang="ru-RU" sz="3600" b="0" dirty="0"/>
          </a:p>
          <a:p>
            <a:endParaRPr lang="ru-RU" sz="3600" dirty="0"/>
          </a:p>
        </p:txBody>
      </p:sp>
      <p:sp>
        <p:nvSpPr>
          <p:cNvPr id="12" name="Rectangle 5">
            <a:extLst>
              <a:ext uri="{FF2B5EF4-FFF2-40B4-BE49-F238E27FC236}">
                <a16:creationId xmlns:a16="http://schemas.microsoft.com/office/drawing/2014/main" id="{64F50A44-E53D-D44A-A47A-20E83558643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1000" y="1143000"/>
            <a:ext cx="11125200" cy="507831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285750" lvl="1" indent="-285750" algn="l" rtl="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Разработана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математическая модель логистической системы маршрутизации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учитывающая динамические и стохастические факторы (трафик, погода, покрытие, ДТП). </a:t>
            </a:r>
          </a:p>
          <a:p>
            <a:pPr marL="285750" lvl="1" indent="-285750" algn="l" rtl="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Предложена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предиктивно-оптимизационная модель OPT-2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интегрирующая ML-предсказание времени движения с задачей маршрутизации на графе. </a:t>
            </a:r>
          </a:p>
          <a:p>
            <a:pPr marL="285750" lvl="1" indent="-285750" algn="l" rtl="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Разработана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предиктивная модель оценки времени на ребре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основанная на наборе пространственно-временных признаков. </a:t>
            </a:r>
          </a:p>
          <a:p>
            <a:pPr marL="285750" lvl="1" indent="-285750" algn="l" rtl="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Формализована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вероятностная модель возникновения ДТП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с учётом дорожных и внешних факторов. </a:t>
            </a:r>
          </a:p>
          <a:p>
            <a:pPr marL="285750" lvl="1" indent="-285750" algn="l" rtl="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Разработан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гибридный алгоритм оптимизации маршрутов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сочетающий предиктивное моделирование и стохастическую оптимизацию. </a:t>
            </a:r>
          </a:p>
          <a:p>
            <a:pPr marL="285750" lvl="1" indent="-285750" algn="l" rtl="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Реализована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программная система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подтверждающая применимость предложенного подхода в задачах городской доставки. </a:t>
            </a:r>
          </a:p>
          <a:p>
            <a:pPr marL="285750" lvl="1" indent="-285750" algn="l" rtl="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Проведены </a:t>
            </a:r>
            <a:r>
              <a:rPr kumimoji="0" lang="ru-RU" altLang="ru-RU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экспериментальные исследования</a:t>
            </a: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, показавшие: </a:t>
            </a:r>
          </a:p>
          <a:p>
            <a:pPr marL="285750" lvl="1" indent="-285750" algn="l" rtl="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снижение ошибки прогнозирования времени в пути </a:t>
            </a:r>
          </a:p>
          <a:p>
            <a:pPr marL="285750" lvl="1" indent="-285750" algn="l" rtl="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повышение эффективности маршрутизации </a:t>
            </a:r>
          </a:p>
          <a:p>
            <a:pPr marL="285750" lvl="1" indent="-285750" algn="l" rtl="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kumimoji="0" lang="ru-RU" altLang="ru-RU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устойчивость модели к изменению внешних условий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ru-RU" altLang="ru-RU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25387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F1A475E-2AAB-DE9A-B797-3D04EFDB7D9B}"/>
              </a:ext>
            </a:extLst>
          </p:cNvPr>
          <p:cNvSpPr txBox="1"/>
          <p:nvPr/>
        </p:nvSpPr>
        <p:spPr>
          <a:xfrm>
            <a:off x="2819400" y="3075057"/>
            <a:ext cx="65532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4000" dirty="0"/>
              <a:t>Спасибо за внимание!</a:t>
            </a:r>
          </a:p>
        </p:txBody>
      </p:sp>
    </p:spTree>
    <p:extLst>
      <p:ext uri="{BB962C8B-B14F-4D97-AF65-F5344CB8AC3E}">
        <p14:creationId xmlns:p14="http://schemas.microsoft.com/office/powerpoint/2010/main" val="35441709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172</TotalTime>
  <Words>676</Words>
  <Application>Microsoft Office PowerPoint</Application>
  <PresentationFormat>Widescreen</PresentationFormat>
  <Paragraphs>139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Аналитический обзор существующих методов и средств построения путей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Артур Артюшенков</cp:lastModifiedBy>
  <cp:revision>26</cp:revision>
  <dcterms:created xsi:type="dcterms:W3CDTF">2026-04-21T21:45:20Z</dcterms:created>
  <dcterms:modified xsi:type="dcterms:W3CDTF">2026-04-22T00:38:06Z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2025-06-11T00:00:00Z</vt:filetime>
  </property>
  <property fmtid="{D5CDD505-2E9C-101B-9397-08002B2CF9AE}" pid="3" name="LastSaved">
    <vt:filetime>2026-04-21T00:00:00Z</vt:filetime>
  </property>
</Properties>
</file>