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538969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w="0"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31811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w="0"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1158855" y="6131890"/>
            <a:ext cx="0" cy="586740"/>
          </a:xfrm>
          <a:custGeom>
            <a:avLst/>
            <a:gdLst/>
            <a:ahLst/>
            <a:cxnLst/>
            <a:rect l="l" t="t" r="r" b="b"/>
            <a:pathLst>
              <a:path w="0" h="586740">
                <a:moveTo>
                  <a:pt x="0" y="0"/>
                </a:moveTo>
                <a:lnTo>
                  <a:pt x="0" y="58640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9532619" y="6131890"/>
            <a:ext cx="2466975" cy="586740"/>
          </a:xfrm>
          <a:custGeom>
            <a:avLst/>
            <a:gdLst/>
            <a:ahLst/>
            <a:cxnLst/>
            <a:rect l="l" t="t" r="r" b="b"/>
            <a:pathLst>
              <a:path w="2466975" h="586740">
                <a:moveTo>
                  <a:pt x="2212339" y="0"/>
                </a:moveTo>
                <a:lnTo>
                  <a:pt x="2212339" y="586409"/>
                </a:lnTo>
              </a:path>
              <a:path w="2466975" h="586740">
                <a:moveTo>
                  <a:pt x="0" y="6349"/>
                </a:moveTo>
                <a:lnTo>
                  <a:pt x="2466975" y="6349"/>
                </a:lnTo>
              </a:path>
              <a:path w="2466975" h="586740">
                <a:moveTo>
                  <a:pt x="0" y="303517"/>
                </a:moveTo>
                <a:lnTo>
                  <a:pt x="2466975" y="30351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98754" y="147701"/>
            <a:ext cx="0" cy="6562725"/>
          </a:xfrm>
          <a:custGeom>
            <a:avLst/>
            <a:gdLst/>
            <a:ahLst/>
            <a:cxnLst/>
            <a:rect l="l" t="t" r="r" b="b"/>
            <a:pathLst>
              <a:path w="0" h="6562725">
                <a:moveTo>
                  <a:pt x="0" y="0"/>
                </a:moveTo>
                <a:lnTo>
                  <a:pt x="0" y="65626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92404" y="147701"/>
            <a:ext cx="11807190" cy="6570980"/>
          </a:xfrm>
          <a:custGeom>
            <a:avLst/>
            <a:gdLst/>
            <a:ahLst/>
            <a:cxnLst/>
            <a:rect l="l" t="t" r="r" b="b"/>
            <a:pathLst>
              <a:path w="11807190" h="6570980">
                <a:moveTo>
                  <a:pt x="11800840" y="0"/>
                </a:moveTo>
                <a:lnTo>
                  <a:pt x="11800840" y="6570599"/>
                </a:lnTo>
              </a:path>
              <a:path w="11807190" h="6570980">
                <a:moveTo>
                  <a:pt x="0" y="6350"/>
                </a:moveTo>
                <a:lnTo>
                  <a:pt x="11807190" y="6350"/>
                </a:lnTo>
              </a:path>
              <a:path w="11807190" h="6570980">
                <a:moveTo>
                  <a:pt x="0" y="6556311"/>
                </a:moveTo>
                <a:lnTo>
                  <a:pt x="9340215" y="655631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9532620" y="6704012"/>
            <a:ext cx="2466975" cy="0"/>
          </a:xfrm>
          <a:custGeom>
            <a:avLst/>
            <a:gdLst/>
            <a:ahLst/>
            <a:cxnLst/>
            <a:rect l="l" t="t" r="r" b="b"/>
            <a:pathLst>
              <a:path w="2466975" h="0">
                <a:moveTo>
                  <a:pt x="0" y="0"/>
                </a:moveTo>
                <a:lnTo>
                  <a:pt x="246697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3" name="bg 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1181100"/>
            <a:ext cx="4581525" cy="4705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5140" y="353060"/>
            <a:ext cx="11397615" cy="449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10377" y="1209547"/>
            <a:ext cx="5495290" cy="46551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85420" y="137858"/>
          <a:ext cx="11883390" cy="6549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37040"/>
                <a:gridCol w="782320"/>
                <a:gridCol w="840740"/>
                <a:gridCol w="586104"/>
                <a:gridCol w="248284"/>
              </a:tblGrid>
              <a:tr h="5984240">
                <a:tc gridSpan="5">
                  <a:txBody>
                    <a:bodyPr/>
                    <a:lstStyle/>
                    <a:p>
                      <a:pPr algn="ctr" marL="2072639" marR="2058035">
                        <a:lnSpc>
                          <a:spcPct val="101400"/>
                        </a:lnSpc>
                        <a:spcBef>
                          <a:spcPts val="1705"/>
                        </a:spcBef>
                        <a:tabLst>
                          <a:tab pos="5383530" algn="l"/>
                        </a:tabLst>
                      </a:pPr>
                      <a:r>
                        <a:rPr dirty="0" sz="3950">
                          <a:latin typeface="Times New Roman"/>
                          <a:cs typeface="Times New Roman"/>
                        </a:rPr>
                        <a:t>Исследование</a:t>
                      </a:r>
                      <a:r>
                        <a:rPr dirty="0" sz="39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3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разработка предиктивной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	модели</a:t>
                      </a:r>
                      <a:r>
                        <a:rPr dirty="0" sz="3950" spc="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395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алгоритма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логистической</a:t>
                      </a:r>
                      <a:r>
                        <a:rPr dirty="0" sz="39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системы</a:t>
                      </a:r>
                      <a:r>
                        <a:rPr dirty="0" sz="3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перевозки</a:t>
                      </a: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algn="ctr" marL="8255">
                        <a:lnSpc>
                          <a:spcPts val="2865"/>
                        </a:lnSpc>
                        <a:spcBef>
                          <a:spcPts val="244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Диссертация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соискание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квалификации</a:t>
                      </a:r>
                      <a:r>
                        <a:rPr dirty="0" sz="2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магистра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техники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algn="ctr" marL="15240">
                        <a:lnSpc>
                          <a:spcPts val="286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технологий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191125" marR="2594610" indent="-2566035">
                        <a:lnSpc>
                          <a:spcPct val="133000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dirty="0" sz="2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подготовки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09.04.04.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Программная инженерия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1609090" marR="1958339" indent="498475">
                        <a:lnSpc>
                          <a:spcPct val="130400"/>
                        </a:lnSpc>
                        <a:spcBef>
                          <a:spcPts val="7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Соискатель: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магистрант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Артюшенков</a:t>
                      </a:r>
                      <a:r>
                        <a:rPr dirty="0" sz="2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Артур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Сергеевич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Научный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руководитель: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д.т.н.,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профессор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института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СПИНТех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766185">
                        <a:lnSpc>
                          <a:spcPct val="100000"/>
                        </a:lnSpc>
                        <a:spcBef>
                          <a:spcPts val="95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Лариса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Геннадьевна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65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71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065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Артюшенков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685">
                        <a:lnSpc>
                          <a:spcPts val="925"/>
                        </a:lnSpc>
                      </a:pP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А.С.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1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Утвердил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Л.Г.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85420" y="137858"/>
          <a:ext cx="11883390" cy="6549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215"/>
                <a:gridCol w="779145"/>
                <a:gridCol w="840740"/>
                <a:gridCol w="586104"/>
                <a:gridCol w="248284"/>
              </a:tblGrid>
              <a:tr h="5984240">
                <a:tc gridSpan="5">
                  <a:txBody>
                    <a:bodyPr/>
                    <a:lstStyle/>
                    <a:p>
                      <a:pPr marL="1614805">
                        <a:lnSpc>
                          <a:spcPct val="100000"/>
                        </a:lnSpc>
                        <a:spcBef>
                          <a:spcPts val="2195"/>
                        </a:spcBef>
                      </a:pPr>
                      <a:r>
                        <a:rPr dirty="0" sz="3950">
                          <a:latin typeface="Times New Roman"/>
                          <a:cs typeface="Times New Roman"/>
                        </a:rPr>
                        <a:t>Проблемная</a:t>
                      </a:r>
                      <a:r>
                        <a:rPr dirty="0" sz="3950" spc="9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ситуация</a:t>
                      </a:r>
                      <a:r>
                        <a:rPr dirty="0" sz="3950" spc="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3950" spc="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области</a:t>
                      </a: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4516120">
                        <a:lnSpc>
                          <a:spcPct val="100000"/>
                        </a:lnSpc>
                        <a:spcBef>
                          <a:spcPts val="440"/>
                        </a:spcBef>
                      </a:pPr>
                      <a:r>
                        <a:rPr dirty="0" sz="3950">
                          <a:latin typeface="Times New Roman"/>
                          <a:cs typeface="Times New Roman"/>
                        </a:rPr>
                        <a:t>объекта</a:t>
                      </a:r>
                      <a:r>
                        <a:rPr dirty="0" sz="395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исследования</a:t>
                      </a: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264795" marR="1993264">
                        <a:lnSpc>
                          <a:spcPct val="101699"/>
                        </a:lnSpc>
                        <a:spcBef>
                          <a:spcPts val="164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Низкая</a:t>
                      </a:r>
                      <a:r>
                        <a:rPr dirty="0" sz="2400" spc="-114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скорость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отображения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информации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относительно</a:t>
                      </a:r>
                      <a:r>
                        <a:rPr dirty="0" sz="2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загруженности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транспортных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путей.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Причины</a:t>
                      </a:r>
                      <a:r>
                        <a:rPr dirty="0" sz="24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сложившейся</a:t>
                      </a:r>
                      <a:r>
                        <a:rPr dirty="0" sz="2400" spc="-2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ситуации: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889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342900" algn="l"/>
                        </a:tabLst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Отсутствие моделей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Vehicle Routing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Problem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(VRP)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200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динамическими</a:t>
                      </a:r>
                      <a:r>
                        <a:rPr dirty="0" sz="20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параметрами.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1205"/>
                        </a:spcBef>
                        <a:buAutoNum type="arabicPeriod"/>
                        <a:tabLst>
                          <a:tab pos="342900" algn="l"/>
                        </a:tabLst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Отсутствие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алгоритмов,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сочетающих</a:t>
                      </a:r>
                      <a:r>
                        <a:rPr dirty="0" sz="20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скорость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пересчета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маршрут и</a:t>
                      </a:r>
                      <a:r>
                        <a:rPr dirty="0" sz="20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адаптивность</a:t>
                      </a:r>
                      <a:r>
                        <a:rPr dirty="0" sz="20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dirty="0" sz="20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динамике.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marL="342900" indent="-342900">
                        <a:lnSpc>
                          <a:spcPct val="100000"/>
                        </a:lnSpc>
                        <a:spcBef>
                          <a:spcPts val="1205"/>
                        </a:spcBef>
                        <a:buAutoNum type="arabicPeriod"/>
                        <a:tabLst>
                          <a:tab pos="342900" algn="l"/>
                        </a:tabLst>
                      </a:pPr>
                      <a:r>
                        <a:rPr dirty="0" sz="2000">
                          <a:latin typeface="Times New Roman"/>
                          <a:cs typeface="Times New Roman"/>
                        </a:rPr>
                        <a:t>Отсутствие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специализированного</a:t>
                      </a:r>
                      <a:r>
                        <a:rPr dirty="0" sz="20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ПО,</a:t>
                      </a:r>
                      <a:r>
                        <a:rPr dirty="0" sz="20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интегрирующего</a:t>
                      </a:r>
                      <a:r>
                        <a:rPr dirty="0" sz="20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локальные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данные</a:t>
                      </a:r>
                      <a:r>
                        <a:rPr dirty="0" sz="20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(API</a:t>
                      </a:r>
                      <a:r>
                        <a:rPr dirty="0" sz="20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>
                          <a:latin typeface="Times New Roman"/>
                          <a:cs typeface="Times New Roman"/>
                        </a:rPr>
                        <a:t>трафика,</a:t>
                      </a:r>
                      <a:r>
                        <a:rPr dirty="0" sz="20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000" spc="-10">
                          <a:latin typeface="Times New Roman"/>
                          <a:cs typeface="Times New Roman"/>
                        </a:rPr>
                        <a:t>GPS).</a:t>
                      </a: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787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6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065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Артюшенков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685">
                        <a:lnSpc>
                          <a:spcPts val="925"/>
                        </a:lnSpc>
                      </a:pP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А.С.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2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8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Утвердил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Л.Г.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85420" y="137858"/>
          <a:ext cx="11883390" cy="6549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215"/>
                <a:gridCol w="779145"/>
                <a:gridCol w="840740"/>
                <a:gridCol w="586104"/>
                <a:gridCol w="248284"/>
              </a:tblGrid>
              <a:tr h="5984240">
                <a:tc gridSpan="5">
                  <a:txBody>
                    <a:bodyPr/>
                    <a:lstStyle/>
                    <a:p>
                      <a:pPr algn="ctr" marL="46355">
                        <a:lnSpc>
                          <a:spcPct val="100000"/>
                        </a:lnSpc>
                        <a:spcBef>
                          <a:spcPts val="1700"/>
                        </a:spcBef>
                      </a:pPr>
                      <a:r>
                        <a:rPr dirty="0" sz="3950">
                          <a:latin typeface="Times New Roman"/>
                          <a:cs typeface="Times New Roman"/>
                        </a:rPr>
                        <a:t>Цель</a:t>
                      </a:r>
                      <a:r>
                        <a:rPr dirty="0" sz="3950" spc="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3950" spc="-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задачи</a:t>
                      </a:r>
                      <a:r>
                        <a:rPr dirty="0" sz="3950" spc="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диссертации</a:t>
                      </a: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  <a:spcBef>
                          <a:spcPts val="1470"/>
                        </a:spcBef>
                        <a:tabLst>
                          <a:tab pos="5191760" algn="l"/>
                        </a:tabLst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Цель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работы:</a:t>
                      </a:r>
                      <a:r>
                        <a:rPr dirty="0" sz="2400" spc="-8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Повышение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скорости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отображения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точности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информации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относительно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загруженности</a:t>
                      </a:r>
                      <a:r>
                        <a:rPr dirty="0" sz="2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трафика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2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дороге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учетом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динамических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параметров.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264795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Задачи</a:t>
                      </a:r>
                      <a:r>
                        <a:rPr dirty="0" sz="2400" spc="1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работы: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7060" marR="69215" indent="-342265">
                        <a:lnSpc>
                          <a:spcPts val="2850"/>
                        </a:lnSpc>
                        <a:spcBef>
                          <a:spcPts val="170"/>
                        </a:spcBef>
                        <a:buAutoNum type="arabicPeriod"/>
                        <a:tabLst>
                          <a:tab pos="608330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Аналитический</a:t>
                      </a:r>
                      <a:r>
                        <a:rPr dirty="0" sz="24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обзор</a:t>
                      </a:r>
                      <a:r>
                        <a:rPr dirty="0" sz="24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существующих</a:t>
                      </a:r>
                      <a:r>
                        <a:rPr dirty="0" sz="24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моделей,</a:t>
                      </a:r>
                      <a:r>
                        <a:rPr dirty="0" sz="2400" spc="3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3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методов,</a:t>
                      </a:r>
                      <a:r>
                        <a:rPr dirty="0" sz="2400" spc="3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3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специализированного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2400" spc="-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для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построения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маршрута.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7060" indent="-342265">
                        <a:lnSpc>
                          <a:spcPts val="2770"/>
                        </a:lnSpc>
                        <a:buAutoNum type="arabicPeriod"/>
                        <a:tabLst>
                          <a:tab pos="607060" algn="l"/>
                          <a:tab pos="2701290" algn="l"/>
                          <a:tab pos="3744595" algn="l"/>
                          <a:tab pos="5426075" algn="l"/>
                          <a:tab pos="6777990" algn="l"/>
                          <a:tab pos="8260715" algn="l"/>
                          <a:tab pos="8603615" algn="l"/>
                          <a:tab pos="9970770" algn="l"/>
                        </a:tabLst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Формализация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задачи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повышения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скорости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перевозок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точности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предсказания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8330">
                        <a:lnSpc>
                          <a:spcPts val="2865"/>
                        </a:lnSpc>
                        <a:spcBef>
                          <a:spcPts val="5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затраченного</a:t>
                      </a:r>
                      <a:r>
                        <a:rPr dirty="0" sz="24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времени.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7060" indent="-342265">
                        <a:lnSpc>
                          <a:spcPts val="2865"/>
                        </a:lnSpc>
                        <a:buAutoNum type="arabicPeriod" startAt="3"/>
                        <a:tabLst>
                          <a:tab pos="607060" algn="l"/>
                          <a:tab pos="2244725" algn="l"/>
                          <a:tab pos="3396615" algn="l"/>
                          <a:tab pos="3759200" algn="l"/>
                          <a:tab pos="5302250" algn="l"/>
                          <a:tab pos="6992620" algn="l"/>
                          <a:tab pos="8720455" algn="l"/>
                          <a:tab pos="10553700" algn="l"/>
                        </a:tabLst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Разработка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модели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алгоритма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построения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маршрутов,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сочетающий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высокую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8330">
                        <a:lnSpc>
                          <a:spcPts val="2865"/>
                        </a:lnSpc>
                        <a:spcBef>
                          <a:spcPts val="5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скорость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вычислений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адаптивность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изменениям</a:t>
                      </a:r>
                      <a:r>
                        <a:rPr dirty="0" sz="2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условий.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7060" indent="-342265">
                        <a:lnSpc>
                          <a:spcPts val="2855"/>
                        </a:lnSpc>
                        <a:buAutoNum type="arabicPeriod" startAt="4"/>
                        <a:tabLst>
                          <a:tab pos="607060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Программная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реализация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модели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алгоритма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синтетических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реальных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данных.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607060" indent="-342265">
                        <a:lnSpc>
                          <a:spcPts val="2865"/>
                        </a:lnSpc>
                        <a:buAutoNum type="arabicPeriod" startAt="4"/>
                        <a:tabLst>
                          <a:tab pos="607060" algn="l"/>
                        </a:tabLst>
                      </a:pP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Экспериментальные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исследования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верификация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полученных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результатов.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159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718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065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Артюшенков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685">
                        <a:lnSpc>
                          <a:spcPts val="925"/>
                        </a:lnSpc>
                      </a:pP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А.С.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3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797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Утвердил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Л.Г.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185420" y="137858"/>
          <a:ext cx="11883390" cy="6549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215"/>
                <a:gridCol w="779145"/>
                <a:gridCol w="840740"/>
                <a:gridCol w="586104"/>
                <a:gridCol w="248284"/>
              </a:tblGrid>
              <a:tr h="5984240">
                <a:tc gridSpan="5">
                  <a:txBody>
                    <a:bodyPr/>
                    <a:lstStyle/>
                    <a:p>
                      <a:pPr algn="ctr" marL="175895">
                        <a:lnSpc>
                          <a:spcPct val="100000"/>
                        </a:lnSpc>
                        <a:spcBef>
                          <a:spcPts val="1775"/>
                        </a:spcBef>
                      </a:pPr>
                      <a:r>
                        <a:rPr dirty="0" sz="395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3950" spc="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>
                          <a:latin typeface="Times New Roman"/>
                          <a:cs typeface="Times New Roman"/>
                        </a:rPr>
                        <a:t>защиту</a:t>
                      </a:r>
                      <a:r>
                        <a:rPr dirty="0" sz="3950" spc="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950" spc="-10">
                          <a:latin typeface="Times New Roman"/>
                          <a:cs typeface="Times New Roman"/>
                        </a:rPr>
                        <a:t>выносятся</a:t>
                      </a: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3950">
                        <a:latin typeface="Times New Roman"/>
                        <a:cs typeface="Times New Roman"/>
                      </a:endParaRPr>
                    </a:p>
                    <a:p>
                      <a:pPr marL="342265" indent="-342265">
                        <a:lnSpc>
                          <a:spcPts val="2865"/>
                        </a:lnSpc>
                        <a:spcBef>
                          <a:spcPts val="5"/>
                        </a:spcBef>
                        <a:buAutoNum type="arabicPeriod"/>
                        <a:tabLst>
                          <a:tab pos="342265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Разработанная</a:t>
                      </a:r>
                      <a:r>
                        <a:rPr dirty="0" sz="2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математическая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модель</a:t>
                      </a:r>
                      <a:r>
                        <a:rPr dirty="0" sz="2400" spc="-10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логистической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системы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перевозки,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2900">
                        <a:lnSpc>
                          <a:spcPts val="286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учитывающая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динамические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факторы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(трафик,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неопределённость),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обеспечивает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2900">
                        <a:lnSpc>
                          <a:spcPts val="2865"/>
                        </a:lnSpc>
                        <a:spcBef>
                          <a:spcPts val="50"/>
                        </a:spcBef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повышение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эффективности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маршрутизации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сравнению</a:t>
                      </a:r>
                      <a:r>
                        <a:rPr dirty="0" sz="2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традиционными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2900">
                        <a:lnSpc>
                          <a:spcPts val="2865"/>
                        </a:lnSpc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статическими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моделями.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1630" marR="188595" indent="-342265">
                        <a:lnSpc>
                          <a:spcPct val="99100"/>
                        </a:lnSpc>
                        <a:spcBef>
                          <a:spcPts val="75"/>
                        </a:spcBef>
                        <a:buAutoNum type="arabicPeriod" startAt="2"/>
                        <a:tabLst>
                          <a:tab pos="342900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Предложенный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гибридный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алгоритм</a:t>
                      </a:r>
                      <a:r>
                        <a:rPr dirty="0" sz="2400" spc="-9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оптимизации,</a:t>
                      </a:r>
                      <a:r>
                        <a:rPr dirty="0" sz="2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сочетающий</a:t>
                      </a:r>
                      <a:r>
                        <a:rPr dirty="0" sz="24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генетический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подход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локальную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оптимизацию,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обладает</a:t>
                      </a:r>
                      <a:r>
                        <a:rPr dirty="0" sz="2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адаптивностью</a:t>
                      </a:r>
                      <a:r>
                        <a:rPr dirty="0" sz="2400" spc="-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к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реальным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условиям</a:t>
                      </a:r>
                      <a:r>
                        <a:rPr dirty="0" sz="240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и 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сниженной</a:t>
                      </a:r>
                      <a:r>
                        <a:rPr dirty="0" sz="2400" spc="-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вычислительной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сложностью.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1630" marR="732790" indent="-342265">
                        <a:lnSpc>
                          <a:spcPct val="100400"/>
                        </a:lnSpc>
                        <a:spcBef>
                          <a:spcPts val="35"/>
                        </a:spcBef>
                        <a:buAutoNum type="arabicPeriod" startAt="2"/>
                        <a:tabLst>
                          <a:tab pos="342900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Программная</a:t>
                      </a:r>
                      <a:r>
                        <a:rPr dirty="0" sz="2400" spc="-1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реализация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разработанного</a:t>
                      </a:r>
                      <a:r>
                        <a:rPr dirty="0" sz="2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решения</a:t>
                      </a:r>
                      <a:r>
                        <a:rPr dirty="0" sz="24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демонстрирует</a:t>
                      </a:r>
                      <a:r>
                        <a:rPr dirty="0" sz="2400" spc="-7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практическую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применимость</a:t>
                      </a:r>
                      <a:r>
                        <a:rPr dirty="0" sz="2400" spc="-8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dirty="0" sz="2400" spc="3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достижение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поставленных</a:t>
                      </a:r>
                      <a:r>
                        <a:rPr dirty="0" sz="2400" spc="-3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целей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примере</a:t>
                      </a:r>
                      <a:r>
                        <a:rPr dirty="0" sz="2400" spc="-5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городской</a:t>
                      </a:r>
                      <a:r>
                        <a:rPr dirty="0" sz="24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доставки 	грузов.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42265" indent="-342265">
                        <a:lnSpc>
                          <a:spcPts val="2855"/>
                        </a:lnSpc>
                        <a:buAutoNum type="arabicPeriod" startAt="2"/>
                        <a:tabLst>
                          <a:tab pos="342265" algn="l"/>
                        </a:tabLst>
                      </a:pPr>
                      <a:r>
                        <a:rPr dirty="0" sz="2400">
                          <a:latin typeface="Times New Roman"/>
                          <a:cs typeface="Times New Roman"/>
                        </a:rPr>
                        <a:t>Результаты</a:t>
                      </a:r>
                      <a:r>
                        <a:rPr dirty="0" sz="2400" spc="-11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>
                          <a:latin typeface="Times New Roman"/>
                          <a:cs typeface="Times New Roman"/>
                        </a:rPr>
                        <a:t>экспериментальных</a:t>
                      </a:r>
                      <a:r>
                        <a:rPr dirty="0" sz="24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>
                          <a:latin typeface="Times New Roman"/>
                          <a:cs typeface="Times New Roman"/>
                        </a:rPr>
                        <a:t>исследований.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2542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6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065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Артюшенков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685">
                        <a:lnSpc>
                          <a:spcPts val="925"/>
                        </a:lnSpc>
                      </a:pP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А.С.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1200" spc="-50" b="1">
                          <a:latin typeface="Times New Roman"/>
                          <a:cs typeface="Times New Roman"/>
                        </a:rPr>
                        <a:t>4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8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Утвердил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6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900" spc="-4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Л.Г.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/>
              <a:t>Аналитический</a:t>
            </a:r>
            <a:r>
              <a:rPr dirty="0" spc="85"/>
              <a:t> </a:t>
            </a:r>
            <a:r>
              <a:rPr dirty="0"/>
              <a:t>обзор</a:t>
            </a:r>
            <a:r>
              <a:rPr dirty="0" spc="120"/>
              <a:t> </a:t>
            </a:r>
            <a:r>
              <a:rPr dirty="0"/>
              <a:t>существующих</a:t>
            </a:r>
            <a:r>
              <a:rPr dirty="0" spc="120"/>
              <a:t> </a:t>
            </a:r>
            <a:r>
              <a:rPr dirty="0"/>
              <a:t>методов</a:t>
            </a:r>
            <a:r>
              <a:rPr dirty="0" spc="120"/>
              <a:t> </a:t>
            </a:r>
            <a:r>
              <a:rPr dirty="0"/>
              <a:t>и</a:t>
            </a:r>
            <a:r>
              <a:rPr dirty="0" spc="95"/>
              <a:t> </a:t>
            </a:r>
            <a:r>
              <a:rPr dirty="0"/>
              <a:t>средств</a:t>
            </a:r>
            <a:r>
              <a:rPr dirty="0" spc="195"/>
              <a:t> </a:t>
            </a:r>
            <a:r>
              <a:rPr dirty="0"/>
              <a:t>построения</a:t>
            </a:r>
            <a:r>
              <a:rPr dirty="0" spc="160"/>
              <a:t> </a:t>
            </a:r>
            <a:r>
              <a:rPr dirty="0" spc="-10"/>
              <a:t>путей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602216" y="6156642"/>
            <a:ext cx="568325" cy="163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Разработал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0412983" y="6156642"/>
            <a:ext cx="670560" cy="296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065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Артюшенков</a:t>
            </a:r>
            <a:endParaRPr sz="900">
              <a:latin typeface="Times New Roman"/>
              <a:cs typeface="Times New Roman"/>
            </a:endParaRPr>
          </a:p>
          <a:p>
            <a:pPr algn="ctr">
              <a:lnSpc>
                <a:spcPts val="1065"/>
              </a:lnSpc>
            </a:pPr>
            <a:r>
              <a:rPr dirty="0" sz="900" spc="-20">
                <a:latin typeface="Times New Roman"/>
                <a:cs typeface="Times New Roman"/>
              </a:rPr>
              <a:t>А.С.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809983" y="6145212"/>
            <a:ext cx="10223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9602216" y="6453504"/>
            <a:ext cx="4921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latin typeface="Times New Roman"/>
                <a:cs typeface="Times New Roman"/>
              </a:rPr>
              <a:t>Утвердил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0386059" y="6453504"/>
            <a:ext cx="7016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latin typeface="Times New Roman"/>
                <a:cs typeface="Times New Roman"/>
              </a:rPr>
              <a:t>Гагарина</a:t>
            </a:r>
            <a:r>
              <a:rPr dirty="0" sz="900" spc="-45">
                <a:latin typeface="Times New Roman"/>
                <a:cs typeface="Times New Roman"/>
              </a:rPr>
              <a:t> </a:t>
            </a:r>
            <a:r>
              <a:rPr dirty="0" sz="900" spc="-20">
                <a:latin typeface="Times New Roman"/>
                <a:cs typeface="Times New Roman"/>
              </a:rPr>
              <a:t>Л.Г.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604010" y="6001384"/>
            <a:ext cx="19558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i="1">
                <a:latin typeface="Times New Roman"/>
                <a:cs typeface="Times New Roman"/>
              </a:rPr>
              <a:t>Сравнение</a:t>
            </a:r>
            <a:r>
              <a:rPr dirty="0" sz="1800" spc="-85" i="1">
                <a:latin typeface="Times New Roman"/>
                <a:cs typeface="Times New Roman"/>
              </a:rPr>
              <a:t> </a:t>
            </a:r>
            <a:r>
              <a:rPr dirty="0" sz="1800" spc="-10" i="1">
                <a:latin typeface="Times New Roman"/>
                <a:cs typeface="Times New Roman"/>
              </a:rPr>
              <a:t>методов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842127" y="1203197"/>
            <a:ext cx="5431790" cy="4669790"/>
          </a:xfrm>
          <a:custGeom>
            <a:avLst/>
            <a:gdLst/>
            <a:ahLst/>
            <a:cxnLst/>
            <a:rect l="l" t="t" r="r" b="b"/>
            <a:pathLst>
              <a:path w="5431790" h="4669790">
                <a:moveTo>
                  <a:pt x="1812544" y="0"/>
                </a:moveTo>
                <a:lnTo>
                  <a:pt x="1812544" y="4669421"/>
                </a:lnTo>
              </a:path>
              <a:path w="5431790" h="4669790">
                <a:moveTo>
                  <a:pt x="3618738" y="0"/>
                </a:moveTo>
                <a:lnTo>
                  <a:pt x="3618738" y="4669421"/>
                </a:lnTo>
              </a:path>
              <a:path w="5431790" h="4669790">
                <a:moveTo>
                  <a:pt x="0" y="721994"/>
                </a:moveTo>
                <a:lnTo>
                  <a:pt x="5431408" y="721994"/>
                </a:lnTo>
              </a:path>
              <a:path w="5431790" h="4669790">
                <a:moveTo>
                  <a:pt x="0" y="1437766"/>
                </a:moveTo>
                <a:lnTo>
                  <a:pt x="5431408" y="1437766"/>
                </a:lnTo>
              </a:path>
              <a:path w="5431790" h="4669790">
                <a:moveTo>
                  <a:pt x="0" y="2153412"/>
                </a:moveTo>
                <a:lnTo>
                  <a:pt x="5431408" y="2153412"/>
                </a:lnTo>
              </a:path>
              <a:path w="5431790" h="4669790">
                <a:moveTo>
                  <a:pt x="0" y="2869184"/>
                </a:moveTo>
                <a:lnTo>
                  <a:pt x="5431408" y="2869184"/>
                </a:lnTo>
              </a:path>
              <a:path w="5431790" h="4669790">
                <a:moveTo>
                  <a:pt x="0" y="3600704"/>
                </a:moveTo>
                <a:lnTo>
                  <a:pt x="5431408" y="3600704"/>
                </a:lnTo>
              </a:path>
              <a:path w="5431790" h="4669790">
                <a:moveTo>
                  <a:pt x="0" y="4316476"/>
                </a:moveTo>
                <a:lnTo>
                  <a:pt x="5431408" y="4316476"/>
                </a:lnTo>
              </a:path>
              <a:path w="5431790" h="4669790">
                <a:moveTo>
                  <a:pt x="6350" y="0"/>
                </a:moveTo>
                <a:lnTo>
                  <a:pt x="6350" y="4669421"/>
                </a:lnTo>
              </a:path>
              <a:path w="5431790" h="4669790">
                <a:moveTo>
                  <a:pt x="5425058" y="0"/>
                </a:moveTo>
                <a:lnTo>
                  <a:pt x="5425058" y="4669421"/>
                </a:lnTo>
              </a:path>
              <a:path w="5431790" h="4669790">
                <a:moveTo>
                  <a:pt x="0" y="6350"/>
                </a:moveTo>
                <a:lnTo>
                  <a:pt x="5431408" y="6350"/>
                </a:lnTo>
              </a:path>
              <a:path w="5431790" h="4669790">
                <a:moveTo>
                  <a:pt x="0" y="4663071"/>
                </a:moveTo>
                <a:lnTo>
                  <a:pt x="5431408" y="466307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5848477" y="1209547"/>
          <a:ext cx="5495290" cy="46551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05939"/>
                <a:gridCol w="1805939"/>
                <a:gridCol w="1805939"/>
              </a:tblGrid>
              <a:tr h="71501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Название</a:t>
                      </a:r>
                      <a:r>
                        <a:rPr dirty="0" sz="14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5" b="1">
                          <a:latin typeface="Times New Roman"/>
                          <a:cs typeface="Times New Roman"/>
                        </a:rPr>
                        <a:t>ПО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ts val="1664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Учёт</a:t>
                      </a: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динамических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7155">
                        <a:lnSpc>
                          <a:spcPts val="1664"/>
                        </a:lnSpc>
                      </a:pP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параметров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1664"/>
                        </a:lnSpc>
                        <a:spcBef>
                          <a:spcPts val="325"/>
                        </a:spcBef>
                      </a:pPr>
                      <a:r>
                        <a:rPr dirty="0" sz="1400" b="1">
                          <a:latin typeface="Times New Roman"/>
                          <a:cs typeface="Times New Roman"/>
                        </a:rPr>
                        <a:t>Точность</a:t>
                      </a:r>
                      <a:r>
                        <a:rPr dirty="0" sz="1400" spc="-10" b="1">
                          <a:latin typeface="Times New Roman"/>
                          <a:cs typeface="Times New Roman"/>
                        </a:rPr>
                        <a:t> работы,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ts val="1664"/>
                        </a:lnSpc>
                      </a:pPr>
                      <a:r>
                        <a:rPr dirty="0" sz="1400" spc="-50" b="1">
                          <a:latin typeface="Times New Roman"/>
                          <a:cs typeface="Times New Roman"/>
                        </a:rPr>
                        <a:t>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1275"/>
                </a:tc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Google</a:t>
                      </a: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Maps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18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19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dirty="0" sz="1400" spc="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dirty="0" sz="14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11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95%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180"/>
                </a:tc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Yandex.Navigator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0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24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94%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4450"/>
                </a:tc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Apple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Maps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72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0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30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92%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5720"/>
                </a:tc>
              </a:tr>
              <a:tr h="7315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Waze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/>
                </a:tc>
                <a:tc>
                  <a:txBody>
                    <a:bodyPr/>
                    <a:lstStyle/>
                    <a:p>
                      <a:pPr marL="97155" marR="294640">
                        <a:lnSpc>
                          <a:spcPct val="100600"/>
                        </a:lnSpc>
                        <a:spcBef>
                          <a:spcPts val="34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работы, аварии)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38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96%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53975"/>
                </a:tc>
              </a:tr>
              <a:tr h="71564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588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HERE</a:t>
                      </a:r>
                      <a:r>
                        <a:rPr dirty="0" sz="1400" spc="-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20">
                          <a:latin typeface="Times New Roman"/>
                          <a:cs typeface="Times New Roman"/>
                        </a:rPr>
                        <a:t>WeGo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/>
                </a:tc>
                <a:tc>
                  <a:txBody>
                    <a:bodyPr/>
                    <a:lstStyle/>
                    <a:p>
                      <a:pPr marL="97155" marR="279400">
                        <a:lnSpc>
                          <a:spcPts val="1650"/>
                        </a:lnSpc>
                        <a:spcBef>
                          <a:spcPts val="1220"/>
                        </a:spcBef>
                      </a:pPr>
                      <a:r>
                        <a:rPr dirty="0" sz="1400">
                          <a:latin typeface="Times New Roman"/>
                          <a:cs typeface="Times New Roman"/>
                        </a:rPr>
                        <a:t>Да</a:t>
                      </a:r>
                      <a:r>
                        <a:rPr dirty="0" sz="1400" spc="2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(пробки, </a:t>
                      </a:r>
                      <a:r>
                        <a:rPr dirty="0" sz="1400">
                          <a:latin typeface="Times New Roman"/>
                          <a:cs typeface="Times New Roman"/>
                        </a:rPr>
                        <a:t>дорожные</a:t>
                      </a:r>
                      <a:r>
                        <a:rPr dirty="0" sz="14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работы)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549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842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93%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6990"/>
                </a:tc>
              </a:tr>
              <a:tr h="34607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400" spc="-10">
                          <a:latin typeface="Times New Roman"/>
                          <a:cs typeface="Times New Roman"/>
                        </a:rPr>
                        <a:t>MapQuest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Нет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dirty="0" sz="1400" spc="-25">
                          <a:latin typeface="Times New Roman"/>
                          <a:cs typeface="Times New Roman"/>
                        </a:rPr>
                        <a:t>85%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67945"/>
                </a:tc>
              </a:tr>
            </a:tbl>
          </a:graphicData>
        </a:graphic>
      </p:graphicFrame>
      <p:sp>
        <p:nvSpPr>
          <p:cNvPr id="11" name="object 11" descr=""/>
          <p:cNvSpPr txBox="1"/>
          <p:nvPr/>
        </p:nvSpPr>
        <p:spPr>
          <a:xfrm>
            <a:off x="7837805" y="6001384"/>
            <a:ext cx="14376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Сравнение</a:t>
            </a:r>
            <a:r>
              <a:rPr dirty="0" sz="1800" spc="-50" i="1">
                <a:latin typeface="Times New Roman"/>
                <a:cs typeface="Times New Roman"/>
              </a:rPr>
              <a:t> </a:t>
            </a:r>
            <a:r>
              <a:rPr dirty="0" sz="1800" spc="-25" i="1">
                <a:latin typeface="Times New Roman"/>
                <a:cs typeface="Times New Roman"/>
              </a:rPr>
              <a:t>ПО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6343" y="1525010"/>
            <a:ext cx="3178968" cy="584705"/>
          </a:xfrm>
          <a:prstGeom prst="rect">
            <a:avLst/>
          </a:prstGeom>
        </p:spPr>
      </p:pic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192404" y="139763"/>
          <a:ext cx="11883390" cy="65487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40215"/>
                <a:gridCol w="779145"/>
                <a:gridCol w="840740"/>
                <a:gridCol w="586104"/>
                <a:gridCol w="248284"/>
              </a:tblGrid>
              <a:tr h="5983605">
                <a:tc gridSpan="5">
                  <a:txBody>
                    <a:bodyPr/>
                    <a:lstStyle/>
                    <a:p>
                      <a:pPr algn="ctr" marL="175260">
                        <a:lnSpc>
                          <a:spcPct val="100000"/>
                        </a:lnSpc>
                        <a:spcBef>
                          <a:spcPts val="1595"/>
                        </a:spcBef>
                      </a:pPr>
                      <a:r>
                        <a:rPr dirty="0" sz="3600">
                          <a:latin typeface="Times New Roman"/>
                          <a:cs typeface="Times New Roman"/>
                        </a:rPr>
                        <a:t>Формализованное</a:t>
                      </a:r>
                      <a:r>
                        <a:rPr dirty="0" sz="3600" spc="-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600">
                          <a:latin typeface="Times New Roman"/>
                          <a:cs typeface="Times New Roman"/>
                        </a:rPr>
                        <a:t>представление</a:t>
                      </a:r>
                      <a:r>
                        <a:rPr dirty="0" sz="3600" spc="-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3600" spc="-10">
                          <a:latin typeface="Times New Roman"/>
                          <a:cs typeface="Times New Roman"/>
                        </a:rPr>
                        <a:t>задачи</a:t>
                      </a:r>
                      <a:endParaRPr sz="3600">
                        <a:latin typeface="Times New Roman"/>
                        <a:cs typeface="Times New Roman"/>
                      </a:endParaRPr>
                    </a:p>
                    <a:p>
                      <a:pPr marL="652780">
                        <a:lnSpc>
                          <a:spcPct val="100000"/>
                        </a:lnSpc>
                        <a:spcBef>
                          <a:spcPts val="2755"/>
                        </a:spcBef>
                        <a:tabLst>
                          <a:tab pos="7634605" algn="l"/>
                        </a:tabLst>
                      </a:pPr>
                      <a:r>
                        <a:rPr dirty="0" baseline="4629" sz="3600" spc="-15" b="1">
                          <a:latin typeface="Times New Roman"/>
                          <a:cs typeface="Times New Roman"/>
                        </a:rPr>
                        <a:t>Модели:</a:t>
                      </a:r>
                      <a:r>
                        <a:rPr dirty="0" baseline="4629" sz="3600" b="1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Ограничения</a:t>
                      </a:r>
                      <a:r>
                        <a:rPr dirty="0" sz="1800" spc="-10" b="1">
                          <a:latin typeface="Times New Roman"/>
                          <a:cs typeface="Times New Roman"/>
                        </a:rPr>
                        <a:t>: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260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95630">
                        <a:lnSpc>
                          <a:spcPts val="286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Минимизация</a:t>
                      </a:r>
                      <a:r>
                        <a:rPr dirty="0" sz="2400" spc="-6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общего</a:t>
                      </a:r>
                      <a:r>
                        <a:rPr dirty="0" sz="2400" spc="-3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«расширенного»</a:t>
                      </a:r>
                      <a:r>
                        <a:rPr dirty="0" sz="2400" spc="-4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20" b="1">
                          <a:latin typeface="Times New Roman"/>
                          <a:cs typeface="Times New Roman"/>
                        </a:rPr>
                        <a:t>веса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595630">
                        <a:lnSpc>
                          <a:spcPts val="2865"/>
                        </a:lnSpc>
                      </a:pPr>
                      <a:r>
                        <a:rPr dirty="0" sz="2400" b="1">
                          <a:latin typeface="Times New Roman"/>
                          <a:cs typeface="Times New Roman"/>
                        </a:rPr>
                        <a:t>маршрутов:</a:t>
                      </a:r>
                      <a:r>
                        <a:rPr dirty="0" sz="2400" spc="-9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время</a:t>
                      </a:r>
                      <a:r>
                        <a:rPr dirty="0" sz="24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экология</a:t>
                      </a:r>
                      <a:r>
                        <a:rPr dirty="0" sz="2400" spc="5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b="1">
                          <a:latin typeface="Times New Roman"/>
                          <a:cs typeface="Times New Roman"/>
                        </a:rPr>
                        <a:t>+</a:t>
                      </a:r>
                      <a:r>
                        <a:rPr dirty="0" sz="2400" spc="-60" b="1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400" spc="-10" b="1">
                          <a:latin typeface="Times New Roman"/>
                          <a:cs typeface="Times New Roman"/>
                        </a:rPr>
                        <a:t>авария: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25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6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Разработал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8415">
                        <a:lnSpc>
                          <a:spcPts val="1065"/>
                        </a:lnSpc>
                        <a:spcBef>
                          <a:spcPts val="245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Артюшенков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 marL="19050">
                        <a:lnSpc>
                          <a:spcPts val="925"/>
                        </a:lnSpc>
                      </a:pP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А.С.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111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7470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dirty="0" sz="1200" spc="-50">
                          <a:latin typeface="Times New Roman"/>
                          <a:cs typeface="Times New Roman"/>
                        </a:rPr>
                        <a:t>6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1968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686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 spc="-10">
                          <a:latin typeface="Times New Roman"/>
                          <a:cs typeface="Times New Roman"/>
                        </a:rPr>
                        <a:t>Утвердил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900">
                          <a:latin typeface="Times New Roman"/>
                          <a:cs typeface="Times New Roman"/>
                        </a:rPr>
                        <a:t>Гагарина</a:t>
                      </a:r>
                      <a:r>
                        <a:rPr dirty="0" sz="900" spc="-4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900" spc="-20">
                          <a:latin typeface="Times New Roman"/>
                          <a:cs typeface="Times New Roman"/>
                        </a:rPr>
                        <a:t>Л.Г.</a:t>
                      </a: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04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9600" y="2026660"/>
            <a:ext cx="2562225" cy="186170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9600" y="2371725"/>
            <a:ext cx="1562100" cy="180975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82375" y="2231679"/>
            <a:ext cx="2569658" cy="45946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95162" y="2793023"/>
            <a:ext cx="3036093" cy="574430"/>
          </a:xfrm>
          <a:prstGeom prst="rect">
            <a:avLst/>
          </a:prstGeom>
        </p:spPr>
      </p:pic>
      <p:grpSp>
        <p:nvGrpSpPr>
          <p:cNvPr id="8" name="object 8" descr=""/>
          <p:cNvGrpSpPr/>
          <p:nvPr/>
        </p:nvGrpSpPr>
        <p:grpSpPr>
          <a:xfrm>
            <a:off x="571500" y="1676400"/>
            <a:ext cx="2952750" cy="228600"/>
            <a:chOff x="571500" y="1676400"/>
            <a:chExt cx="2952750" cy="228600"/>
          </a:xfrm>
        </p:grpSpPr>
        <p:pic>
          <p:nvPicPr>
            <p:cNvPr id="9" name="object 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0055" y="1676400"/>
              <a:ext cx="2303359" cy="18097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500" y="1676400"/>
              <a:ext cx="2952750" cy="228600"/>
            </a:xfrm>
            <a:prstGeom prst="rect">
              <a:avLst/>
            </a:prstGeom>
          </p:spPr>
        </p:pic>
      </p:grpSp>
      <p:grpSp>
        <p:nvGrpSpPr>
          <p:cNvPr id="11" name="object 11" descr=""/>
          <p:cNvGrpSpPr/>
          <p:nvPr/>
        </p:nvGrpSpPr>
        <p:grpSpPr>
          <a:xfrm>
            <a:off x="1571688" y="5143500"/>
            <a:ext cx="4200525" cy="866775"/>
            <a:chOff x="1571688" y="5143500"/>
            <a:chExt cx="4200525" cy="866775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45667" y="5317100"/>
              <a:ext cx="3920989" cy="60161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76450" y="5148262"/>
              <a:ext cx="4191000" cy="857250"/>
            </a:xfrm>
            <a:custGeom>
              <a:avLst/>
              <a:gdLst/>
              <a:ahLst/>
              <a:cxnLst/>
              <a:rect l="l" t="t" r="r" b="b"/>
              <a:pathLst>
                <a:path w="4191000" h="857250">
                  <a:moveTo>
                    <a:pt x="0" y="857250"/>
                  </a:moveTo>
                  <a:lnTo>
                    <a:pt x="4191000" y="857250"/>
                  </a:lnTo>
                  <a:lnTo>
                    <a:pt x="4191000" y="0"/>
                  </a:lnTo>
                  <a:lnTo>
                    <a:pt x="0" y="0"/>
                  </a:lnTo>
                  <a:lnTo>
                    <a:pt x="0" y="8572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62266" y="1719752"/>
            <a:ext cx="3470413" cy="42846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2026-04-21T21:45:20Z</dcterms:created>
  <dcterms:modified xsi:type="dcterms:W3CDTF">2026-04-21T21:45:20Z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2025-06-11T00:00:00Z</vt:filetime>
  </property>
  <property fmtid="{D5CDD505-2E9C-101B-9397-08002B2CF9AE}" pid="3" name="LastSaved">
    <vt:filetime>2026-04-21T00:00:00Z</vt:filetime>
  </property>
</Properties>
</file>